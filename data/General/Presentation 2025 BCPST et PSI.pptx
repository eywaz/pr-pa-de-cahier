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8" r:id="rId1"/>
  </p:sldMasterIdLst>
  <p:notesMasterIdLst>
    <p:notesMasterId r:id="rId21"/>
  </p:notesMasterIdLst>
  <p:sldIdLst>
    <p:sldId id="256" r:id="rId2"/>
    <p:sldId id="257" r:id="rId3"/>
    <p:sldId id="258" r:id="rId4"/>
    <p:sldId id="297" r:id="rId5"/>
    <p:sldId id="299" r:id="rId6"/>
    <p:sldId id="302" r:id="rId7"/>
    <p:sldId id="261" r:id="rId8"/>
    <p:sldId id="262" r:id="rId9"/>
    <p:sldId id="264" r:id="rId10"/>
    <p:sldId id="265" r:id="rId11"/>
    <p:sldId id="266" r:id="rId12"/>
    <p:sldId id="267" r:id="rId13"/>
    <p:sldId id="268" r:id="rId14"/>
    <p:sldId id="269" r:id="rId15"/>
    <p:sldId id="304" r:id="rId16"/>
    <p:sldId id="309" r:id="rId17"/>
    <p:sldId id="273" r:id="rId18"/>
    <p:sldId id="272"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1C3A3F-68B4-4917-8680-7D4F980D3A96}" v="199" dt="2025-11-04T17:18:48.71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Times New Roman"/>
          <a:ea typeface="Times New Roman"/>
          <a:cs typeface="Times New Roman"/>
        </a:font>
        <a:srgbClr val="0000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FFFF"/>
          </a:solidFill>
        </a:fill>
      </a:tcStyle>
    </a:wholeTbl>
    <a:band2H>
      <a:tcTxStyle/>
      <a:tcStyle>
        <a:tcBdr/>
        <a:fill>
          <a:solidFill>
            <a:srgbClr val="E6FFFF"/>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Times New Roman"/>
          <a:ea typeface="Times New Roman"/>
          <a:cs typeface="Times New Roman"/>
        </a:font>
        <a:srgbClr val="0000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Times New Roman"/>
          <a:ea typeface="Times New Roman"/>
          <a:cs typeface="Times New Roman"/>
        </a:font>
        <a:srgbClr val="0000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Times New Roman"/>
          <a:ea typeface="Times New Roman"/>
          <a:cs typeface="Times New Roman"/>
        </a:font>
        <a:srgbClr val="0000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FF"/>
          </a:solidFill>
        </a:fill>
      </a:tcStyle>
    </a:wholeTbl>
    <a:band2H>
      <a:tcTxStyle/>
      <a:tcStyle>
        <a:tcBdr/>
        <a:fill>
          <a:solidFill>
            <a:srgbClr val="FFFFFF"/>
          </a:solidFill>
        </a:fill>
      </a:tcStyle>
    </a:band2H>
    <a:firstCol>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Times New Roman"/>
          <a:ea typeface="Times New Roman"/>
          <a:cs typeface="Times New Roman"/>
        </a:font>
        <a:srgbClr val="0000FF"/>
      </a:tcTxStyle>
      <a:tcStyle>
        <a:tcBdr>
          <a:left>
            <a:ln w="12700" cap="flat">
              <a:noFill/>
              <a:miter lim="400000"/>
            </a:ln>
          </a:left>
          <a:right>
            <a:ln w="12700" cap="flat">
              <a:noFill/>
              <a:miter lim="400000"/>
            </a:ln>
          </a:right>
          <a:top>
            <a:ln w="50800" cap="flat">
              <a:solidFill>
                <a:srgbClr val="0000FF"/>
              </a:solidFill>
              <a:prstDash val="solid"/>
              <a:round/>
            </a:ln>
          </a:top>
          <a:bottom>
            <a:ln w="25400" cap="flat">
              <a:solidFill>
                <a:srgbClr val="0000FF"/>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25400" cap="flat">
              <a:solidFill>
                <a:srgbClr val="0000FF"/>
              </a:solidFill>
              <a:prstDash val="solid"/>
              <a:round/>
            </a:ln>
          </a:top>
          <a:bottom>
            <a:ln w="25400" cap="flat">
              <a:solidFill>
                <a:srgbClr val="0000F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Times New Roman"/>
          <a:ea typeface="Times New Roman"/>
          <a:cs typeface="Times New Roman"/>
        </a:font>
        <a:srgbClr val="0000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FF"/>
          </a:solidFill>
        </a:fill>
      </a:tcStyle>
    </a:wholeTbl>
    <a:band2H>
      <a:tcTxStyle/>
      <a:tcStyle>
        <a:tcBdr/>
        <a:fill>
          <a:solidFill>
            <a:srgbClr val="E6E6FF"/>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FF"/>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FF"/>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FF"/>
          </a:solidFill>
        </a:fill>
      </a:tcStyle>
    </a:firstRow>
  </a:tblStyle>
  <a:tblStyle styleId="{2708684C-4D16-4618-839F-0558EEFCDFE6}" styleName="">
    <a:tblBg/>
    <a:wholeTbl>
      <a:tcTxStyle b="off"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a:tcStyle>
        <a:tcBdr/>
        <a:fill>
          <a:solidFill>
            <a:srgbClr val="FFFFFF"/>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44" autoAdjust="0"/>
    <p:restoredTop sz="94660"/>
  </p:normalViewPr>
  <p:slideViewPr>
    <p:cSldViewPr snapToGrid="0">
      <p:cViewPr varScale="1">
        <p:scale>
          <a:sx n="82" d="100"/>
          <a:sy n="82" d="100"/>
        </p:scale>
        <p:origin x="1493"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erry gaspari" userId="48a1a57851519105" providerId="LiveId" clId="{23539F88-3438-483B-B67B-D30D84560149}"/>
    <pc:docChg chg="undo custSel modSld">
      <pc:chgData name="thierry gaspari" userId="48a1a57851519105" providerId="LiveId" clId="{23539F88-3438-483B-B67B-D30D84560149}" dt="2025-11-04T17:18:48.717" v="213" actId="20577"/>
      <pc:docMkLst>
        <pc:docMk/>
      </pc:docMkLst>
      <pc:sldChg chg="modSp mod">
        <pc:chgData name="thierry gaspari" userId="48a1a57851519105" providerId="LiveId" clId="{23539F88-3438-483B-B67B-D30D84560149}" dt="2025-11-02T08:19:04.859" v="16" actId="207"/>
        <pc:sldMkLst>
          <pc:docMk/>
          <pc:sldMk cId="0" sldId="269"/>
        </pc:sldMkLst>
        <pc:spChg chg="mod">
          <ac:chgData name="thierry gaspari" userId="48a1a57851519105" providerId="LiveId" clId="{23539F88-3438-483B-B67B-D30D84560149}" dt="2025-11-02T08:19:04.859" v="16" actId="207"/>
          <ac:spMkLst>
            <pc:docMk/>
            <pc:sldMk cId="0" sldId="269"/>
            <ac:spMk id="164" creationId="{00000000-0000-0000-0000-000000000000}"/>
          </ac:spMkLst>
        </pc:spChg>
        <pc:spChg chg="mod">
          <ac:chgData name="thierry gaspari" userId="48a1a57851519105" providerId="LiveId" clId="{23539F88-3438-483B-B67B-D30D84560149}" dt="2025-11-02T08:17:31.165" v="10" actId="20577"/>
          <ac:spMkLst>
            <pc:docMk/>
            <pc:sldMk cId="0" sldId="269"/>
            <ac:spMk id="165" creationId="{00000000-0000-0000-0000-000000000000}"/>
          </ac:spMkLst>
        </pc:spChg>
        <pc:spChg chg="mod">
          <ac:chgData name="thierry gaspari" userId="48a1a57851519105" providerId="LiveId" clId="{23539F88-3438-483B-B67B-D30D84560149}" dt="2025-11-02T08:18:25.287" v="13" actId="20577"/>
          <ac:spMkLst>
            <pc:docMk/>
            <pc:sldMk cId="0" sldId="269"/>
            <ac:spMk id="166" creationId="{00000000-0000-0000-0000-000000000000}"/>
          </ac:spMkLst>
        </pc:spChg>
      </pc:sldChg>
      <pc:sldChg chg="modSp">
        <pc:chgData name="thierry gaspari" userId="48a1a57851519105" providerId="LiveId" clId="{23539F88-3438-483B-B67B-D30D84560149}" dt="2025-11-02T08:20:09.317" v="24" actId="6549"/>
        <pc:sldMkLst>
          <pc:docMk/>
          <pc:sldMk cId="279167622" sldId="272"/>
        </pc:sldMkLst>
        <pc:spChg chg="mod">
          <ac:chgData name="thierry gaspari" userId="48a1a57851519105" providerId="LiveId" clId="{23539F88-3438-483B-B67B-D30D84560149}" dt="2025-11-02T08:20:09.317" v="24" actId="6549"/>
          <ac:spMkLst>
            <pc:docMk/>
            <pc:sldMk cId="279167622" sldId="272"/>
            <ac:spMk id="180" creationId="{00000000-0000-0000-0000-000000000000}"/>
          </ac:spMkLst>
        </pc:spChg>
      </pc:sldChg>
      <pc:sldChg chg="modSp">
        <pc:chgData name="thierry gaspari" userId="48a1a57851519105" providerId="LiveId" clId="{23539F88-3438-483B-B67B-D30D84560149}" dt="2025-11-04T17:13:24.042" v="33" actId="20577"/>
        <pc:sldMkLst>
          <pc:docMk/>
          <pc:sldMk cId="0" sldId="274"/>
        </pc:sldMkLst>
        <pc:spChg chg="mod">
          <ac:chgData name="thierry gaspari" userId="48a1a57851519105" providerId="LiveId" clId="{23539F88-3438-483B-B67B-D30D84560149}" dt="2025-11-04T17:13:24.042" v="33" actId="20577"/>
          <ac:spMkLst>
            <pc:docMk/>
            <pc:sldMk cId="0" sldId="274"/>
            <ac:spMk id="188" creationId="{00000000-0000-0000-0000-000000000000}"/>
          </ac:spMkLst>
        </pc:spChg>
      </pc:sldChg>
      <pc:sldChg chg="modSp mod modAnim">
        <pc:chgData name="thierry gaspari" userId="48a1a57851519105" providerId="LiveId" clId="{23539F88-3438-483B-B67B-D30D84560149}" dt="2025-11-04T17:18:48.717" v="213" actId="20577"/>
        <pc:sldMkLst>
          <pc:docMk/>
          <pc:sldMk cId="842751410" sldId="309"/>
        </pc:sldMkLst>
        <pc:spChg chg="mod">
          <ac:chgData name="thierry gaspari" userId="48a1a57851519105" providerId="LiveId" clId="{23539F88-3438-483B-B67B-D30D84560149}" dt="2025-11-04T17:18:48.717" v="213" actId="20577"/>
          <ac:spMkLst>
            <pc:docMk/>
            <pc:sldMk cId="842751410" sldId="309"/>
            <ac:spMk id="3" creationId="{00000000-0000-0000-0000-000000000000}"/>
          </ac:spMkLst>
        </pc:spChg>
        <pc:spChg chg="mod">
          <ac:chgData name="thierry gaspari" userId="48a1a57851519105" providerId="LiveId" clId="{23539F88-3438-483B-B67B-D30D84560149}" dt="2025-11-04T17:15:36.586" v="119" actId="1076"/>
          <ac:spMkLst>
            <pc:docMk/>
            <pc:sldMk cId="842751410" sldId="309"/>
            <ac:spMk id="8" creationId="{3173030A-6F32-43AB-964E-8123DAC8B2A1}"/>
          </ac:spMkLst>
        </pc:spChg>
        <pc:spChg chg="mod">
          <ac:chgData name="thierry gaspari" userId="48a1a57851519105" providerId="LiveId" clId="{23539F88-3438-483B-B67B-D30D84560149}" dt="2025-11-04T17:15:27.387" v="117" actId="1076"/>
          <ac:spMkLst>
            <pc:docMk/>
            <pc:sldMk cId="842751410" sldId="309"/>
            <ac:spMk id="10" creationId="{C1A5BCAF-9D18-4CD9-9214-ECF90FA060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1143000" y="685800"/>
            <a:ext cx="4572000" cy="3429000"/>
          </a:xfrm>
          <a:prstGeom prst="rect">
            <a:avLst/>
          </a:prstGeom>
        </p:spPr>
        <p:txBody>
          <a:bodyPr/>
          <a:lstStyle/>
          <a:p>
            <a:endParaRPr/>
          </a:p>
        </p:txBody>
      </p:sp>
      <p:sp>
        <p:nvSpPr>
          <p:cNvPr id="45" name="Shape 4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hape 95"/>
          <p:cNvSpPr>
            <a:spLocks noGrp="1" noRot="1" noChangeAspect="1"/>
          </p:cNvSpPr>
          <p:nvPr>
            <p:ph type="sldImg"/>
          </p:nvPr>
        </p:nvSpPr>
        <p:spPr>
          <a:prstGeom prst="rect">
            <a:avLst/>
          </a:prstGeom>
        </p:spPr>
        <p:txBody>
          <a:bodyPr/>
          <a:lstStyle/>
          <a:p>
            <a:endParaRPr/>
          </a:p>
        </p:txBody>
      </p:sp>
      <p:sp>
        <p:nvSpPr>
          <p:cNvPr id="96" name="Shape 96"/>
          <p:cNvSpPr>
            <a:spLocks noGrp="1"/>
          </p:cNvSpPr>
          <p:nvPr>
            <p:ph type="body" sz="quarter" idx="1"/>
          </p:nvPr>
        </p:nvSpPr>
        <p:spPr>
          <a:prstGeom prst="rect">
            <a:avLst/>
          </a:prstGeom>
        </p:spPr>
        <p:txBody>
          <a:bodyPr/>
          <a:lstStyle>
            <a:lvl1pPr>
              <a:spcBef>
                <a:spcPts val="0"/>
              </a:spcBef>
            </a:lvl1pPr>
          </a:lstStyle>
          <a:p>
            <a:r>
              <a:t>Existe également une CPGE pour (notamment) devenir vétérinaire : la BCPST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0C83B6F-017F-E54E-86FF-92075178B4A9}" type="slidenum">
              <a:rPr lang="fr-FR" smtClean="0"/>
              <a:t>5</a:t>
            </a:fld>
            <a:endParaRPr lang="fr-FR"/>
          </a:p>
        </p:txBody>
      </p:sp>
    </p:spTree>
    <p:extLst>
      <p:ext uri="{BB962C8B-B14F-4D97-AF65-F5344CB8AC3E}">
        <p14:creationId xmlns:p14="http://schemas.microsoft.com/office/powerpoint/2010/main" val="3638292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1" name="Freeform 6" title="scalloped circle"/>
          <p:cNvSpPr/>
          <p:nvPr/>
        </p:nvSpPr>
        <p:spPr bwMode="auto">
          <a:xfrm>
            <a:off x="2063115" y="630937"/>
            <a:ext cx="5230368"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808892" y="1098388"/>
            <a:ext cx="7738814" cy="4394988"/>
          </a:xfrm>
        </p:spPr>
        <p:txBody>
          <a:bodyPr anchor="ctr">
            <a:noAutofit/>
          </a:bodyPr>
          <a:lstStyle>
            <a:lvl1pPr algn="ctr">
              <a:defRPr sz="7500" spc="600" baseline="0"/>
            </a:lvl1pPr>
          </a:lstStyle>
          <a:p>
            <a:r>
              <a:rPr lang="fr-FR"/>
              <a:t>Modifiez le style du titre</a:t>
            </a:r>
            <a:endParaRPr lang="en-US" dirty="0"/>
          </a:p>
        </p:txBody>
      </p:sp>
      <p:sp>
        <p:nvSpPr>
          <p:cNvPr id="3" name="Subtitle 2"/>
          <p:cNvSpPr>
            <a:spLocks noGrp="1"/>
          </p:cNvSpPr>
          <p:nvPr>
            <p:ph type="subTitle" idx="1"/>
          </p:nvPr>
        </p:nvSpPr>
        <p:spPr>
          <a:xfrm>
            <a:off x="1661284" y="5979197"/>
            <a:ext cx="6034030" cy="742279"/>
          </a:xfrm>
        </p:spPr>
        <p:txBody>
          <a:bodyPr anchor="t">
            <a:normAutofit/>
          </a:bodyPr>
          <a:lstStyle>
            <a:lvl1pPr marL="0" indent="0" algn="ctr">
              <a:lnSpc>
                <a:spcPct val="100000"/>
              </a:lnSpc>
              <a:buNone/>
              <a:defRPr sz="1500" b="1" i="0" cap="all" spc="300"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a:xfrm>
            <a:off x="808892" y="6375679"/>
            <a:ext cx="1747292" cy="348462"/>
          </a:xfrm>
        </p:spPr>
        <p:txBody>
          <a:bodyPr/>
          <a:lstStyle>
            <a:lvl1pPr>
              <a:defRPr baseline="0">
                <a:solidFill>
                  <a:schemeClr val="accent1">
                    <a:lumMod val="50000"/>
                  </a:schemeClr>
                </a:solidFill>
              </a:defRPr>
            </a:lvl1pPr>
          </a:lstStyle>
          <a:p>
            <a:fld id="{7A9A650A-8BD1-4FDE-9899-1C20DF4B7708}" type="datetimeFigureOut">
              <a:rPr lang="en-US" smtClean="0"/>
              <a:t>11/4/2025</a:t>
            </a:fld>
            <a:endParaRPr lang="en-US" dirty="0"/>
          </a:p>
        </p:txBody>
      </p:sp>
      <p:sp>
        <p:nvSpPr>
          <p:cNvPr id="5" name="Footer Placeholder 4"/>
          <p:cNvSpPr>
            <a:spLocks noGrp="1"/>
          </p:cNvSpPr>
          <p:nvPr>
            <p:ph type="ftr" sz="quarter" idx="11"/>
          </p:nvPr>
        </p:nvSpPr>
        <p:spPr>
          <a:xfrm>
            <a:off x="3135249" y="6375679"/>
            <a:ext cx="30861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6800414" y="6375679"/>
            <a:ext cx="1747292" cy="345796"/>
          </a:xfrm>
        </p:spPr>
        <p:txBody>
          <a:bodyPr/>
          <a:lstStyle>
            <a:lvl1pPr>
              <a:defRPr baseline="0">
                <a:solidFill>
                  <a:schemeClr val="accent1">
                    <a:lumMod val="50000"/>
                  </a:schemeClr>
                </a:solidFill>
              </a:defRPr>
            </a:lvl1pPr>
          </a:lstStyle>
          <a:p>
            <a:fld id="{86CB4B4D-7CA3-9044-876B-883B54F8677D}" type="slidenum">
              <a:rPr lang="fr-RE" smtClean="0"/>
              <a:t>‹N°›</a:t>
            </a:fld>
            <a:endParaRPr lang="fr-RE"/>
          </a:p>
        </p:txBody>
      </p:sp>
      <p:sp>
        <p:nvSpPr>
          <p:cNvPr id="13" name="Rectangle 12"/>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title="left edge border"/>
          <p:cNvSpPr/>
          <p:nvPr/>
        </p:nvSpPr>
        <p:spPr>
          <a:xfrm>
            <a:off x="0" y="0"/>
            <a:ext cx="21259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65756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C107E61-D2F8-452B-B53A-91FE1E439E24}" type="datetimeFigureOut">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315573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1" name="Freeform 6"/>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bg2"/>
          </a:solidFill>
          <a:ln w="0">
            <a:noFill/>
            <a:prstDash val="solid"/>
            <a:round/>
            <a:headEnd/>
            <a:tailEnd/>
          </a:ln>
        </p:spPr>
      </p:sp>
      <p:sp>
        <p:nvSpPr>
          <p:cNvPr id="2" name="Title 1"/>
          <p:cNvSpPr>
            <a:spLocks noGrp="1"/>
          </p:cNvSpPr>
          <p:nvPr>
            <p:ph type="title"/>
          </p:nvPr>
        </p:nvSpPr>
        <p:spPr>
          <a:xfrm>
            <a:off x="2432197" y="1073889"/>
            <a:ext cx="6140303" cy="4064627"/>
          </a:xfrm>
        </p:spPr>
        <p:txBody>
          <a:bodyPr anchor="b">
            <a:normAutofit/>
          </a:bodyPr>
          <a:lstStyle>
            <a:lvl1pPr>
              <a:defRPr sz="6300" spc="600"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2432198" y="5159782"/>
            <a:ext cx="5263116" cy="951135"/>
          </a:xfrm>
        </p:spPr>
        <p:txBody>
          <a:bodyPr>
            <a:normAutofit/>
          </a:bodyPr>
          <a:lstStyle>
            <a:lvl1pPr marL="0" indent="0">
              <a:lnSpc>
                <a:spcPct val="100000"/>
              </a:lnSpc>
              <a:buNone/>
              <a:defRPr sz="1500" b="1" i="0" cap="all" spc="300" baseline="0">
                <a:solidFill>
                  <a:schemeClr val="accent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2427410" y="6375679"/>
            <a:ext cx="1120460" cy="348462"/>
          </a:xfrm>
        </p:spPr>
        <p:txBody>
          <a:bodyPr/>
          <a:lstStyle>
            <a:lvl1pPr>
              <a:defRPr baseline="0">
                <a:solidFill>
                  <a:schemeClr val="tx2"/>
                </a:solidFill>
              </a:defRPr>
            </a:lvl1pPr>
          </a:lstStyle>
          <a:p>
            <a:fld id="{DB90D44C-5E2F-400D-88F9-B60B318A44C9}" type="datetimeFigureOut">
              <a:rPr lang="en-US" smtClean="0"/>
              <a:t>11/4/2025</a:t>
            </a:fld>
            <a:endParaRPr lang="en-US" dirty="0"/>
          </a:p>
        </p:txBody>
      </p:sp>
      <p:sp>
        <p:nvSpPr>
          <p:cNvPr id="5" name="Footer Placeholder 4"/>
          <p:cNvSpPr>
            <a:spLocks noGrp="1"/>
          </p:cNvSpPr>
          <p:nvPr>
            <p:ph type="ftr" sz="quarter" idx="11"/>
          </p:nvPr>
        </p:nvSpPr>
        <p:spPr>
          <a:xfrm>
            <a:off x="3959298" y="6375679"/>
            <a:ext cx="30861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456825" y="6375679"/>
            <a:ext cx="1115675" cy="345796"/>
          </a:xfrm>
        </p:spPr>
        <p:txBody>
          <a:bodyPr/>
          <a:lstStyle>
            <a:lvl1pPr>
              <a:defRPr baseline="0">
                <a:solidFill>
                  <a:schemeClr val="tx2"/>
                </a:solidFill>
              </a:defRPr>
            </a:lvl1pPr>
          </a:lstStyle>
          <a:p>
            <a:fld id="{86CB4B4D-7CA3-9044-876B-883B54F8677D}" type="slidenum">
              <a:rPr lang="fr-RE" smtClean="0"/>
              <a:t>‹N°›</a:t>
            </a:fld>
            <a:endParaRPr lang="fr-RE"/>
          </a:p>
        </p:txBody>
      </p:sp>
      <p:sp>
        <p:nvSpPr>
          <p:cNvPr id="16" name="Freeform 11"/>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nvGrpSpPr>
          <p:cNvPr id="7" name="Group 6" title="left scallop shape"/>
          <p:cNvGrpSpPr/>
          <p:nvPr/>
        </p:nvGrpSpPr>
        <p:grpSpPr>
          <a:xfrm>
            <a:off x="0" y="0"/>
            <a:ext cx="2110979" cy="6858000"/>
            <a:chOff x="0" y="0"/>
            <a:chExt cx="2110979" cy="6858000"/>
          </a:xfrm>
        </p:grpSpPr>
        <p:sp>
          <p:nvSpPr>
            <p:cNvPr id="9" name="Freeform 8" title="left scallop shape"/>
            <p:cNvSpPr/>
            <p:nvPr/>
          </p:nvSpPr>
          <p:spPr bwMode="auto">
            <a:xfrm>
              <a:off x="0" y="0"/>
              <a:ext cx="2110979"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0" name="Freeform 11" title="left scallop inline"/>
            <p:cNvSpPr/>
            <p:nvPr/>
          </p:nvSpPr>
          <p:spPr bwMode="auto">
            <a:xfrm>
              <a:off x="655786" y="0"/>
              <a:ext cx="1234679"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41686811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942975" y="2286000"/>
            <a:ext cx="3593592" cy="36195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985846" y="2286000"/>
            <a:ext cx="3593592" cy="36195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7543A57-F65A-4C42-9156-7629C10666E9}" type="datetimeFigureOut">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106783172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942975" y="381001"/>
            <a:ext cx="7629525" cy="1493517"/>
          </a:xfrm>
        </p:spPr>
        <p:txBody>
          <a:bodyPr/>
          <a:lstStyle/>
          <a:p>
            <a:r>
              <a:rPr lang="fr-FR"/>
              <a:t>Modifiez le style du titre</a:t>
            </a:r>
            <a:endParaRPr lang="en-US" dirty="0"/>
          </a:p>
        </p:txBody>
      </p:sp>
      <p:sp>
        <p:nvSpPr>
          <p:cNvPr id="3" name="Text Placeholder 2"/>
          <p:cNvSpPr>
            <a:spLocks noGrp="1"/>
          </p:cNvSpPr>
          <p:nvPr>
            <p:ph type="body" idx="1"/>
          </p:nvPr>
        </p:nvSpPr>
        <p:spPr>
          <a:xfrm>
            <a:off x="941832"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941832" y="2909102"/>
            <a:ext cx="3611880" cy="299639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975398" y="2199634"/>
            <a:ext cx="3611880" cy="632529"/>
          </a:xfrm>
        </p:spPr>
        <p:txBody>
          <a:bodyPr anchor="b">
            <a:noAutofit/>
          </a:bodyPr>
          <a:lstStyle>
            <a:lvl1pPr marL="0" indent="0">
              <a:lnSpc>
                <a:spcPct val="100000"/>
              </a:lnSpc>
              <a:buNone/>
              <a:defRPr sz="1800" b="1" cap="all" spc="15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975398" y="2909102"/>
            <a:ext cx="3611880" cy="299639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69FBF0B-319E-4F95-BA43-902EB3DC9783}" type="datetimeFigureOut">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143647113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81158B3-6703-4BBB-A09E-33FD65E7DB24}" type="datetimeFigureOut">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3296948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E9955-2DD3-491E-92B6-7018343227CE}" type="datetimeFigureOut">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2296483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7"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6253414" y="457200"/>
            <a:ext cx="2319086" cy="1196671"/>
          </a:xfrm>
        </p:spPr>
        <p:txBody>
          <a:bodyPr anchor="b">
            <a:normAutofit/>
          </a:bodyPr>
          <a:lstStyle>
            <a:lvl1pPr>
              <a:lnSpc>
                <a:spcPct val="100000"/>
              </a:lnSpc>
              <a:defRPr sz="1800" b="1" i="0" cap="all" spc="225" baseline="0">
                <a:solidFill>
                  <a:schemeClr val="accent1"/>
                </a:solidFill>
                <a:latin typeface="+mn-lt"/>
              </a:defRPr>
            </a:lvl1pPr>
          </a:lstStyle>
          <a:p>
            <a:r>
              <a:rPr lang="fr-FR"/>
              <a:t>Modifiez le style du titre</a:t>
            </a:r>
            <a:endParaRPr lang="en-US" dirty="0"/>
          </a:p>
        </p:txBody>
      </p:sp>
      <p:sp>
        <p:nvSpPr>
          <p:cNvPr id="3" name="Content Placeholder 2"/>
          <p:cNvSpPr>
            <a:spLocks noGrp="1"/>
          </p:cNvSpPr>
          <p:nvPr>
            <p:ph idx="1"/>
          </p:nvPr>
        </p:nvSpPr>
        <p:spPr>
          <a:xfrm>
            <a:off x="573788" y="920377"/>
            <a:ext cx="4618814" cy="498512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53414" y="1741336"/>
            <a:ext cx="2319086"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73789" y="6375679"/>
            <a:ext cx="925016" cy="348462"/>
          </a:xfrm>
        </p:spPr>
        <p:txBody>
          <a:bodyPr/>
          <a:lstStyle/>
          <a:p>
            <a:fld id="{19888A28-1D79-4F41-9521-CF26BB2C7EE3}" type="datetimeFigureOut">
              <a:rPr lang="en-US" smtClean="0"/>
              <a:t>11/4/2025</a:t>
            </a:fld>
            <a:endParaRPr lang="en-US" dirty="0"/>
          </a:p>
        </p:txBody>
      </p:sp>
      <p:sp>
        <p:nvSpPr>
          <p:cNvPr id="6" name="Footer Placeholder 5"/>
          <p:cNvSpPr>
            <a:spLocks noGrp="1"/>
          </p:cNvSpPr>
          <p:nvPr>
            <p:ph type="ftr" sz="quarter" idx="11"/>
          </p:nvPr>
        </p:nvSpPr>
        <p:spPr>
          <a:xfrm>
            <a:off x="1577716" y="6375679"/>
            <a:ext cx="2611634" cy="345796"/>
          </a:xfrm>
        </p:spPr>
        <p:txBody>
          <a:bodyPr/>
          <a:lstStyle/>
          <a:p>
            <a:endParaRPr lang="en-US" dirty="0"/>
          </a:p>
        </p:txBody>
      </p:sp>
      <p:sp>
        <p:nvSpPr>
          <p:cNvPr id="7" name="Slide Number Placeholder 6"/>
          <p:cNvSpPr>
            <a:spLocks noGrp="1"/>
          </p:cNvSpPr>
          <p:nvPr>
            <p:ph type="sldNum" sz="quarter" idx="12"/>
          </p:nvPr>
        </p:nvSpPr>
        <p:spPr>
          <a:xfrm>
            <a:off x="4268261" y="6375679"/>
            <a:ext cx="924342" cy="345796"/>
          </a:xfrm>
        </p:spPr>
        <p:txBody>
          <a:bodyPr/>
          <a:lstStyle/>
          <a:p>
            <a:fld id="{86CB4B4D-7CA3-9044-876B-883B54F8677D}" type="slidenum">
              <a:rPr lang="fr-RE" smtClean="0"/>
              <a:t>‹N°›</a:t>
            </a:fld>
            <a:endParaRPr lang="fr-RE"/>
          </a:p>
        </p:txBody>
      </p:sp>
      <p:sp>
        <p:nvSpPr>
          <p:cNvPr id="8" name="Rectangle 7"/>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98425989"/>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12598" y="1"/>
            <a:ext cx="5516689"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11" name="Freeform 11" title="right scallop background shape"/>
          <p:cNvSpPr/>
          <p:nvPr/>
        </p:nvSpPr>
        <p:spPr bwMode="auto">
          <a:xfrm>
            <a:off x="5542359" y="0"/>
            <a:ext cx="3601641"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53413" y="457200"/>
            <a:ext cx="2319088" cy="1196670"/>
          </a:xfrm>
        </p:spPr>
        <p:txBody>
          <a:bodyPr anchor="b">
            <a:normAutofit/>
          </a:bodyPr>
          <a:lstStyle>
            <a:lvl1pPr>
              <a:lnSpc>
                <a:spcPct val="100000"/>
              </a:lnSpc>
              <a:defRPr sz="1800" b="1" i="0" spc="225" baseline="0">
                <a:solidFill>
                  <a:schemeClr val="accent1"/>
                </a:solidFill>
                <a:latin typeface="+mn-lt"/>
              </a:defRPr>
            </a:lvl1pPr>
          </a:lstStyle>
          <a:p>
            <a:r>
              <a:rPr lang="fr-FR"/>
              <a:t>Modifiez le style du titre</a:t>
            </a:r>
            <a:endParaRPr lang="en-US" dirty="0"/>
          </a:p>
        </p:txBody>
      </p:sp>
      <p:sp>
        <p:nvSpPr>
          <p:cNvPr id="4" name="Text Placeholder 3"/>
          <p:cNvSpPr>
            <a:spLocks noGrp="1"/>
          </p:cNvSpPr>
          <p:nvPr>
            <p:ph type="body" sz="half" idx="2"/>
          </p:nvPr>
        </p:nvSpPr>
        <p:spPr>
          <a:xfrm>
            <a:off x="6253413" y="1741336"/>
            <a:ext cx="2319088" cy="4164164"/>
          </a:xfrm>
        </p:spPr>
        <p:txBody>
          <a:bodyPr>
            <a:normAutofit/>
          </a:bodyPr>
          <a:lstStyle>
            <a:lvl1pPr marL="0" indent="0">
              <a:lnSpc>
                <a:spcPct val="110000"/>
              </a:lnSpc>
              <a:spcBef>
                <a:spcPts val="1200"/>
              </a:spcBef>
              <a:buNone/>
              <a:defRPr sz="1400" baseline="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74463" y="6375679"/>
            <a:ext cx="924342" cy="348462"/>
          </a:xfrm>
        </p:spPr>
        <p:txBody>
          <a:bodyPr/>
          <a:lstStyle/>
          <a:p>
            <a:fld id="{43BD9950-AF07-4F2A-A949-E1C816A93B30}" type="datetimeFigureOut">
              <a:rPr lang="en-US" smtClean="0"/>
              <a:t>11/4/2025</a:t>
            </a:fld>
            <a:endParaRPr lang="en-US" dirty="0"/>
          </a:p>
        </p:txBody>
      </p:sp>
      <p:sp>
        <p:nvSpPr>
          <p:cNvPr id="6" name="Footer Placeholder 5"/>
          <p:cNvSpPr>
            <a:spLocks noGrp="1"/>
          </p:cNvSpPr>
          <p:nvPr>
            <p:ph type="ftr" sz="quarter" idx="11"/>
          </p:nvPr>
        </p:nvSpPr>
        <p:spPr>
          <a:xfrm>
            <a:off x="1577716" y="6375679"/>
            <a:ext cx="2611634" cy="345796"/>
          </a:xfrm>
        </p:spPr>
        <p:txBody>
          <a:bodyPr/>
          <a:lstStyle/>
          <a:p>
            <a:endParaRPr lang="en-US" dirty="0"/>
          </a:p>
        </p:txBody>
      </p:sp>
      <p:sp>
        <p:nvSpPr>
          <p:cNvPr id="7" name="Slide Number Placeholder 6"/>
          <p:cNvSpPr>
            <a:spLocks noGrp="1"/>
          </p:cNvSpPr>
          <p:nvPr>
            <p:ph type="sldNum" sz="quarter" idx="12"/>
          </p:nvPr>
        </p:nvSpPr>
        <p:spPr>
          <a:xfrm>
            <a:off x="4256153" y="6375679"/>
            <a:ext cx="947460" cy="345796"/>
          </a:xfrm>
        </p:spPr>
        <p:txBody>
          <a:bodyPr/>
          <a:lstStyle/>
          <a:p>
            <a:fld id="{86CB4B4D-7CA3-9044-876B-883B54F8677D}" type="slidenum">
              <a:rPr lang="fr-RE" smtClean="0"/>
              <a:t>‹N°›</a:t>
            </a:fld>
            <a:endParaRPr lang="fr-RE"/>
          </a:p>
        </p:txBody>
      </p:sp>
      <p:sp>
        <p:nvSpPr>
          <p:cNvPr id="13" name="Rectangle 12" title="left edge border"/>
          <p:cNvSpPr/>
          <p:nvPr/>
        </p:nvSpPr>
        <p:spPr>
          <a:xfrm>
            <a:off x="0"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1147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DA3262D-6073-4A30-973C-53BE1D29884A}" type="datetimeFigureOut">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340810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911" y="382386"/>
            <a:ext cx="1771930" cy="560040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942974" y="382386"/>
            <a:ext cx="5809517" cy="560040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00AB0AF-EEE9-4421-9298-EB11A547E63F}" type="datetimeFigureOut">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fr-RE" smtClean="0"/>
              <a:t>‹N°›</a:t>
            </a:fld>
            <a:endParaRPr lang="fr-RE"/>
          </a:p>
        </p:txBody>
      </p:sp>
    </p:spTree>
    <p:extLst>
      <p:ext uri="{BB962C8B-B14F-4D97-AF65-F5344CB8AC3E}">
        <p14:creationId xmlns:p14="http://schemas.microsoft.com/office/powerpoint/2010/main" val="1867583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0">
    <p:spTree>
      <p:nvGrpSpPr>
        <p:cNvPr id="1" name=""/>
        <p:cNvGrpSpPr/>
        <p:nvPr/>
      </p:nvGrpSpPr>
      <p:grpSpPr>
        <a:xfrm>
          <a:off x="0" y="0"/>
          <a:ext cx="0" cy="0"/>
          <a:chOff x="0" y="0"/>
          <a:chExt cx="0" cy="0"/>
        </a:xfrm>
      </p:grpSpPr>
      <p:sp>
        <p:nvSpPr>
          <p:cNvPr id="38"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extLst>
      <p:ext uri="{BB962C8B-B14F-4D97-AF65-F5344CB8AC3E}">
        <p14:creationId xmlns:p14="http://schemas.microsoft.com/office/powerpoint/2010/main" val="46904451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212106" y="6356350"/>
            <a:ext cx="1752600" cy="365125"/>
          </a:xfrm>
        </p:spPr>
        <p:txBody>
          <a:bodyPr/>
          <a:lstStyle/>
          <a:p>
            <a:fld id="{EAB28F04-C125-304A-BB85-2B7E4A44EAE2}" type="datetimeFigureOut">
              <a:rPr lang="fr-FR" smtClean="0">
                <a:solidFill>
                  <a:srgbClr val="333333">
                    <a:lumMod val="60000"/>
                    <a:lumOff val="40000"/>
                  </a:srgbClr>
                </a:solidFill>
                <a:latin typeface="Century Gothic"/>
              </a:rPr>
              <a:pPr/>
              <a:t>04/11/2025</a:t>
            </a:fld>
            <a:endParaRPr lang="fr-FR">
              <a:solidFill>
                <a:srgbClr val="333333">
                  <a:lumMod val="60000"/>
                  <a:lumOff val="40000"/>
                </a:srgbClr>
              </a:solidFill>
              <a:latin typeface="Century Gothic"/>
            </a:endParaRPr>
          </a:p>
        </p:txBody>
      </p:sp>
      <p:sp>
        <p:nvSpPr>
          <p:cNvPr id="5" name="Footer Placeholder 4"/>
          <p:cNvSpPr>
            <a:spLocks noGrp="1"/>
          </p:cNvSpPr>
          <p:nvPr>
            <p:ph type="ftr" sz="quarter" idx="11"/>
          </p:nvPr>
        </p:nvSpPr>
        <p:spPr/>
        <p:txBody>
          <a:bodyPr/>
          <a:lstStyle/>
          <a:p>
            <a:endParaRPr lang="fr-FR">
              <a:solidFill>
                <a:srgbClr val="333333">
                  <a:lumMod val="60000"/>
                  <a:lumOff val="40000"/>
                </a:srgbClr>
              </a:solidFill>
              <a:latin typeface="Century Gothic"/>
            </a:endParaRPr>
          </a:p>
        </p:txBody>
      </p:sp>
    </p:spTree>
    <p:extLst>
      <p:ext uri="{BB962C8B-B14F-4D97-AF65-F5344CB8AC3E}">
        <p14:creationId xmlns:p14="http://schemas.microsoft.com/office/powerpoint/2010/main" val="341962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re, contenu et imag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fr-FR"/>
              <a:t>Cliquez et modifiez le titre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dirty="0"/>
          </a:p>
        </p:txBody>
      </p:sp>
      <p:sp>
        <p:nvSpPr>
          <p:cNvPr id="4" name="Date Placeholder 3"/>
          <p:cNvSpPr>
            <a:spLocks noGrp="1"/>
          </p:cNvSpPr>
          <p:nvPr>
            <p:ph type="dt" sz="half" idx="10"/>
          </p:nvPr>
        </p:nvSpPr>
        <p:spPr>
          <a:xfrm>
            <a:off x="7212106" y="6356350"/>
            <a:ext cx="1752600" cy="365125"/>
          </a:xfrm>
        </p:spPr>
        <p:txBody>
          <a:bodyPr/>
          <a:lstStyle/>
          <a:p>
            <a:fld id="{EAB28F04-C125-304A-BB85-2B7E4A44EAE2}" type="datetimeFigureOut">
              <a:rPr lang="fr-FR" smtClean="0">
                <a:solidFill>
                  <a:srgbClr val="333333">
                    <a:lumMod val="60000"/>
                    <a:lumOff val="40000"/>
                  </a:srgbClr>
                </a:solidFill>
                <a:latin typeface="Century Gothic"/>
              </a:rPr>
              <a:pPr/>
              <a:t>04/11/2025</a:t>
            </a:fld>
            <a:endParaRPr lang="fr-FR">
              <a:solidFill>
                <a:srgbClr val="333333">
                  <a:lumMod val="60000"/>
                  <a:lumOff val="40000"/>
                </a:srgbClr>
              </a:solidFill>
              <a:latin typeface="Century Gothic"/>
            </a:endParaRPr>
          </a:p>
        </p:txBody>
      </p:sp>
      <p:sp>
        <p:nvSpPr>
          <p:cNvPr id="5" name="Footer Placeholder 4"/>
          <p:cNvSpPr>
            <a:spLocks noGrp="1"/>
          </p:cNvSpPr>
          <p:nvPr>
            <p:ph type="ftr" sz="quarter" idx="11"/>
          </p:nvPr>
        </p:nvSpPr>
        <p:spPr>
          <a:xfrm>
            <a:off x="2178423" y="6356350"/>
            <a:ext cx="4926852" cy="365125"/>
          </a:xfrm>
        </p:spPr>
        <p:txBody>
          <a:bodyPr/>
          <a:lstStyle/>
          <a:p>
            <a:endParaRPr lang="fr-FR">
              <a:solidFill>
                <a:srgbClr val="333333">
                  <a:lumMod val="60000"/>
                  <a:lumOff val="40000"/>
                </a:srgbClr>
              </a:solidFill>
              <a:latin typeface="Century Gothic"/>
            </a:endParaRPr>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fr-FR"/>
              <a:t>Faire glisser l'image vers l'espace réservé ou cliquer sur l'icône pour l'ajouter</a:t>
            </a:r>
            <a:endParaRPr/>
          </a:p>
        </p:txBody>
      </p:sp>
    </p:spTree>
    <p:extLst>
      <p:ext uri="{BB962C8B-B14F-4D97-AF65-F5344CB8AC3E}">
        <p14:creationId xmlns:p14="http://schemas.microsoft.com/office/powerpoint/2010/main" val="75806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8758" y="382385"/>
            <a:ext cx="7633742" cy="1492132"/>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938758" y="2286002"/>
            <a:ext cx="7633742" cy="359359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38758" y="6375679"/>
            <a:ext cx="1747292" cy="348462"/>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fld id="{34A43A2E-6632-4F9D-8728-2CF59ACBBE60}" type="datetimeFigureOut">
              <a:rPr lang="en-US" smtClean="0"/>
              <a:t>11/4/2025</a:t>
            </a:fld>
            <a:endParaRPr lang="en-US" dirty="0"/>
          </a:p>
        </p:txBody>
      </p:sp>
      <p:sp>
        <p:nvSpPr>
          <p:cNvPr id="5" name="Footer Placeholder 4"/>
          <p:cNvSpPr>
            <a:spLocks noGrp="1"/>
          </p:cNvSpPr>
          <p:nvPr>
            <p:ph type="ftr" sz="quarter" idx="3"/>
          </p:nvPr>
        </p:nvSpPr>
        <p:spPr>
          <a:xfrm>
            <a:off x="3028950" y="6375679"/>
            <a:ext cx="3086100" cy="345796"/>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6457951" y="6375679"/>
            <a:ext cx="2114549" cy="345796"/>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86CB4B4D-7CA3-9044-876B-883B54F8677D}" type="slidenum">
              <a:rPr lang="fr-RE" smtClean="0"/>
              <a:t>‹N°›</a:t>
            </a:fld>
            <a:endParaRPr lang="fr-RE"/>
          </a:p>
        </p:txBody>
      </p:sp>
      <p:sp>
        <p:nvSpPr>
          <p:cNvPr id="12" name="Rectangle 11"/>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RE"/>
          </a:p>
        </p:txBody>
      </p:sp>
      <p:sp>
        <p:nvSpPr>
          <p:cNvPr id="10" name="Rectangle 9" title="right edge border"/>
          <p:cNvSpPr/>
          <p:nvPr/>
        </p:nvSpPr>
        <p:spPr>
          <a:xfrm>
            <a:off x="8931402" y="0"/>
            <a:ext cx="21259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RE"/>
          </a:p>
        </p:txBody>
      </p:sp>
      <p:sp>
        <p:nvSpPr>
          <p:cNvPr id="14" name="Freeform 5"/>
          <p:cNvSpPr/>
          <p:nvPr/>
        </p:nvSpPr>
        <p:spPr bwMode="auto">
          <a:xfrm>
            <a:off x="1" y="0"/>
            <a:ext cx="679090" cy="6858000"/>
          </a:xfrm>
          <a:custGeom>
            <a:avLst/>
            <a:gdLst/>
            <a:ahLst/>
            <a:cxnLst/>
            <a:rect l="0" t="0" r="r" b="b"/>
            <a:pathLst>
              <a:path w="211" h="2160">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chemeClr val="tx2"/>
          </a:solidFill>
          <a:ln>
            <a:noFill/>
          </a:ln>
        </p:spPr>
        <p:txBody>
          <a:bodyPr/>
          <a:lstStyle/>
          <a:p>
            <a:endParaRPr lang="fr-RE"/>
          </a:p>
        </p:txBody>
      </p:sp>
    </p:spTree>
    <p:extLst>
      <p:ext uri="{BB962C8B-B14F-4D97-AF65-F5344CB8AC3E}">
        <p14:creationId xmlns:p14="http://schemas.microsoft.com/office/powerpoint/2010/main" val="208077804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Lst>
  <p:txStyles>
    <p:titleStyle>
      <a:lvl1pPr algn="l" defTabSz="685800" rtl="0" eaLnBrk="1" latinLnBrk="0" hangingPunct="1">
        <a:lnSpc>
          <a:spcPct val="90000"/>
        </a:lnSpc>
        <a:spcBef>
          <a:spcPct val="0"/>
        </a:spcBef>
        <a:buNone/>
        <a:defRPr sz="5100" kern="1200" cap="all" spc="150" baseline="0">
          <a:solidFill>
            <a:schemeClr val="tx2"/>
          </a:solidFill>
          <a:latin typeface="+mj-lt"/>
          <a:ea typeface="+mj-ea"/>
          <a:cs typeface="+mj-cs"/>
        </a:defRPr>
      </a:lvl1pPr>
    </p:titleStyle>
    <p:body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594">
          <p15:clr>
            <a:srgbClr val="F26B43"/>
          </p15:clr>
        </p15:guide>
        <p15:guide id="1" pos="792">
          <p15:clr>
            <a:srgbClr val="F26B43"/>
          </p15:clr>
        </p15:guide>
        <p15:guide id="2" pos="7200">
          <p15:clr>
            <a:srgbClr val="F26B43"/>
          </p15:clr>
        </p15:guide>
        <p15:guide id="3" pos="5400">
          <p15:clr>
            <a:srgbClr val="F26B43"/>
          </p15:clr>
        </p15:guide>
        <p15:guide id="4" orient="horz" pos="4008">
          <p15:clr>
            <a:srgbClr val="F26B43"/>
          </p15:clr>
        </p15:guide>
        <p15:guide id="5" orient="horz" pos="1440">
          <p15:clr>
            <a:srgbClr val="F26B43"/>
          </p15:clr>
        </p15:guide>
        <p15:guide id="6" orient="horz" pos="3720">
          <p15:clr>
            <a:srgbClr val="F26B43"/>
          </p15:clr>
        </p15:guide>
        <p15:guide id="7"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jpeg"/><Relationship Id="rId3" Type="http://schemas.openxmlformats.org/officeDocument/2006/relationships/image" Target="../media/image13.pn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jpe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jpeg"/></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9.png"/><Relationship Id="rId7" Type="http://schemas.openxmlformats.org/officeDocument/2006/relationships/image" Target="../media/image32.jpe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1.jpeg"/><Relationship Id="rId5" Type="http://schemas.openxmlformats.org/officeDocument/2006/relationships/image" Target="../media/image20.png"/><Relationship Id="rId4" Type="http://schemas.openxmlformats.org/officeDocument/2006/relationships/image" Target="../media/image22.jpe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3.png"/><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41.JPG"/><Relationship Id="rId3" Type="http://schemas.openxmlformats.org/officeDocument/2006/relationships/image" Target="../media/image36.jpeg"/><Relationship Id="rId7" Type="http://schemas.openxmlformats.org/officeDocument/2006/relationships/image" Target="../media/image40.JPG"/><Relationship Id="rId2" Type="http://schemas.openxmlformats.org/officeDocument/2006/relationships/image" Target="../media/image17.jpeg"/><Relationship Id="rId1" Type="http://schemas.openxmlformats.org/officeDocument/2006/relationships/slideLayout" Target="../slideLayouts/slideLayout12.xml"/><Relationship Id="rId6" Type="http://schemas.openxmlformats.org/officeDocument/2006/relationships/image" Target="../media/image39.jpeg"/><Relationship Id="rId5" Type="http://schemas.openxmlformats.org/officeDocument/2006/relationships/image" Target="../media/image38.jpeg"/><Relationship Id="rId10" Type="http://schemas.openxmlformats.org/officeDocument/2006/relationships/image" Target="../media/image43.JPG"/><Relationship Id="rId4" Type="http://schemas.openxmlformats.org/officeDocument/2006/relationships/image" Target="../media/image37.jpeg"/><Relationship Id="rId9" Type="http://schemas.openxmlformats.org/officeDocument/2006/relationships/image" Target="../media/image42.JPG"/></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jpeg"/><Relationship Id="rId1" Type="http://schemas.openxmlformats.org/officeDocument/2006/relationships/slideLayout" Target="../slideLayouts/slideLayout1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8.jpeg"/><Relationship Id="rId1" Type="http://schemas.openxmlformats.org/officeDocument/2006/relationships/slideLayout" Target="../slideLayouts/slideLayout12.xml"/><Relationship Id="rId4" Type="http://schemas.openxmlformats.org/officeDocument/2006/relationships/image" Target="../media/image4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14.xml"/><Relationship Id="rId4" Type="http://schemas.openxmlformats.org/officeDocument/2006/relationships/image" Target="../media/image52.jpeg"/></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4.xml"/><Relationship Id="rId4" Type="http://schemas.openxmlformats.org/officeDocument/2006/relationships/image" Target="../media/image52.jpeg"/></Relationships>
</file>

<file path=ppt/slides/_rels/slide1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2.xml"/><Relationship Id="rId5" Type="http://schemas.openxmlformats.org/officeDocument/2006/relationships/image" Target="../media/image56.jpeg"/><Relationship Id="rId4" Type="http://schemas.openxmlformats.org/officeDocument/2006/relationships/image" Target="../media/image5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Lycée Roland Garros…"/>
          <p:cNvSpPr txBox="1"/>
          <p:nvPr/>
        </p:nvSpPr>
        <p:spPr>
          <a:xfrm>
            <a:off x="1885399" y="335631"/>
            <a:ext cx="6500430" cy="12618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4400" i="1">
                <a:solidFill>
                  <a:srgbClr val="000000"/>
                </a:solidFill>
              </a:defRPr>
            </a:pPr>
            <a:r>
              <a:rPr dirty="0"/>
              <a:t>Lycée Roland Garros</a:t>
            </a:r>
          </a:p>
          <a:p>
            <a:pPr algn="ctr">
              <a:defRPr sz="3600" i="1">
                <a:solidFill>
                  <a:srgbClr val="000000"/>
                </a:solidFill>
              </a:defRPr>
            </a:pPr>
            <a:r>
              <a:rPr sz="3200" dirty="0"/>
              <a:t>Classes </a:t>
            </a:r>
            <a:r>
              <a:rPr sz="3200" dirty="0" err="1"/>
              <a:t>Préparatoires</a:t>
            </a:r>
            <a:r>
              <a:rPr sz="3200" dirty="0"/>
              <a:t> aux Grandes </a:t>
            </a:r>
            <a:r>
              <a:rPr sz="3200" dirty="0" err="1"/>
              <a:t>Ecoles</a:t>
            </a:r>
            <a:endParaRPr lang="fr-RE" sz="3200" dirty="0"/>
          </a:p>
        </p:txBody>
      </p:sp>
      <p:pic>
        <p:nvPicPr>
          <p:cNvPr id="1026" name="Picture 2" descr="CPGE PSI Lycée Roland Garros Le Tampon">
            <a:extLst>
              <a:ext uri="{FF2B5EF4-FFF2-40B4-BE49-F238E27FC236}">
                <a16:creationId xmlns:a16="http://schemas.microsoft.com/office/drawing/2014/main" id="{CA6A2CDC-33C2-76C7-E168-D44DDBCAD1CB}"/>
              </a:ext>
            </a:extLst>
          </p:cNvPr>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438276" y="2819594"/>
            <a:ext cx="215265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ournée Portes Ouvertes 2023 CPGE BCPST PCSI et PSI du Lycée Roland Garros  – Lycée Roland Garros">
            <a:extLst>
              <a:ext uri="{FF2B5EF4-FFF2-40B4-BE49-F238E27FC236}">
                <a16:creationId xmlns:a16="http://schemas.microsoft.com/office/drawing/2014/main" id="{F093FBCD-ADDC-7D51-D75C-AF7C7F06BA76}"/>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087245" y="4943669"/>
            <a:ext cx="1618479" cy="16503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ournée Portes Ouvertes 2023 CPGE BCPST PCSI et PSI du Lycée Roland Garros  – Lycée Roland Garros">
            <a:extLst>
              <a:ext uri="{FF2B5EF4-FFF2-40B4-BE49-F238E27FC236}">
                <a16:creationId xmlns:a16="http://schemas.microsoft.com/office/drawing/2014/main" id="{DEA89AC4-85A8-7573-F46A-F7F67D21A74E}"/>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8984" y="4943669"/>
            <a:ext cx="1431234" cy="165037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ogo_LRG_2020.resized – Lycée Roland Garros">
            <a:extLst>
              <a:ext uri="{FF2B5EF4-FFF2-40B4-BE49-F238E27FC236}">
                <a16:creationId xmlns:a16="http://schemas.microsoft.com/office/drawing/2014/main" id="{2CFED725-B3BD-D8A4-63C7-E8BF188A652B}"/>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8171" y="91381"/>
            <a:ext cx="1345716" cy="184766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027793CF-1E99-9226-5CB7-0CD9DE1E889E}"/>
              </a:ext>
            </a:extLst>
          </p:cNvPr>
          <p:cNvSpPr txBox="1"/>
          <p:nvPr/>
        </p:nvSpPr>
        <p:spPr>
          <a:xfrm>
            <a:off x="1321904" y="1929356"/>
            <a:ext cx="6708913" cy="1200329"/>
          </a:xfrm>
          <a:prstGeom prst="rect">
            <a:avLst/>
          </a:prstGeom>
          <a:noFill/>
        </p:spPr>
        <p:txBody>
          <a:bodyPr wrap="square">
            <a:spAutoFit/>
          </a:bodyPr>
          <a:lstStyle/>
          <a:p>
            <a:pPr algn="ctr">
              <a:defRPr sz="3600" i="1">
                <a:solidFill>
                  <a:srgbClr val="000000"/>
                </a:solidFill>
              </a:defRPr>
            </a:pPr>
            <a:endParaRPr lang="fr-FR" sz="1200" dirty="0"/>
          </a:p>
          <a:p>
            <a:pPr algn="ctr">
              <a:defRPr sz="6000" i="1">
                <a:solidFill>
                  <a:srgbClr val="FF0000"/>
                </a:solidFill>
              </a:defRPr>
            </a:pPr>
            <a:r>
              <a:rPr lang="fr-FR" dirty="0">
                <a:solidFill>
                  <a:srgbClr val="0070C0"/>
                </a:solidFill>
              </a:rPr>
              <a:t>PCSI-PSI   </a:t>
            </a:r>
            <a:r>
              <a:rPr lang="fr-FR" sz="4000" dirty="0">
                <a:solidFill>
                  <a:srgbClr val="0070C0"/>
                </a:solidFill>
              </a:rPr>
              <a:t> </a:t>
            </a:r>
            <a:r>
              <a:rPr lang="fr-FR" sz="4000" dirty="0">
                <a:solidFill>
                  <a:schemeClr val="tx2"/>
                </a:solidFill>
              </a:rPr>
              <a:t>et</a:t>
            </a:r>
            <a:r>
              <a:rPr lang="fr-FR" sz="4000" dirty="0">
                <a:solidFill>
                  <a:srgbClr val="009900"/>
                </a:solidFill>
              </a:rPr>
              <a:t>       </a:t>
            </a:r>
            <a:r>
              <a:rPr lang="fr-FR" dirty="0">
                <a:solidFill>
                  <a:srgbClr val="00B050"/>
                </a:solidFill>
              </a:rPr>
              <a:t>BCPST</a:t>
            </a:r>
          </a:p>
        </p:txBody>
      </p:sp>
      <p:pic>
        <p:nvPicPr>
          <p:cNvPr id="4" name="Image 3">
            <a:extLst>
              <a:ext uri="{FF2B5EF4-FFF2-40B4-BE49-F238E27FC236}">
                <a16:creationId xmlns:a16="http://schemas.microsoft.com/office/drawing/2014/main" id="{2F2CCC9E-9040-45AE-C51F-DCA0BE11FBD8}"/>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30676" t="34927" r="29067" b="45636"/>
          <a:stretch/>
        </p:blipFill>
        <p:spPr>
          <a:xfrm>
            <a:off x="6087245" y="3007612"/>
            <a:ext cx="1918252" cy="2058131"/>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a:extLst>
              <a:ext uri="{FF2B5EF4-FFF2-40B4-BE49-F238E27FC236}">
                <a16:creationId xmlns:a16="http://schemas.microsoft.com/office/drawing/2014/main" id="{67F11BF3-ADAD-E839-7B03-64BD3543BED1}"/>
              </a:ext>
            </a:extLst>
          </p:cNvPr>
          <p:cNvSpPr/>
          <p:nvPr/>
        </p:nvSpPr>
        <p:spPr>
          <a:xfrm>
            <a:off x="596822" y="4089398"/>
            <a:ext cx="1026913" cy="881066"/>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grpSp>
        <p:nvGrpSpPr>
          <p:cNvPr id="76" name="Grouper"/>
          <p:cNvGrpSpPr/>
          <p:nvPr/>
        </p:nvGrpSpPr>
        <p:grpSpPr>
          <a:xfrm>
            <a:off x="401624" y="1998652"/>
            <a:ext cx="6793871" cy="2971812"/>
            <a:chOff x="57780" y="-34650"/>
            <a:chExt cx="6793870" cy="2971810"/>
          </a:xfrm>
        </p:grpSpPr>
        <p:grpSp>
          <p:nvGrpSpPr>
            <p:cNvPr id="51" name="Grouper"/>
            <p:cNvGrpSpPr/>
            <p:nvPr/>
          </p:nvGrpSpPr>
          <p:grpSpPr>
            <a:xfrm>
              <a:off x="379412" y="0"/>
              <a:ext cx="1446215" cy="879475"/>
              <a:chOff x="0" y="0"/>
              <a:chExt cx="1446214" cy="879475"/>
            </a:xfrm>
          </p:grpSpPr>
          <p:sp>
            <p:nvSpPr>
              <p:cNvPr id="49" name="Rectangle"/>
              <p:cNvSpPr/>
              <p:nvPr/>
            </p:nvSpPr>
            <p:spPr>
              <a:xfrm>
                <a:off x="0" y="0"/>
                <a:ext cx="1446214" cy="879475"/>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50" name="MPSI"/>
              <p:cNvSpPr txBox="1"/>
              <p:nvPr/>
            </p:nvSpPr>
            <p:spPr>
              <a:xfrm>
                <a:off x="57780" y="148078"/>
                <a:ext cx="1330654" cy="5833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rPr dirty="0"/>
                  <a:t>MP</a:t>
                </a:r>
                <a:r>
                  <a:rPr lang="fr-RE" dirty="0"/>
                  <a:t>I</a:t>
                </a:r>
                <a:r>
                  <a:rPr dirty="0"/>
                  <a:t>I</a:t>
                </a:r>
              </a:p>
            </p:txBody>
          </p:sp>
        </p:grpSp>
        <p:grpSp>
          <p:nvGrpSpPr>
            <p:cNvPr id="54" name="Grouper"/>
            <p:cNvGrpSpPr/>
            <p:nvPr/>
          </p:nvGrpSpPr>
          <p:grpSpPr>
            <a:xfrm>
              <a:off x="3630134" y="-27268"/>
              <a:ext cx="1446214" cy="881065"/>
              <a:chOff x="1163158" y="-41555"/>
              <a:chExt cx="1446213" cy="881064"/>
            </a:xfrm>
          </p:grpSpPr>
          <p:sp>
            <p:nvSpPr>
              <p:cNvPr id="52" name="Rectangle"/>
              <p:cNvSpPr/>
              <p:nvPr/>
            </p:nvSpPr>
            <p:spPr>
              <a:xfrm>
                <a:off x="1163158" y="-41555"/>
                <a:ext cx="1446213" cy="881064"/>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C000"/>
                    </a:solidFill>
                    <a:latin typeface="Lao Sangam MN"/>
                    <a:ea typeface="Lao Sangam MN"/>
                    <a:cs typeface="Lao Sangam MN"/>
                    <a:sym typeface="Lao Sangam MN"/>
                  </a:defRPr>
                </a:pPr>
                <a:endParaRPr dirty="0"/>
              </a:p>
            </p:txBody>
          </p:sp>
          <p:sp>
            <p:nvSpPr>
              <p:cNvPr id="53" name="PCSI"/>
              <p:cNvSpPr txBox="1"/>
              <p:nvPr/>
            </p:nvSpPr>
            <p:spPr>
              <a:xfrm>
                <a:off x="1221317" y="98943"/>
                <a:ext cx="1330653" cy="62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C000"/>
                    </a:solidFill>
                    <a:latin typeface="Lao Sangam MN"/>
                    <a:ea typeface="Lao Sangam MN"/>
                    <a:cs typeface="Lao Sangam MN"/>
                    <a:sym typeface="Lao Sangam MN"/>
                  </a:defRPr>
                </a:lvl1pPr>
              </a:lstStyle>
              <a:p>
                <a:r>
                  <a:rPr dirty="0"/>
                  <a:t>PCSI</a:t>
                </a:r>
              </a:p>
            </p:txBody>
          </p:sp>
        </p:grpSp>
        <p:grpSp>
          <p:nvGrpSpPr>
            <p:cNvPr id="57" name="Grouper"/>
            <p:cNvGrpSpPr/>
            <p:nvPr/>
          </p:nvGrpSpPr>
          <p:grpSpPr>
            <a:xfrm>
              <a:off x="5362894" y="-34650"/>
              <a:ext cx="1446214" cy="879475"/>
              <a:chOff x="765494" y="-34650"/>
              <a:chExt cx="1446213" cy="879475"/>
            </a:xfrm>
          </p:grpSpPr>
          <p:sp>
            <p:nvSpPr>
              <p:cNvPr id="55" name="Rectangle"/>
              <p:cNvSpPr/>
              <p:nvPr/>
            </p:nvSpPr>
            <p:spPr>
              <a:xfrm>
                <a:off x="765494" y="-34650"/>
                <a:ext cx="1446213" cy="879475"/>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56" name="PTSI"/>
              <p:cNvSpPr txBox="1"/>
              <p:nvPr/>
            </p:nvSpPr>
            <p:spPr>
              <a:xfrm>
                <a:off x="855988" y="97935"/>
                <a:ext cx="1330653" cy="62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rPr dirty="0"/>
                  <a:t>PTSI</a:t>
                </a:r>
              </a:p>
            </p:txBody>
          </p:sp>
        </p:grpSp>
        <p:grpSp>
          <p:nvGrpSpPr>
            <p:cNvPr id="60" name="Grouper"/>
            <p:cNvGrpSpPr/>
            <p:nvPr/>
          </p:nvGrpSpPr>
          <p:grpSpPr>
            <a:xfrm>
              <a:off x="57780" y="2049747"/>
              <a:ext cx="2312402" cy="881065"/>
              <a:chOff x="57780" y="9810"/>
              <a:chExt cx="2312400" cy="881064"/>
            </a:xfrm>
          </p:grpSpPr>
          <p:sp>
            <p:nvSpPr>
              <p:cNvPr id="58" name="Rectangle"/>
              <p:cNvSpPr/>
              <p:nvPr/>
            </p:nvSpPr>
            <p:spPr>
              <a:xfrm>
                <a:off x="1343268" y="9810"/>
                <a:ext cx="1026912" cy="881064"/>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59" name="MP"/>
              <p:cNvSpPr txBox="1"/>
              <p:nvPr/>
            </p:nvSpPr>
            <p:spPr>
              <a:xfrm>
                <a:off x="57780" y="148872"/>
                <a:ext cx="1349702" cy="5833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rPr dirty="0"/>
                  <a:t>MP</a:t>
                </a:r>
                <a:r>
                  <a:rPr lang="fr-RE" dirty="0"/>
                  <a:t>I</a:t>
                </a:r>
                <a:endParaRPr dirty="0"/>
              </a:p>
            </p:txBody>
          </p:sp>
        </p:grpSp>
        <p:grpSp>
          <p:nvGrpSpPr>
            <p:cNvPr id="63" name="Grouper"/>
            <p:cNvGrpSpPr/>
            <p:nvPr/>
          </p:nvGrpSpPr>
          <p:grpSpPr>
            <a:xfrm>
              <a:off x="2377889" y="2057683"/>
              <a:ext cx="1602117" cy="879477"/>
              <a:chOff x="645927" y="140534"/>
              <a:chExt cx="1602116" cy="879476"/>
            </a:xfrm>
          </p:grpSpPr>
          <p:sp>
            <p:nvSpPr>
              <p:cNvPr id="61" name="Rectangle"/>
              <p:cNvSpPr/>
              <p:nvPr/>
            </p:nvSpPr>
            <p:spPr>
              <a:xfrm>
                <a:off x="756607" y="140534"/>
                <a:ext cx="1398940" cy="879476"/>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62" name="PSI (PSI*)"/>
              <p:cNvSpPr txBox="1"/>
              <p:nvPr/>
            </p:nvSpPr>
            <p:spPr>
              <a:xfrm>
                <a:off x="645927" y="402229"/>
                <a:ext cx="1602116" cy="46020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p>
                <a:pPr algn="ctr">
                  <a:defRPr sz="3200" b="0">
                    <a:solidFill>
                      <a:srgbClr val="FFC000"/>
                    </a:solidFill>
                    <a:latin typeface="Lao Sangam MN"/>
                    <a:ea typeface="Lao Sangam MN"/>
                    <a:cs typeface="Lao Sangam MN"/>
                    <a:sym typeface="Lao Sangam MN"/>
                  </a:defRPr>
                </a:pPr>
                <a:r>
                  <a:rPr sz="2400" dirty="0"/>
                  <a:t>PSI </a:t>
                </a:r>
                <a:r>
                  <a:rPr sz="2400" dirty="0">
                    <a:solidFill>
                      <a:srgbClr val="FFFFFF"/>
                    </a:solidFill>
                  </a:rPr>
                  <a:t>(PSI*)</a:t>
                </a:r>
              </a:p>
            </p:txBody>
          </p:sp>
        </p:grpSp>
        <p:grpSp>
          <p:nvGrpSpPr>
            <p:cNvPr id="66" name="Grouper"/>
            <p:cNvGrpSpPr/>
            <p:nvPr/>
          </p:nvGrpSpPr>
          <p:grpSpPr>
            <a:xfrm>
              <a:off x="3976930" y="2049747"/>
              <a:ext cx="1350965" cy="881065"/>
              <a:chOff x="285994" y="9810"/>
              <a:chExt cx="1350964" cy="881064"/>
            </a:xfrm>
          </p:grpSpPr>
          <p:sp>
            <p:nvSpPr>
              <p:cNvPr id="64" name="Rectangle"/>
              <p:cNvSpPr/>
              <p:nvPr/>
            </p:nvSpPr>
            <p:spPr>
              <a:xfrm>
                <a:off x="285994" y="9810"/>
                <a:ext cx="1350964" cy="881064"/>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65" name="PC"/>
              <p:cNvSpPr txBox="1"/>
              <p:nvPr/>
            </p:nvSpPr>
            <p:spPr>
              <a:xfrm>
                <a:off x="348375" y="128831"/>
                <a:ext cx="1235404" cy="62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t>PC</a:t>
                </a:r>
              </a:p>
            </p:txBody>
          </p:sp>
        </p:grpSp>
        <p:grpSp>
          <p:nvGrpSpPr>
            <p:cNvPr id="69" name="Grouper"/>
            <p:cNvGrpSpPr/>
            <p:nvPr/>
          </p:nvGrpSpPr>
          <p:grpSpPr>
            <a:xfrm>
              <a:off x="5454650" y="2039937"/>
              <a:ext cx="1397000" cy="881064"/>
              <a:chOff x="0" y="0"/>
              <a:chExt cx="1397000" cy="881063"/>
            </a:xfrm>
          </p:grpSpPr>
          <p:sp>
            <p:nvSpPr>
              <p:cNvPr id="67" name="Rectangle"/>
              <p:cNvSpPr/>
              <p:nvPr/>
            </p:nvSpPr>
            <p:spPr>
              <a:xfrm>
                <a:off x="0" y="0"/>
                <a:ext cx="1397000" cy="881064"/>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68" name="PT"/>
              <p:cNvSpPr txBox="1"/>
              <p:nvPr/>
            </p:nvSpPr>
            <p:spPr>
              <a:xfrm>
                <a:off x="57780" y="128831"/>
                <a:ext cx="1281440" cy="623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t>PT</a:t>
                </a:r>
              </a:p>
            </p:txBody>
          </p:sp>
        </p:grpSp>
      </p:grpSp>
      <p:sp>
        <p:nvSpPr>
          <p:cNvPr id="77" name="Les CPGE scientifiques…"/>
          <p:cNvSpPr txBox="1"/>
          <p:nvPr/>
        </p:nvSpPr>
        <p:spPr>
          <a:xfrm>
            <a:off x="663257" y="308852"/>
            <a:ext cx="7088824" cy="1070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3200">
                <a:solidFill>
                  <a:srgbClr val="000000"/>
                </a:solidFill>
                <a:latin typeface="Helvetica Neue"/>
                <a:ea typeface="Helvetica Neue"/>
                <a:cs typeface="Helvetica Neue"/>
                <a:sym typeface="Helvetica Neue"/>
              </a:defRPr>
            </a:pPr>
            <a:r>
              <a:rPr dirty="0"/>
              <a:t>Les CPGE </a:t>
            </a:r>
            <a:r>
              <a:rPr dirty="0" err="1"/>
              <a:t>scientifiques</a:t>
            </a:r>
            <a:endParaRPr dirty="0"/>
          </a:p>
          <a:p>
            <a:pPr algn="ctr">
              <a:defRPr sz="3200">
                <a:solidFill>
                  <a:srgbClr val="000000"/>
                </a:solidFill>
                <a:latin typeface="Helvetica Neue"/>
                <a:ea typeface="Helvetica Neue"/>
                <a:cs typeface="Helvetica Neue"/>
                <a:sym typeface="Helvetica Neue"/>
              </a:defRPr>
            </a:pPr>
            <a:r>
              <a:rPr dirty="0"/>
              <a:t>à la Réunion</a:t>
            </a:r>
          </a:p>
        </p:txBody>
      </p:sp>
      <p:sp>
        <p:nvSpPr>
          <p:cNvPr id="78" name="Rectangle"/>
          <p:cNvSpPr/>
          <p:nvPr/>
        </p:nvSpPr>
        <p:spPr>
          <a:xfrm>
            <a:off x="7440612" y="2041524"/>
            <a:ext cx="1312864" cy="879477"/>
          </a:xfrm>
          <a:prstGeom prst="rect">
            <a:avLst/>
          </a:prstGeom>
          <a:solidFill>
            <a:srgbClr val="00B05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C000"/>
                </a:solidFill>
                <a:latin typeface="Lao Sangam MN"/>
                <a:ea typeface="Lao Sangam MN"/>
                <a:cs typeface="Lao Sangam MN"/>
                <a:sym typeface="Lao Sangam MN"/>
              </a:defRPr>
            </a:pPr>
            <a:endParaRPr/>
          </a:p>
        </p:txBody>
      </p:sp>
      <p:sp>
        <p:nvSpPr>
          <p:cNvPr id="79" name="BCPST"/>
          <p:cNvSpPr txBox="1"/>
          <p:nvPr/>
        </p:nvSpPr>
        <p:spPr>
          <a:xfrm>
            <a:off x="7498392" y="1902862"/>
            <a:ext cx="1197304" cy="115680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C000"/>
                </a:solidFill>
                <a:latin typeface="Lao Sangam MN"/>
                <a:ea typeface="Lao Sangam MN"/>
                <a:cs typeface="Lao Sangam MN"/>
                <a:sym typeface="Lao Sangam MN"/>
              </a:defRPr>
            </a:lvl1pPr>
          </a:lstStyle>
          <a:p>
            <a:r>
              <a:rPr dirty="0"/>
              <a:t>BCPST</a:t>
            </a:r>
          </a:p>
        </p:txBody>
      </p:sp>
      <p:sp>
        <p:nvSpPr>
          <p:cNvPr id="81" name="Rectangle"/>
          <p:cNvSpPr/>
          <p:nvPr/>
        </p:nvSpPr>
        <p:spPr>
          <a:xfrm>
            <a:off x="7419975" y="4090987"/>
            <a:ext cx="1333500" cy="879477"/>
          </a:xfrm>
          <a:prstGeom prst="rect">
            <a:avLst/>
          </a:prstGeom>
          <a:solidFill>
            <a:srgbClr val="00B05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C000"/>
                </a:solidFill>
                <a:latin typeface="Lao Sangam MN"/>
                <a:ea typeface="Lao Sangam MN"/>
                <a:cs typeface="Lao Sangam MN"/>
                <a:sym typeface="Lao Sangam MN"/>
              </a:defRPr>
            </a:pPr>
            <a:endParaRPr/>
          </a:p>
        </p:txBody>
      </p:sp>
      <p:sp>
        <p:nvSpPr>
          <p:cNvPr id="82" name="BCPST"/>
          <p:cNvSpPr txBox="1"/>
          <p:nvPr/>
        </p:nvSpPr>
        <p:spPr>
          <a:xfrm>
            <a:off x="7477755" y="3952325"/>
            <a:ext cx="1217940" cy="115680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C000"/>
                </a:solidFill>
                <a:latin typeface="Lao Sangam MN"/>
                <a:ea typeface="Lao Sangam MN"/>
                <a:cs typeface="Lao Sangam MN"/>
                <a:sym typeface="Lao Sangam MN"/>
              </a:defRPr>
            </a:lvl1pPr>
          </a:lstStyle>
          <a:p>
            <a:r>
              <a:rPr dirty="0"/>
              <a:t>BCPST</a:t>
            </a:r>
          </a:p>
        </p:txBody>
      </p:sp>
      <p:sp>
        <p:nvSpPr>
          <p:cNvPr id="85" name="Leconte de Lisle ou Saint-Charles"/>
          <p:cNvSpPr txBox="1"/>
          <p:nvPr/>
        </p:nvSpPr>
        <p:spPr>
          <a:xfrm>
            <a:off x="2377905" y="1388481"/>
            <a:ext cx="1596074"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000000"/>
                </a:solidFill>
              </a:defRPr>
            </a:lvl1pPr>
          </a:lstStyle>
          <a:p>
            <a:r>
              <a:rPr dirty="0" err="1">
                <a:solidFill>
                  <a:schemeClr val="bg1">
                    <a:lumMod val="75000"/>
                  </a:schemeClr>
                </a:solidFill>
              </a:rPr>
              <a:t>Leconte</a:t>
            </a:r>
            <a:r>
              <a:rPr dirty="0">
                <a:solidFill>
                  <a:schemeClr val="bg1">
                    <a:lumMod val="75000"/>
                  </a:schemeClr>
                </a:solidFill>
              </a:rPr>
              <a:t> de Lisle </a:t>
            </a:r>
            <a:r>
              <a:rPr dirty="0" err="1">
                <a:solidFill>
                  <a:schemeClr val="bg1">
                    <a:lumMod val="75000"/>
                  </a:schemeClr>
                </a:solidFill>
              </a:rPr>
              <a:t>ou</a:t>
            </a:r>
            <a:r>
              <a:rPr dirty="0">
                <a:solidFill>
                  <a:schemeClr val="bg1">
                    <a:lumMod val="75000"/>
                  </a:schemeClr>
                </a:solidFill>
              </a:rPr>
              <a:t> Saint-Charles</a:t>
            </a:r>
          </a:p>
        </p:txBody>
      </p:sp>
      <p:sp>
        <p:nvSpPr>
          <p:cNvPr id="86" name="Roland Garros ou Leconte de Lisle"/>
          <p:cNvSpPr txBox="1"/>
          <p:nvPr/>
        </p:nvSpPr>
        <p:spPr>
          <a:xfrm>
            <a:off x="3948162" y="1337429"/>
            <a:ext cx="1699261"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600">
                <a:solidFill>
                  <a:srgbClr val="FFC000"/>
                </a:solidFill>
              </a:defRPr>
            </a:pPr>
            <a:r>
              <a:rPr dirty="0"/>
              <a:t>Roland Garros </a:t>
            </a:r>
            <a:r>
              <a:rPr dirty="0" err="1">
                <a:solidFill>
                  <a:schemeClr val="bg1">
                    <a:lumMod val="75000"/>
                  </a:schemeClr>
                </a:solidFill>
              </a:rPr>
              <a:t>ou</a:t>
            </a:r>
            <a:r>
              <a:rPr dirty="0">
                <a:solidFill>
                  <a:schemeClr val="bg1">
                    <a:lumMod val="75000"/>
                  </a:schemeClr>
                </a:solidFill>
              </a:rPr>
              <a:t> </a:t>
            </a:r>
            <a:r>
              <a:rPr dirty="0" err="1">
                <a:solidFill>
                  <a:schemeClr val="bg1">
                    <a:lumMod val="75000"/>
                  </a:schemeClr>
                </a:solidFill>
              </a:rPr>
              <a:t>Leconte</a:t>
            </a:r>
            <a:r>
              <a:rPr dirty="0">
                <a:solidFill>
                  <a:schemeClr val="bg1">
                    <a:lumMod val="75000"/>
                  </a:schemeClr>
                </a:solidFill>
              </a:rPr>
              <a:t> de Lisle</a:t>
            </a:r>
          </a:p>
        </p:txBody>
      </p:sp>
      <p:sp>
        <p:nvSpPr>
          <p:cNvPr id="87" name="Lislet Geoffroy"/>
          <p:cNvSpPr txBox="1"/>
          <p:nvPr/>
        </p:nvSpPr>
        <p:spPr>
          <a:xfrm>
            <a:off x="5680550" y="1609267"/>
            <a:ext cx="159607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000000"/>
                </a:solidFill>
              </a:defRPr>
            </a:lvl1pPr>
          </a:lstStyle>
          <a:p>
            <a:r>
              <a:rPr dirty="0" err="1">
                <a:solidFill>
                  <a:schemeClr val="bg1">
                    <a:lumMod val="75000"/>
                  </a:schemeClr>
                </a:solidFill>
              </a:rPr>
              <a:t>Lislet</a:t>
            </a:r>
            <a:r>
              <a:rPr dirty="0">
                <a:solidFill>
                  <a:schemeClr val="bg1">
                    <a:lumMod val="75000"/>
                  </a:schemeClr>
                </a:solidFill>
              </a:rPr>
              <a:t> Geoffroy</a:t>
            </a:r>
          </a:p>
        </p:txBody>
      </p:sp>
      <p:sp>
        <p:nvSpPr>
          <p:cNvPr id="88" name="Roland Garros"/>
          <p:cNvSpPr txBox="1"/>
          <p:nvPr/>
        </p:nvSpPr>
        <p:spPr>
          <a:xfrm>
            <a:off x="7367269" y="1579562"/>
            <a:ext cx="1457961"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FFC000"/>
                </a:solidFill>
              </a:defRPr>
            </a:lvl1pPr>
          </a:lstStyle>
          <a:p>
            <a:r>
              <a:t>Roland Garros</a:t>
            </a:r>
          </a:p>
        </p:txBody>
      </p:sp>
      <p:sp>
        <p:nvSpPr>
          <p:cNvPr id="89" name="PCSI/PSI et BCPST"/>
          <p:cNvSpPr txBox="1"/>
          <p:nvPr/>
        </p:nvSpPr>
        <p:spPr>
          <a:xfrm>
            <a:off x="6898957" y="6359525"/>
            <a:ext cx="1967548"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000000"/>
                </a:solidFill>
              </a:defRPr>
            </a:lvl1pPr>
          </a:lstStyle>
          <a:p>
            <a:r>
              <a:t>PCSI/PSI et BCPST</a:t>
            </a:r>
          </a:p>
        </p:txBody>
      </p:sp>
      <p:sp>
        <p:nvSpPr>
          <p:cNvPr id="90" name="Leconte de Lisle ou…"/>
          <p:cNvSpPr txBox="1"/>
          <p:nvPr/>
        </p:nvSpPr>
        <p:spPr>
          <a:xfrm>
            <a:off x="1687113" y="5043011"/>
            <a:ext cx="988927" cy="1077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1600">
                <a:solidFill>
                  <a:srgbClr val="000000"/>
                </a:solidFill>
              </a:defRPr>
            </a:pPr>
            <a:r>
              <a:rPr dirty="0" err="1">
                <a:solidFill>
                  <a:schemeClr val="bg1">
                    <a:lumMod val="75000"/>
                  </a:schemeClr>
                </a:solidFill>
              </a:rPr>
              <a:t>Leconte</a:t>
            </a:r>
            <a:r>
              <a:rPr dirty="0">
                <a:solidFill>
                  <a:schemeClr val="bg1">
                    <a:lumMod val="75000"/>
                  </a:schemeClr>
                </a:solidFill>
              </a:rPr>
              <a:t> de Lisle </a:t>
            </a:r>
            <a:r>
              <a:rPr dirty="0" err="1">
                <a:solidFill>
                  <a:schemeClr val="bg1">
                    <a:lumMod val="75000"/>
                  </a:schemeClr>
                </a:solidFill>
              </a:rPr>
              <a:t>ou</a:t>
            </a:r>
            <a:r>
              <a:rPr dirty="0">
                <a:solidFill>
                  <a:schemeClr val="bg1">
                    <a:lumMod val="75000"/>
                  </a:schemeClr>
                </a:solidFill>
              </a:rPr>
              <a:t> </a:t>
            </a:r>
          </a:p>
          <a:p>
            <a:pPr algn="ctr">
              <a:defRPr sz="1600">
                <a:solidFill>
                  <a:srgbClr val="000000"/>
                </a:solidFill>
              </a:defRPr>
            </a:pPr>
            <a:r>
              <a:rPr dirty="0">
                <a:solidFill>
                  <a:schemeClr val="bg1">
                    <a:lumMod val="75000"/>
                  </a:schemeClr>
                </a:solidFill>
              </a:rPr>
              <a:t>Saint-Charles</a:t>
            </a:r>
          </a:p>
        </p:txBody>
      </p:sp>
      <p:sp>
        <p:nvSpPr>
          <p:cNvPr id="91" name="Roland Garros…"/>
          <p:cNvSpPr txBox="1"/>
          <p:nvPr/>
        </p:nvSpPr>
        <p:spPr>
          <a:xfrm>
            <a:off x="2665250" y="4979571"/>
            <a:ext cx="1699261"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1600">
                <a:solidFill>
                  <a:srgbClr val="FFC000"/>
                </a:solidFill>
              </a:defRPr>
            </a:pPr>
            <a:r>
              <a:rPr dirty="0"/>
              <a:t>Roland Garros</a:t>
            </a:r>
          </a:p>
          <a:p>
            <a:pPr algn="ctr">
              <a:defRPr sz="1600">
                <a:solidFill>
                  <a:srgbClr val="FFC000"/>
                </a:solidFill>
              </a:defRPr>
            </a:pPr>
            <a:r>
              <a:rPr dirty="0">
                <a:solidFill>
                  <a:schemeClr val="bg1">
                    <a:lumMod val="75000"/>
                  </a:schemeClr>
                </a:solidFill>
              </a:rPr>
              <a:t> </a:t>
            </a:r>
            <a:r>
              <a:rPr dirty="0" err="1">
                <a:solidFill>
                  <a:schemeClr val="bg1">
                    <a:lumMod val="75000"/>
                  </a:schemeClr>
                </a:solidFill>
              </a:rPr>
              <a:t>ou</a:t>
            </a:r>
            <a:r>
              <a:rPr dirty="0">
                <a:solidFill>
                  <a:schemeClr val="bg1">
                    <a:lumMod val="75000"/>
                  </a:schemeClr>
                </a:solidFill>
              </a:rPr>
              <a:t> </a:t>
            </a:r>
          </a:p>
          <a:p>
            <a:pPr algn="ctr">
              <a:defRPr sz="1600">
                <a:solidFill>
                  <a:srgbClr val="000000"/>
                </a:solidFill>
              </a:defRPr>
            </a:pPr>
            <a:r>
              <a:rPr dirty="0" err="1">
                <a:solidFill>
                  <a:schemeClr val="bg1">
                    <a:lumMod val="75000"/>
                  </a:schemeClr>
                </a:solidFill>
              </a:rPr>
              <a:t>Leconte</a:t>
            </a:r>
            <a:r>
              <a:rPr dirty="0">
                <a:solidFill>
                  <a:schemeClr val="bg1">
                    <a:lumMod val="75000"/>
                  </a:schemeClr>
                </a:solidFill>
              </a:rPr>
              <a:t> de Lisle</a:t>
            </a:r>
          </a:p>
        </p:txBody>
      </p:sp>
      <p:sp>
        <p:nvSpPr>
          <p:cNvPr id="92" name="Leconte de Lisle"/>
          <p:cNvSpPr txBox="1"/>
          <p:nvPr/>
        </p:nvSpPr>
        <p:spPr>
          <a:xfrm>
            <a:off x="4324756" y="5026181"/>
            <a:ext cx="1491764"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1600">
                <a:solidFill>
                  <a:srgbClr val="000000"/>
                </a:solidFill>
              </a:defRPr>
            </a:lvl1pPr>
          </a:lstStyle>
          <a:p>
            <a:r>
              <a:rPr dirty="0" err="1">
                <a:solidFill>
                  <a:schemeClr val="bg1">
                    <a:lumMod val="75000"/>
                  </a:schemeClr>
                </a:solidFill>
              </a:rPr>
              <a:t>Leconte</a:t>
            </a:r>
            <a:r>
              <a:rPr dirty="0">
                <a:solidFill>
                  <a:schemeClr val="bg1">
                    <a:lumMod val="75000"/>
                  </a:schemeClr>
                </a:solidFill>
              </a:rPr>
              <a:t> de Lisle</a:t>
            </a:r>
          </a:p>
        </p:txBody>
      </p:sp>
      <p:sp>
        <p:nvSpPr>
          <p:cNvPr id="93" name="Lislet Geoffroy"/>
          <p:cNvSpPr txBox="1"/>
          <p:nvPr/>
        </p:nvSpPr>
        <p:spPr>
          <a:xfrm>
            <a:off x="5842553" y="5022878"/>
            <a:ext cx="1457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000000"/>
                </a:solidFill>
              </a:defRPr>
            </a:lvl1pPr>
          </a:lstStyle>
          <a:p>
            <a:r>
              <a:rPr>
                <a:solidFill>
                  <a:schemeClr val="bg1">
                    <a:lumMod val="75000"/>
                  </a:schemeClr>
                </a:solidFill>
              </a:rPr>
              <a:t>Lislet Geoffroy</a:t>
            </a:r>
          </a:p>
        </p:txBody>
      </p:sp>
      <p:sp>
        <p:nvSpPr>
          <p:cNvPr id="94" name="Roland Garros"/>
          <p:cNvSpPr txBox="1"/>
          <p:nvPr/>
        </p:nvSpPr>
        <p:spPr>
          <a:xfrm>
            <a:off x="7408544" y="5003876"/>
            <a:ext cx="1457961"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FFC000"/>
                </a:solidFill>
              </a:defRPr>
            </a:lvl1pPr>
          </a:lstStyle>
          <a:p>
            <a:r>
              <a:rPr dirty="0"/>
              <a:t>Roland Garros</a:t>
            </a:r>
          </a:p>
        </p:txBody>
      </p:sp>
      <p:pic>
        <p:nvPicPr>
          <p:cNvPr id="2050" name="Picture 2" descr="Académie de La Réunion | La Rondavelle">
            <a:extLst>
              <a:ext uri="{FF2B5EF4-FFF2-40B4-BE49-F238E27FC236}">
                <a16:creationId xmlns:a16="http://schemas.microsoft.com/office/drawing/2014/main" id="{0DEBB5AD-34FB-7B8E-E969-7F5A0DE3FEE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42376" y="178955"/>
            <a:ext cx="2238375" cy="120015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necteur droit avec flèche 2">
            <a:extLst>
              <a:ext uri="{FF2B5EF4-FFF2-40B4-BE49-F238E27FC236}">
                <a16:creationId xmlns:a16="http://schemas.microsoft.com/office/drawing/2014/main" id="{B596D032-A9CC-108B-94B6-322FA912F2B7}"/>
              </a:ext>
            </a:extLst>
          </p:cNvPr>
          <p:cNvCxnSpPr>
            <a:cxnSpLocks/>
            <a:stCxn id="55" idx="2"/>
            <a:endCxn id="67" idx="0"/>
          </p:cNvCxnSpPr>
          <p:nvPr/>
        </p:nvCxnSpPr>
        <p:spPr>
          <a:xfrm>
            <a:off x="6429845" y="2878128"/>
            <a:ext cx="67150" cy="119511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 name="Connecteur droit avec flèche 3">
            <a:extLst>
              <a:ext uri="{FF2B5EF4-FFF2-40B4-BE49-F238E27FC236}">
                <a16:creationId xmlns:a16="http://schemas.microsoft.com/office/drawing/2014/main" id="{14BEB6CC-662C-957E-3A3C-B0C62C8950FA}"/>
              </a:ext>
            </a:extLst>
          </p:cNvPr>
          <p:cNvCxnSpPr>
            <a:cxnSpLocks/>
            <a:stCxn id="55" idx="2"/>
            <a:endCxn id="61" idx="0"/>
          </p:cNvCxnSpPr>
          <p:nvPr/>
        </p:nvCxnSpPr>
        <p:spPr>
          <a:xfrm flipH="1">
            <a:off x="3531884" y="2878128"/>
            <a:ext cx="2897962" cy="12128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6">
            <a:extLst>
              <a:ext uri="{FF2B5EF4-FFF2-40B4-BE49-F238E27FC236}">
                <a16:creationId xmlns:a16="http://schemas.microsoft.com/office/drawing/2014/main" id="{691D1EBE-0805-0825-EDE4-2898C6984681}"/>
              </a:ext>
            </a:extLst>
          </p:cNvPr>
          <p:cNvCxnSpPr>
            <a:stCxn id="52" idx="2"/>
            <a:endCxn id="64" idx="0"/>
          </p:cNvCxnSpPr>
          <p:nvPr/>
        </p:nvCxnSpPr>
        <p:spPr>
          <a:xfrm>
            <a:off x="4697086" y="2887100"/>
            <a:ext cx="299172" cy="11959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6A44B3D3-4AC0-319B-9617-5599F0B7A74B}"/>
              </a:ext>
            </a:extLst>
          </p:cNvPr>
          <p:cNvCxnSpPr>
            <a:cxnSpLocks/>
            <a:stCxn id="52" idx="2"/>
            <a:endCxn id="61" idx="0"/>
          </p:cNvCxnSpPr>
          <p:nvPr/>
        </p:nvCxnSpPr>
        <p:spPr>
          <a:xfrm flipH="1">
            <a:off x="3531884" y="2887100"/>
            <a:ext cx="1165202" cy="12038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0E00DC47-BC3B-F0F2-9A22-AF0DE820ECB6}"/>
              </a:ext>
            </a:extLst>
          </p:cNvPr>
          <p:cNvCxnSpPr>
            <a:cxnSpLocks/>
            <a:stCxn id="22" idx="2"/>
            <a:endCxn id="61" idx="0"/>
          </p:cNvCxnSpPr>
          <p:nvPr/>
        </p:nvCxnSpPr>
        <p:spPr>
          <a:xfrm>
            <a:off x="3070376" y="2921000"/>
            <a:ext cx="461508" cy="11699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AC0CE37D-45E3-FEAF-6920-F6801394D2C7}"/>
              </a:ext>
            </a:extLst>
          </p:cNvPr>
          <p:cNvCxnSpPr>
            <a:cxnSpLocks/>
            <a:stCxn id="49" idx="2"/>
            <a:endCxn id="58" idx="0"/>
          </p:cNvCxnSpPr>
          <p:nvPr/>
        </p:nvCxnSpPr>
        <p:spPr>
          <a:xfrm>
            <a:off x="1446364" y="2912778"/>
            <a:ext cx="754206" cy="11702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a:extLst>
              <a:ext uri="{FF2B5EF4-FFF2-40B4-BE49-F238E27FC236}">
                <a16:creationId xmlns:a16="http://schemas.microsoft.com/office/drawing/2014/main" id="{9B85F521-A6FA-0D7F-9CC6-FCCE219E1D0D}"/>
              </a:ext>
            </a:extLst>
          </p:cNvPr>
          <p:cNvSpPr/>
          <p:nvPr/>
        </p:nvSpPr>
        <p:spPr>
          <a:xfrm>
            <a:off x="2347268" y="2041524"/>
            <a:ext cx="1446215" cy="879476"/>
          </a:xfrm>
          <a:prstGeom prst="rect">
            <a:avLst/>
          </a:prstGeom>
          <a:solidFill>
            <a:srgbClr val="0070C0"/>
          </a:solidFill>
          <a:ln w="25560" cap="flat">
            <a:solidFill>
              <a:srgbClr val="410000"/>
            </a:solidFill>
            <a:prstDash val="solid"/>
            <a:round/>
          </a:ln>
          <a:effectLst/>
        </p:spPr>
        <p:txBody>
          <a:bodyPr wrap="square" lIns="45719" tIns="45719" rIns="45719" bIns="45719" numCol="1" anchor="ctr">
            <a:noAutofit/>
          </a:bodyPr>
          <a:lstStyle/>
          <a:p>
            <a:pPr algn="ctr">
              <a:defRPr sz="3200" b="0">
                <a:solidFill>
                  <a:srgbClr val="FFFFFF"/>
                </a:solidFill>
                <a:latin typeface="Lao Sangam MN"/>
                <a:ea typeface="Lao Sangam MN"/>
                <a:cs typeface="Lao Sangam MN"/>
                <a:sym typeface="Lao Sangam MN"/>
              </a:defRPr>
            </a:pPr>
            <a:endParaRPr/>
          </a:p>
        </p:txBody>
      </p:sp>
      <p:sp>
        <p:nvSpPr>
          <p:cNvPr id="21" name="MPSI">
            <a:extLst>
              <a:ext uri="{FF2B5EF4-FFF2-40B4-BE49-F238E27FC236}">
                <a16:creationId xmlns:a16="http://schemas.microsoft.com/office/drawing/2014/main" id="{3ED1B534-440B-7FC7-0C1B-2A3A376AF80F}"/>
              </a:ext>
            </a:extLst>
          </p:cNvPr>
          <p:cNvSpPr txBox="1"/>
          <p:nvPr/>
        </p:nvSpPr>
        <p:spPr>
          <a:xfrm>
            <a:off x="2333460" y="2145183"/>
            <a:ext cx="1330655" cy="62340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rPr dirty="0"/>
              <a:t>MPSI</a:t>
            </a:r>
          </a:p>
        </p:txBody>
      </p:sp>
      <p:sp>
        <p:nvSpPr>
          <p:cNvPr id="27" name="MP">
            <a:extLst>
              <a:ext uri="{FF2B5EF4-FFF2-40B4-BE49-F238E27FC236}">
                <a16:creationId xmlns:a16="http://schemas.microsoft.com/office/drawing/2014/main" id="{AC5E0C9C-2197-469F-9D9A-DD758FFD5AEC}"/>
              </a:ext>
            </a:extLst>
          </p:cNvPr>
          <p:cNvSpPr txBox="1"/>
          <p:nvPr/>
        </p:nvSpPr>
        <p:spPr>
          <a:xfrm>
            <a:off x="1521782" y="4231959"/>
            <a:ext cx="1349703" cy="62340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numCol="1" anchor="ctr">
            <a:spAutoFit/>
          </a:bodyPr>
          <a:lstStyle>
            <a:lvl1pPr algn="ctr">
              <a:defRPr sz="3200" b="0">
                <a:solidFill>
                  <a:srgbClr val="FFFFFF"/>
                </a:solidFill>
                <a:latin typeface="Lao Sangam MN"/>
                <a:ea typeface="Lao Sangam MN"/>
                <a:cs typeface="Lao Sangam MN"/>
                <a:sym typeface="Lao Sangam MN"/>
              </a:defRPr>
            </a:lvl1pPr>
          </a:lstStyle>
          <a:p>
            <a:r>
              <a:rPr dirty="0"/>
              <a:t>MP</a:t>
            </a:r>
          </a:p>
        </p:txBody>
      </p:sp>
      <p:sp>
        <p:nvSpPr>
          <p:cNvPr id="28" name="Leconte de Lisle ou Saint-Charles">
            <a:extLst>
              <a:ext uri="{FF2B5EF4-FFF2-40B4-BE49-F238E27FC236}">
                <a16:creationId xmlns:a16="http://schemas.microsoft.com/office/drawing/2014/main" id="{C13D5B1F-EC51-8D8C-310E-3B8653F17856}"/>
              </a:ext>
            </a:extLst>
          </p:cNvPr>
          <p:cNvSpPr txBox="1"/>
          <p:nvPr/>
        </p:nvSpPr>
        <p:spPr>
          <a:xfrm>
            <a:off x="737386" y="1529403"/>
            <a:ext cx="1596074"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000000"/>
                </a:solidFill>
              </a:defRPr>
            </a:lvl1pPr>
          </a:lstStyle>
          <a:p>
            <a:r>
              <a:rPr dirty="0" err="1">
                <a:solidFill>
                  <a:schemeClr val="bg1">
                    <a:lumMod val="75000"/>
                  </a:schemeClr>
                </a:solidFill>
              </a:rPr>
              <a:t>Leconte</a:t>
            </a:r>
            <a:r>
              <a:rPr dirty="0">
                <a:solidFill>
                  <a:schemeClr val="bg1">
                    <a:lumMod val="75000"/>
                  </a:schemeClr>
                </a:solidFill>
              </a:rPr>
              <a:t> de Lisle</a:t>
            </a:r>
          </a:p>
        </p:txBody>
      </p:sp>
      <p:cxnSp>
        <p:nvCxnSpPr>
          <p:cNvPr id="34" name="Connecteur droit avec flèche 33">
            <a:extLst>
              <a:ext uri="{FF2B5EF4-FFF2-40B4-BE49-F238E27FC236}">
                <a16:creationId xmlns:a16="http://schemas.microsoft.com/office/drawing/2014/main" id="{121E44B9-6573-28D8-F360-73C71D117620}"/>
              </a:ext>
            </a:extLst>
          </p:cNvPr>
          <p:cNvCxnSpPr>
            <a:cxnSpLocks/>
            <a:endCxn id="58" idx="0"/>
          </p:cNvCxnSpPr>
          <p:nvPr/>
        </p:nvCxnSpPr>
        <p:spPr>
          <a:xfrm flipH="1">
            <a:off x="2200570" y="2903254"/>
            <a:ext cx="893048" cy="11797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69FCB85F-8C11-5578-5FA6-41CC22561935}"/>
              </a:ext>
            </a:extLst>
          </p:cNvPr>
          <p:cNvCxnSpPr>
            <a:cxnSpLocks/>
            <a:endCxn id="26" idx="0"/>
          </p:cNvCxnSpPr>
          <p:nvPr/>
        </p:nvCxnSpPr>
        <p:spPr>
          <a:xfrm flipH="1">
            <a:off x="1110279" y="2897292"/>
            <a:ext cx="315235" cy="11921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20079533-A407-09C4-5C2D-7BAE42F9762A}"/>
              </a:ext>
            </a:extLst>
          </p:cNvPr>
          <p:cNvCxnSpPr>
            <a:cxnSpLocks/>
            <a:endCxn id="26" idx="0"/>
          </p:cNvCxnSpPr>
          <p:nvPr/>
        </p:nvCxnSpPr>
        <p:spPr>
          <a:xfrm flipH="1">
            <a:off x="1110279" y="2920327"/>
            <a:ext cx="1928863" cy="11690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195FA78B-C230-A517-C9E8-48E989A12B9A}"/>
              </a:ext>
            </a:extLst>
          </p:cNvPr>
          <p:cNvCxnSpPr>
            <a:cxnSpLocks/>
            <a:endCxn id="61" idx="0"/>
          </p:cNvCxnSpPr>
          <p:nvPr/>
        </p:nvCxnSpPr>
        <p:spPr>
          <a:xfrm>
            <a:off x="1424173" y="2926937"/>
            <a:ext cx="2107711" cy="11640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38FAC2F9-8304-4B50-2F5D-6F2DCCB14D8D}"/>
              </a:ext>
            </a:extLst>
          </p:cNvPr>
          <p:cNvCxnSpPr>
            <a:cxnSpLocks/>
          </p:cNvCxnSpPr>
          <p:nvPr/>
        </p:nvCxnSpPr>
        <p:spPr>
          <a:xfrm>
            <a:off x="8086725" y="2897292"/>
            <a:ext cx="0" cy="119369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7" name="Leconte de Lisle ou…">
            <a:extLst>
              <a:ext uri="{FF2B5EF4-FFF2-40B4-BE49-F238E27FC236}">
                <a16:creationId xmlns:a16="http://schemas.microsoft.com/office/drawing/2014/main" id="{8B2182AB-C33C-1AC7-ADC4-8F1D09A4EB6C}"/>
              </a:ext>
            </a:extLst>
          </p:cNvPr>
          <p:cNvSpPr txBox="1"/>
          <p:nvPr/>
        </p:nvSpPr>
        <p:spPr>
          <a:xfrm>
            <a:off x="596822" y="4970464"/>
            <a:ext cx="988927"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1600">
                <a:solidFill>
                  <a:srgbClr val="000000"/>
                </a:solidFill>
              </a:defRPr>
            </a:pPr>
            <a:r>
              <a:rPr dirty="0" err="1">
                <a:solidFill>
                  <a:schemeClr val="bg1">
                    <a:lumMod val="75000"/>
                  </a:schemeClr>
                </a:solidFill>
              </a:rPr>
              <a:t>Leconte</a:t>
            </a:r>
            <a:r>
              <a:rPr dirty="0">
                <a:solidFill>
                  <a:schemeClr val="bg1">
                    <a:lumMod val="75000"/>
                  </a:schemeClr>
                </a:solidFill>
              </a:rPr>
              <a:t> de Lisle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ourquoi s’engager…"/>
          <p:cNvSpPr txBox="1"/>
          <p:nvPr/>
        </p:nvSpPr>
        <p:spPr>
          <a:xfrm>
            <a:off x="238539" y="295275"/>
            <a:ext cx="8489854" cy="13208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latin typeface="Georgia"/>
                <a:ea typeface="Georgia"/>
                <a:cs typeface="Georgia"/>
                <a:sym typeface="Georgia"/>
              </a:defRPr>
            </a:pPr>
            <a:r>
              <a:rPr dirty="0" err="1">
                <a:solidFill>
                  <a:schemeClr val="tx2"/>
                </a:solidFill>
                <a:latin typeface="Helvetica" panose="020B0604020202020204" pitchFamily="34" charset="0"/>
                <a:cs typeface="Helvetica" panose="020B0604020202020204" pitchFamily="34" charset="0"/>
              </a:rPr>
              <a:t>Pourquoi</a:t>
            </a:r>
            <a:r>
              <a:rPr dirty="0">
                <a:solidFill>
                  <a:schemeClr val="tx2"/>
                </a:solidFill>
                <a:latin typeface="Helvetica" panose="020B0604020202020204" pitchFamily="34" charset="0"/>
                <a:cs typeface="Helvetica" panose="020B0604020202020204" pitchFamily="34" charset="0"/>
              </a:rPr>
              <a:t> </a:t>
            </a:r>
            <a:r>
              <a:rPr dirty="0" err="1">
                <a:solidFill>
                  <a:schemeClr val="tx2"/>
                </a:solidFill>
                <a:latin typeface="Helvetica" panose="020B0604020202020204" pitchFamily="34" charset="0"/>
                <a:cs typeface="Helvetica" panose="020B0604020202020204" pitchFamily="34" charset="0"/>
              </a:rPr>
              <a:t>s’engager</a:t>
            </a:r>
            <a:r>
              <a:rPr dirty="0">
                <a:solidFill>
                  <a:schemeClr val="tx2"/>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latin typeface="Georgia"/>
                <a:ea typeface="Georgia"/>
                <a:cs typeface="Georgia"/>
                <a:sym typeface="Georgia"/>
              </a:defRPr>
            </a:pPr>
            <a:r>
              <a:rPr dirty="0">
                <a:solidFill>
                  <a:schemeClr val="tx2"/>
                </a:solidFill>
                <a:latin typeface="Helvetica" panose="020B0604020202020204" pitchFamily="34" charset="0"/>
                <a:cs typeface="Helvetica" panose="020B0604020202020204" pitchFamily="34" charset="0"/>
              </a:rPr>
              <a:t>dans </a:t>
            </a:r>
            <a:r>
              <a:rPr dirty="0" err="1">
                <a:solidFill>
                  <a:schemeClr val="tx2"/>
                </a:solidFill>
                <a:latin typeface="Helvetica" panose="020B0604020202020204" pitchFamily="34" charset="0"/>
                <a:cs typeface="Helvetica" panose="020B0604020202020204" pitchFamily="34" charset="0"/>
              </a:rPr>
              <a:t>une</a:t>
            </a:r>
            <a:r>
              <a:rPr dirty="0">
                <a:solidFill>
                  <a:schemeClr val="tx2"/>
                </a:solidFill>
                <a:latin typeface="Helvetica" panose="020B0604020202020204" pitchFamily="34" charset="0"/>
                <a:cs typeface="Helvetica" panose="020B0604020202020204" pitchFamily="34" charset="0"/>
              </a:rPr>
              <a:t> CPGE </a:t>
            </a:r>
            <a:r>
              <a:rPr dirty="0" err="1">
                <a:solidFill>
                  <a:schemeClr val="tx2"/>
                </a:solidFill>
                <a:latin typeface="Helvetica" panose="020B0604020202020204" pitchFamily="34" charset="0"/>
                <a:cs typeface="Helvetica" panose="020B0604020202020204" pitchFamily="34" charset="0"/>
              </a:rPr>
              <a:t>scientifique</a:t>
            </a:r>
            <a:r>
              <a:rPr dirty="0">
                <a:solidFill>
                  <a:schemeClr val="tx2"/>
                </a:solidFill>
                <a:latin typeface="Helvetica" panose="020B0604020202020204" pitchFamily="34" charset="0"/>
                <a:cs typeface="Helvetica" panose="020B0604020202020204" pitchFamily="34" charset="0"/>
              </a:rPr>
              <a:t> ?</a:t>
            </a:r>
          </a:p>
        </p:txBody>
      </p:sp>
      <p:sp>
        <p:nvSpPr>
          <p:cNvPr id="99" name="Vous êtes intéressés par les Sciences et vous avez un niveau satisfaisant en première et Terminale dans les matières scientifiques.…"/>
          <p:cNvSpPr txBox="1"/>
          <p:nvPr/>
        </p:nvSpPr>
        <p:spPr>
          <a:xfrm>
            <a:off x="812822" y="1644863"/>
            <a:ext cx="6929762" cy="46474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indent="-457200">
              <a:buSzPct val="100000"/>
              <a:buChar char="-"/>
              <a:defRPr b="0">
                <a:solidFill>
                  <a:srgbClr val="000000"/>
                </a:solidFill>
              </a:defRPr>
            </a:pPr>
            <a:r>
              <a:rPr dirty="0" err="1"/>
              <a:t>Vous</a:t>
            </a:r>
            <a:r>
              <a:rPr dirty="0"/>
              <a:t> </a:t>
            </a:r>
            <a:r>
              <a:rPr dirty="0" err="1"/>
              <a:t>êtes</a:t>
            </a:r>
            <a:r>
              <a:rPr dirty="0"/>
              <a:t> </a:t>
            </a:r>
            <a:r>
              <a:rPr dirty="0" err="1"/>
              <a:t>intéressés</a:t>
            </a:r>
            <a:r>
              <a:rPr dirty="0"/>
              <a:t> par les </a:t>
            </a:r>
            <a:r>
              <a:rPr sz="2800" b="1" dirty="0">
                <a:solidFill>
                  <a:srgbClr val="FF0000"/>
                </a:solidFill>
              </a:rPr>
              <a:t>Sciences</a:t>
            </a:r>
            <a:r>
              <a:rPr dirty="0"/>
              <a:t> et </a:t>
            </a:r>
            <a:r>
              <a:rPr dirty="0" err="1"/>
              <a:t>vous</a:t>
            </a:r>
            <a:r>
              <a:rPr dirty="0"/>
              <a:t> </a:t>
            </a:r>
            <a:r>
              <a:rPr dirty="0" err="1"/>
              <a:t>avez</a:t>
            </a:r>
            <a:r>
              <a:rPr dirty="0"/>
              <a:t> un </a:t>
            </a:r>
            <a:r>
              <a:rPr dirty="0" err="1"/>
              <a:t>niveau</a:t>
            </a:r>
            <a:r>
              <a:rPr dirty="0"/>
              <a:t> </a:t>
            </a:r>
            <a:r>
              <a:rPr dirty="0" err="1"/>
              <a:t>satisfaisant</a:t>
            </a:r>
            <a:r>
              <a:rPr dirty="0"/>
              <a:t> </a:t>
            </a:r>
            <a:r>
              <a:rPr dirty="0" err="1"/>
              <a:t>en</a:t>
            </a:r>
            <a:r>
              <a:rPr dirty="0"/>
              <a:t> première et </a:t>
            </a:r>
            <a:r>
              <a:rPr dirty="0" err="1"/>
              <a:t>Terminale</a:t>
            </a:r>
            <a:r>
              <a:rPr dirty="0"/>
              <a:t> dans les matières </a:t>
            </a:r>
            <a:r>
              <a:rPr dirty="0" err="1"/>
              <a:t>scientifiques</a:t>
            </a:r>
            <a:r>
              <a:rPr dirty="0"/>
              <a:t>. </a:t>
            </a:r>
          </a:p>
          <a:p>
            <a:pPr marL="457200" indent="-457200">
              <a:buSzPct val="100000"/>
              <a:buChar char="-"/>
              <a:defRPr b="0">
                <a:solidFill>
                  <a:srgbClr val="000000"/>
                </a:solidFill>
              </a:defRPr>
            </a:pPr>
            <a:r>
              <a:rPr dirty="0" err="1"/>
              <a:t>Vous</a:t>
            </a:r>
            <a:r>
              <a:rPr dirty="0"/>
              <a:t> </a:t>
            </a:r>
            <a:r>
              <a:rPr dirty="0" err="1"/>
              <a:t>êtes</a:t>
            </a:r>
            <a:r>
              <a:rPr dirty="0"/>
              <a:t> </a:t>
            </a:r>
            <a:r>
              <a:rPr dirty="0" err="1"/>
              <a:t>motivés</a:t>
            </a:r>
            <a:r>
              <a:rPr dirty="0"/>
              <a:t> pour </a:t>
            </a:r>
            <a:r>
              <a:rPr sz="2800" dirty="0" err="1">
                <a:solidFill>
                  <a:srgbClr val="00B050"/>
                </a:solidFill>
              </a:rPr>
              <a:t>travailler</a:t>
            </a:r>
            <a:r>
              <a:rPr dirty="0"/>
              <a:t> à un </a:t>
            </a:r>
            <a:r>
              <a:rPr sz="2800" dirty="0" err="1">
                <a:solidFill>
                  <a:srgbClr val="00B050"/>
                </a:solidFill>
              </a:rPr>
              <a:t>rythme</a:t>
            </a:r>
            <a:r>
              <a:rPr sz="2800" dirty="0">
                <a:solidFill>
                  <a:srgbClr val="00B050"/>
                </a:solidFill>
              </a:rPr>
              <a:t> </a:t>
            </a:r>
            <a:r>
              <a:rPr sz="2800" b="1" dirty="0" err="1">
                <a:solidFill>
                  <a:srgbClr val="00B050"/>
                </a:solidFill>
              </a:rPr>
              <a:t>régulier</a:t>
            </a:r>
            <a:r>
              <a:rPr dirty="0"/>
              <a:t> et soutenu.</a:t>
            </a:r>
          </a:p>
          <a:p>
            <a:pPr marL="457200" indent="-457200">
              <a:buSzPct val="100000"/>
              <a:buChar char="-"/>
              <a:defRPr b="0">
                <a:solidFill>
                  <a:srgbClr val="000000"/>
                </a:solidFill>
              </a:defRPr>
            </a:pPr>
            <a:r>
              <a:rPr dirty="0" err="1"/>
              <a:t>Vous</a:t>
            </a:r>
            <a:r>
              <a:rPr dirty="0"/>
              <a:t> </a:t>
            </a:r>
            <a:r>
              <a:rPr dirty="0" err="1"/>
              <a:t>voulez</a:t>
            </a:r>
            <a:r>
              <a:rPr dirty="0"/>
              <a:t> </a:t>
            </a:r>
            <a:r>
              <a:rPr dirty="0" err="1"/>
              <a:t>accéder</a:t>
            </a:r>
            <a:r>
              <a:rPr dirty="0"/>
              <a:t> à des </a:t>
            </a:r>
            <a:r>
              <a:rPr sz="2400" b="1" dirty="0" err="1">
                <a:solidFill>
                  <a:srgbClr val="00B050"/>
                </a:solidFill>
              </a:rPr>
              <a:t>grandes</a:t>
            </a:r>
            <a:r>
              <a:rPr sz="2400" b="1" dirty="0">
                <a:solidFill>
                  <a:srgbClr val="00B050"/>
                </a:solidFill>
              </a:rPr>
              <a:t> écoles </a:t>
            </a:r>
            <a:r>
              <a:rPr sz="2400" b="1" dirty="0" err="1">
                <a:solidFill>
                  <a:srgbClr val="00B050"/>
                </a:solidFill>
              </a:rPr>
              <a:t>d’ingénieur</a:t>
            </a:r>
            <a:r>
              <a:rPr dirty="0"/>
              <a:t>.</a:t>
            </a:r>
            <a:endParaRPr lang="fr-RE" dirty="0"/>
          </a:p>
          <a:p>
            <a:pPr>
              <a:buSzPct val="100000"/>
              <a:defRPr b="0">
                <a:solidFill>
                  <a:srgbClr val="000000"/>
                </a:solidFill>
              </a:defRPr>
            </a:pPr>
            <a:endParaRPr dirty="0"/>
          </a:p>
          <a:p>
            <a:pPr marL="457200" indent="-457200">
              <a:buSzPct val="100000"/>
              <a:buChar char="-"/>
              <a:defRPr b="0">
                <a:solidFill>
                  <a:srgbClr val="000000"/>
                </a:solidFill>
              </a:defRPr>
            </a:pPr>
            <a:r>
              <a:rPr dirty="0" err="1"/>
              <a:t>Vous</a:t>
            </a:r>
            <a:r>
              <a:rPr dirty="0"/>
              <a:t> </a:t>
            </a:r>
            <a:r>
              <a:rPr dirty="0" err="1"/>
              <a:t>voulez</a:t>
            </a:r>
            <a:r>
              <a:rPr dirty="0"/>
              <a:t> </a:t>
            </a:r>
            <a:r>
              <a:rPr dirty="0" err="1"/>
              <a:t>accéder</a:t>
            </a:r>
            <a:r>
              <a:rPr dirty="0"/>
              <a:t> à des métiers </a:t>
            </a:r>
            <a:r>
              <a:rPr dirty="0" err="1"/>
              <a:t>enrichissants</a:t>
            </a:r>
            <a:r>
              <a:rPr dirty="0"/>
              <a:t> : </a:t>
            </a:r>
            <a:r>
              <a:rPr sz="2000" b="1" dirty="0" err="1">
                <a:solidFill>
                  <a:schemeClr val="accent2">
                    <a:lumMod val="60000"/>
                    <a:lumOff val="40000"/>
                  </a:schemeClr>
                </a:solidFill>
              </a:rPr>
              <a:t>ingénieur</a:t>
            </a:r>
            <a:r>
              <a:rPr sz="2000" b="1" dirty="0">
                <a:solidFill>
                  <a:schemeClr val="accent2">
                    <a:lumMod val="60000"/>
                    <a:lumOff val="40000"/>
                  </a:schemeClr>
                </a:solidFill>
              </a:rPr>
              <a:t>, </a:t>
            </a:r>
            <a:r>
              <a:rPr sz="2000" b="1" dirty="0" err="1">
                <a:solidFill>
                  <a:schemeClr val="accent2">
                    <a:lumMod val="60000"/>
                    <a:lumOff val="40000"/>
                  </a:schemeClr>
                </a:solidFill>
              </a:rPr>
              <a:t>chercheur</a:t>
            </a:r>
            <a:r>
              <a:rPr sz="2000" dirty="0"/>
              <a:t>, </a:t>
            </a:r>
            <a:r>
              <a:rPr sz="2000" dirty="0" err="1">
                <a:solidFill>
                  <a:schemeClr val="tx2"/>
                </a:solidFill>
              </a:rPr>
              <a:t>enseignant</a:t>
            </a:r>
            <a:r>
              <a:rPr dirty="0"/>
              <a:t>, cadre, </a:t>
            </a:r>
            <a:r>
              <a:rPr sz="2000" b="1" dirty="0" err="1">
                <a:solidFill>
                  <a:schemeClr val="accent2">
                    <a:lumMod val="60000"/>
                    <a:lumOff val="40000"/>
                  </a:schemeClr>
                </a:solidFill>
              </a:rPr>
              <a:t>vétérinaire</a:t>
            </a:r>
            <a:r>
              <a:rPr dirty="0"/>
              <a:t> (pour la BCPST), </a:t>
            </a:r>
            <a:r>
              <a:rPr sz="2000" b="1" dirty="0" err="1">
                <a:solidFill>
                  <a:schemeClr val="accent2">
                    <a:lumMod val="60000"/>
                    <a:lumOff val="40000"/>
                  </a:schemeClr>
                </a:solidFill>
              </a:rPr>
              <a:t>ingénieur</a:t>
            </a:r>
            <a:r>
              <a:rPr dirty="0"/>
              <a:t>, </a:t>
            </a:r>
            <a:r>
              <a:rPr sz="2000" b="1" dirty="0" err="1">
                <a:solidFill>
                  <a:schemeClr val="accent2">
                    <a:lumMod val="60000"/>
                    <a:lumOff val="40000"/>
                  </a:schemeClr>
                </a:solidFill>
              </a:rPr>
              <a:t>chercheur</a:t>
            </a:r>
            <a:r>
              <a:rPr dirty="0"/>
              <a:t>, </a:t>
            </a:r>
            <a:r>
              <a:rPr dirty="0" err="1"/>
              <a:t>enseignant</a:t>
            </a:r>
            <a:r>
              <a:rPr dirty="0"/>
              <a:t>, cadre, </a:t>
            </a:r>
            <a:r>
              <a:rPr sz="2000" b="1" dirty="0" err="1">
                <a:solidFill>
                  <a:schemeClr val="accent2">
                    <a:lumMod val="60000"/>
                    <a:lumOff val="40000"/>
                  </a:schemeClr>
                </a:solidFill>
              </a:rPr>
              <a:t>pilote</a:t>
            </a:r>
            <a:r>
              <a:rPr sz="2000" b="1" dirty="0">
                <a:solidFill>
                  <a:schemeClr val="accent2">
                    <a:lumMod val="60000"/>
                    <a:lumOff val="40000"/>
                  </a:schemeClr>
                </a:solidFill>
              </a:rPr>
              <a:t> de </a:t>
            </a:r>
            <a:r>
              <a:rPr sz="2000" b="1" dirty="0" err="1">
                <a:solidFill>
                  <a:schemeClr val="accent2">
                    <a:lumMod val="60000"/>
                    <a:lumOff val="40000"/>
                  </a:schemeClr>
                </a:solidFill>
              </a:rPr>
              <a:t>ligne</a:t>
            </a:r>
            <a:r>
              <a:rPr sz="2000" b="1" dirty="0">
                <a:solidFill>
                  <a:schemeClr val="accent2">
                    <a:lumMod val="60000"/>
                    <a:lumOff val="40000"/>
                  </a:schemeClr>
                </a:solidFill>
              </a:rPr>
              <a:t> </a:t>
            </a:r>
            <a:r>
              <a:rPr dirty="0"/>
              <a:t>(pour la PCSI-PSI)</a:t>
            </a:r>
            <a:endParaRPr lang="fr-RE" dirty="0"/>
          </a:p>
          <a:p>
            <a:pPr marL="457200" indent="-457200">
              <a:buSzPct val="100000"/>
              <a:buChar char="-"/>
              <a:defRPr b="0">
                <a:solidFill>
                  <a:srgbClr val="000000"/>
                </a:solidFill>
              </a:defRPr>
            </a:pPr>
            <a:endParaRPr dirty="0"/>
          </a:p>
          <a:p>
            <a:pPr marL="457200" indent="-457200">
              <a:buSzPct val="100000"/>
              <a:buChar char="-"/>
              <a:defRPr b="0">
                <a:solidFill>
                  <a:srgbClr val="000000"/>
                </a:solidFill>
              </a:defRPr>
            </a:pPr>
            <a:r>
              <a:rPr lang="fr-RE" dirty="0"/>
              <a:t>D</a:t>
            </a:r>
            <a:r>
              <a:rPr dirty="0" err="1"/>
              <a:t>omaines</a:t>
            </a:r>
            <a:r>
              <a:rPr dirty="0"/>
              <a:t> qui </a:t>
            </a:r>
            <a:r>
              <a:rPr sz="2000" b="1" dirty="0" err="1"/>
              <a:t>recrutent</a:t>
            </a:r>
            <a:r>
              <a:rPr dirty="0"/>
              <a:t> </a:t>
            </a:r>
            <a:endParaRPr lang="fr-RE" dirty="0"/>
          </a:p>
          <a:p>
            <a:pPr>
              <a:buSzPct val="100000"/>
              <a:defRPr b="0">
                <a:solidFill>
                  <a:srgbClr val="000000"/>
                </a:solidFill>
              </a:defRPr>
            </a:pPr>
            <a:r>
              <a:rPr dirty="0"/>
              <a:t>(</a:t>
            </a:r>
            <a:r>
              <a:rPr dirty="0" err="1"/>
              <a:t>taux</a:t>
            </a:r>
            <a:r>
              <a:rPr dirty="0"/>
              <a:t> de </a:t>
            </a:r>
            <a:r>
              <a:rPr dirty="0" err="1"/>
              <a:t>chômage</a:t>
            </a:r>
            <a:r>
              <a:rPr dirty="0"/>
              <a:t> de </a:t>
            </a:r>
            <a:r>
              <a:rPr dirty="0" err="1"/>
              <a:t>seulement</a:t>
            </a:r>
            <a:r>
              <a:rPr dirty="0"/>
              <a:t> </a:t>
            </a:r>
            <a:endParaRPr lang="fr-RE" dirty="0"/>
          </a:p>
          <a:p>
            <a:pPr>
              <a:buSzPct val="100000"/>
              <a:defRPr b="0">
                <a:solidFill>
                  <a:srgbClr val="000000"/>
                </a:solidFill>
              </a:defRPr>
            </a:pPr>
            <a:r>
              <a:rPr dirty="0"/>
              <a:t>3,2% avec un diplôme </a:t>
            </a:r>
            <a:r>
              <a:rPr dirty="0" err="1"/>
              <a:t>d’ingénieur</a:t>
            </a:r>
            <a:r>
              <a:rPr dirty="0"/>
              <a:t>).</a:t>
            </a:r>
          </a:p>
        </p:txBody>
      </p:sp>
      <p:sp>
        <p:nvSpPr>
          <p:cNvPr id="100" name="PCSI/PSI et BCPST"/>
          <p:cNvSpPr txBox="1"/>
          <p:nvPr/>
        </p:nvSpPr>
        <p:spPr>
          <a:xfrm>
            <a:off x="7025957" y="6421437"/>
            <a:ext cx="1967548"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000000"/>
                </a:solidFill>
              </a:defRPr>
            </a:lvl1pPr>
          </a:lstStyle>
          <a:p>
            <a:r>
              <a:t>PCSI/PSI et BCPST</a:t>
            </a:r>
          </a:p>
        </p:txBody>
      </p:sp>
      <p:pic>
        <p:nvPicPr>
          <p:cNvPr id="2" name="Picture 4" descr="Les personnels de la recherche | enseignementsup-recherche.gouv.fr">
            <a:extLst>
              <a:ext uri="{FF2B5EF4-FFF2-40B4-BE49-F238E27FC236}">
                <a16:creationId xmlns:a16="http://schemas.microsoft.com/office/drawing/2014/main" id="{79D692AC-BF5C-4CF7-BDBB-D01D86A574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607" r="12196"/>
          <a:stretch/>
        </p:blipFill>
        <p:spPr bwMode="auto">
          <a:xfrm>
            <a:off x="6916956" y="5213137"/>
            <a:ext cx="1724463" cy="110400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6">
            <a:extLst>
              <a:ext uri="{FF2B5EF4-FFF2-40B4-BE49-F238E27FC236}">
                <a16:creationId xmlns:a16="http://schemas.microsoft.com/office/drawing/2014/main" id="{9517D48E-1489-4F9C-8C5E-47015D377BB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550" t="3201" r="13500" b="18479"/>
          <a:stretch/>
        </p:blipFill>
        <p:spPr bwMode="auto">
          <a:xfrm>
            <a:off x="7025957" y="323989"/>
            <a:ext cx="1795325" cy="132087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2" descr="Il y a toujours aussi peu de femmes chez les ingénieurs et d&amp;#39;hommes chez  les instituteurs - Le Figaro Etudiant">
            <a:extLst>
              <a:ext uri="{FF2B5EF4-FFF2-40B4-BE49-F238E27FC236}">
                <a16:creationId xmlns:a16="http://schemas.microsoft.com/office/drawing/2014/main" id="{57ABAEA7-51DB-498A-B1D3-D9243CBF7FD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19394"/>
          <a:stretch/>
        </p:blipFill>
        <p:spPr bwMode="auto">
          <a:xfrm>
            <a:off x="4467048" y="5148056"/>
            <a:ext cx="2270045" cy="15847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567591D4-9CA4-10D0-7D02-A092E9357AC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20766"/>
          <a:stretch/>
        </p:blipFill>
        <p:spPr bwMode="auto">
          <a:xfrm>
            <a:off x="7637048" y="3631703"/>
            <a:ext cx="1289771" cy="121803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6" name="Picture 4" descr="Comment se reconvertir vers le métier de pilote de ligne - MaFormation">
            <a:extLst>
              <a:ext uri="{FF2B5EF4-FFF2-40B4-BE49-F238E27FC236}">
                <a16:creationId xmlns:a16="http://schemas.microsoft.com/office/drawing/2014/main" id="{A1BD48F5-1ECE-3E3B-CD8B-451C341CFAC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761" t="5559" r="36152"/>
          <a:stretch/>
        </p:blipFill>
        <p:spPr bwMode="auto">
          <a:xfrm>
            <a:off x="7780931" y="1993907"/>
            <a:ext cx="1212574" cy="143509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98"/>
                                        </p:tgtEl>
                                        <p:attrNameLst>
                                          <p:attrName>style.visibility</p:attrName>
                                        </p:attrNameLst>
                                      </p:cBhvr>
                                      <p:to>
                                        <p:strVal val="visible"/>
                                      </p:to>
                                    </p:set>
                                    <p:anim calcmode="lin" valueType="num">
                                      <p:cBhvr>
                                        <p:cTn id="7" dur="500" fill="hold"/>
                                        <p:tgtEl>
                                          <p:spTgt spid="98"/>
                                        </p:tgtEl>
                                        <p:attrNameLst>
                                          <p:attrName>ppt_x</p:attrName>
                                        </p:attrNameLst>
                                      </p:cBhvr>
                                      <p:tavLst>
                                        <p:tav tm="0">
                                          <p:val>
                                            <p:strVal val="0-#ppt_w/2"/>
                                          </p:val>
                                        </p:tav>
                                        <p:tav tm="100000">
                                          <p:val>
                                            <p:strVal val="#ppt_x"/>
                                          </p:val>
                                        </p:tav>
                                      </p:tavLst>
                                    </p:anim>
                                    <p:anim calcmode="lin" valueType="num">
                                      <p:cBhvr>
                                        <p:cTn id="8"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p:tmAbs val="0"/>
                                  </p:iterate>
                                  <p:childTnLst>
                                    <p:set>
                                      <p:cBhvr>
                                        <p:cTn id="12" fill="hold"/>
                                        <p:tgtEl>
                                          <p:spTgt spid="99">
                                            <p:bg/>
                                          </p:spTgt>
                                        </p:tgtEl>
                                        <p:attrNameLst>
                                          <p:attrName>style.visibility</p:attrName>
                                        </p:attrNameLst>
                                      </p:cBhvr>
                                      <p:to>
                                        <p:strVal val="visible"/>
                                      </p:to>
                                    </p:set>
                                    <p:anim calcmode="lin" valueType="num">
                                      <p:cBhvr>
                                        <p:cTn id="13" dur="500" fill="hold"/>
                                        <p:tgtEl>
                                          <p:spTgt spid="99">
                                            <p:bg/>
                                          </p:spTgt>
                                        </p:tgtEl>
                                        <p:attrNameLst>
                                          <p:attrName>ppt_x</p:attrName>
                                        </p:attrNameLst>
                                      </p:cBhvr>
                                      <p:tavLst>
                                        <p:tav tm="0">
                                          <p:val>
                                            <p:strVal val="0-#ppt_w/2"/>
                                          </p:val>
                                        </p:tav>
                                        <p:tav tm="100000">
                                          <p:val>
                                            <p:strVal val="#ppt_x"/>
                                          </p:val>
                                        </p:tav>
                                      </p:tavLst>
                                    </p:anim>
                                    <p:anim calcmode="lin" valueType="num">
                                      <p:cBhvr>
                                        <p:cTn id="14" dur="500" fill="hold"/>
                                        <p:tgtEl>
                                          <p:spTgt spid="99">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iterate>
                                    <p:tmAbs val="0"/>
                                  </p:iterate>
                                  <p:childTnLst>
                                    <p:set>
                                      <p:cBhvr>
                                        <p:cTn id="16" fill="hold"/>
                                        <p:tgtEl>
                                          <p:spTgt spid="99">
                                            <p:txEl>
                                              <p:pRg st="0" end="0"/>
                                            </p:txEl>
                                          </p:spTgt>
                                        </p:tgtEl>
                                        <p:attrNameLst>
                                          <p:attrName>style.visibility</p:attrName>
                                        </p:attrNameLst>
                                      </p:cBhvr>
                                      <p:to>
                                        <p:strVal val="visible"/>
                                      </p:to>
                                    </p:set>
                                    <p:anim calcmode="lin" valueType="num">
                                      <p:cBhvr>
                                        <p:cTn id="17" dur="500" fill="hold"/>
                                        <p:tgtEl>
                                          <p:spTgt spid="99">
                                            <p:txEl>
                                              <p:pRg st="0" end="0"/>
                                            </p:txEl>
                                          </p:spTgt>
                                        </p:tgtEl>
                                        <p:attrNameLst>
                                          <p:attrName>ppt_x</p:attrName>
                                        </p:attrNameLst>
                                      </p:cBhvr>
                                      <p:tavLst>
                                        <p:tav tm="0">
                                          <p:val>
                                            <p:strVal val="0-#ppt_w/2"/>
                                          </p:val>
                                        </p:tav>
                                        <p:tav tm="100000">
                                          <p:val>
                                            <p:strVal val="#ppt_x"/>
                                          </p:val>
                                        </p:tav>
                                      </p:tavLst>
                                    </p:anim>
                                    <p:anim calcmode="lin" valueType="num">
                                      <p:cBhvr>
                                        <p:cTn id="18" dur="500" fill="hold"/>
                                        <p:tgtEl>
                                          <p:spTgt spid="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p:tmAbs val="0"/>
                                  </p:iterate>
                                  <p:childTnLst>
                                    <p:set>
                                      <p:cBhvr>
                                        <p:cTn id="22" fill="hold"/>
                                        <p:tgtEl>
                                          <p:spTgt spid="99">
                                            <p:txEl>
                                              <p:pRg st="1" end="1"/>
                                            </p:txEl>
                                          </p:spTgt>
                                        </p:tgtEl>
                                        <p:attrNameLst>
                                          <p:attrName>style.visibility</p:attrName>
                                        </p:attrNameLst>
                                      </p:cBhvr>
                                      <p:to>
                                        <p:strVal val="visible"/>
                                      </p:to>
                                    </p:set>
                                    <p:anim calcmode="lin" valueType="num">
                                      <p:cBhvr>
                                        <p:cTn id="23" dur="500" fill="hold"/>
                                        <p:tgtEl>
                                          <p:spTgt spid="99">
                                            <p:txEl>
                                              <p:pRg st="1" end="1"/>
                                            </p:txEl>
                                          </p:spTgt>
                                        </p:tgtEl>
                                        <p:attrNameLst>
                                          <p:attrName>ppt_x</p:attrName>
                                        </p:attrNameLst>
                                      </p:cBhvr>
                                      <p:tavLst>
                                        <p:tav tm="0">
                                          <p:val>
                                            <p:strVal val="0-#ppt_w/2"/>
                                          </p:val>
                                        </p:tav>
                                        <p:tav tm="100000">
                                          <p:val>
                                            <p:strVal val="#ppt_x"/>
                                          </p:val>
                                        </p:tav>
                                      </p:tavLst>
                                    </p:anim>
                                    <p:anim calcmode="lin" valueType="num">
                                      <p:cBhvr>
                                        <p:cTn id="24" dur="500" fill="hold"/>
                                        <p:tgtEl>
                                          <p:spTgt spid="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iterate>
                                    <p:tmAbs val="0"/>
                                  </p:iterate>
                                  <p:childTnLst>
                                    <p:set>
                                      <p:cBhvr>
                                        <p:cTn id="28" fill="hold"/>
                                        <p:tgtEl>
                                          <p:spTgt spid="99">
                                            <p:txEl>
                                              <p:pRg st="2" end="2"/>
                                            </p:txEl>
                                          </p:spTgt>
                                        </p:tgtEl>
                                        <p:attrNameLst>
                                          <p:attrName>style.visibility</p:attrName>
                                        </p:attrNameLst>
                                      </p:cBhvr>
                                      <p:to>
                                        <p:strVal val="visible"/>
                                      </p:to>
                                    </p:set>
                                    <p:anim calcmode="lin" valueType="num">
                                      <p:cBhvr>
                                        <p:cTn id="29" dur="500" fill="hold"/>
                                        <p:tgtEl>
                                          <p:spTgt spid="99">
                                            <p:txEl>
                                              <p:pRg st="2" end="2"/>
                                            </p:txEl>
                                          </p:spTgt>
                                        </p:tgtEl>
                                        <p:attrNameLst>
                                          <p:attrName>ppt_x</p:attrName>
                                        </p:attrNameLst>
                                      </p:cBhvr>
                                      <p:tavLst>
                                        <p:tav tm="0">
                                          <p:val>
                                            <p:strVal val="0-#ppt_w/2"/>
                                          </p:val>
                                        </p:tav>
                                        <p:tav tm="100000">
                                          <p:val>
                                            <p:strVal val="#ppt_x"/>
                                          </p:val>
                                        </p:tav>
                                      </p:tavLst>
                                    </p:anim>
                                    <p:anim calcmode="lin" valueType="num">
                                      <p:cBhvr>
                                        <p:cTn id="30" dur="500" fill="hold"/>
                                        <p:tgtEl>
                                          <p:spTgt spid="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iterate>
                                    <p:tmAbs val="0"/>
                                  </p:iterate>
                                  <p:childTnLst>
                                    <p:set>
                                      <p:cBhvr>
                                        <p:cTn id="34" fill="hold"/>
                                        <p:tgtEl>
                                          <p:spTgt spid="99">
                                            <p:txEl>
                                              <p:pRg st="4" end="4"/>
                                            </p:txEl>
                                          </p:spTgt>
                                        </p:tgtEl>
                                        <p:attrNameLst>
                                          <p:attrName>style.visibility</p:attrName>
                                        </p:attrNameLst>
                                      </p:cBhvr>
                                      <p:to>
                                        <p:strVal val="visible"/>
                                      </p:to>
                                    </p:set>
                                    <p:anim calcmode="lin" valueType="num">
                                      <p:cBhvr>
                                        <p:cTn id="35" dur="500" fill="hold"/>
                                        <p:tgtEl>
                                          <p:spTgt spid="99">
                                            <p:txEl>
                                              <p:pRg st="4" end="4"/>
                                            </p:txEl>
                                          </p:spTgt>
                                        </p:tgtEl>
                                        <p:attrNameLst>
                                          <p:attrName>ppt_x</p:attrName>
                                        </p:attrNameLst>
                                      </p:cBhvr>
                                      <p:tavLst>
                                        <p:tav tm="0">
                                          <p:val>
                                            <p:strVal val="0-#ppt_w/2"/>
                                          </p:val>
                                        </p:tav>
                                        <p:tav tm="100000">
                                          <p:val>
                                            <p:strVal val="#ppt_x"/>
                                          </p:val>
                                        </p:tav>
                                      </p:tavLst>
                                    </p:anim>
                                    <p:anim calcmode="lin" valueType="num">
                                      <p:cBhvr>
                                        <p:cTn id="36" dur="500" fill="hold"/>
                                        <p:tgtEl>
                                          <p:spTgt spid="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iterate>
                                    <p:tmAbs val="0"/>
                                  </p:iterate>
                                  <p:childTnLst>
                                    <p:set>
                                      <p:cBhvr>
                                        <p:cTn id="40" fill="hold"/>
                                        <p:tgtEl>
                                          <p:spTgt spid="99">
                                            <p:txEl>
                                              <p:pRg st="6" end="6"/>
                                            </p:txEl>
                                          </p:spTgt>
                                        </p:tgtEl>
                                        <p:attrNameLst>
                                          <p:attrName>style.visibility</p:attrName>
                                        </p:attrNameLst>
                                      </p:cBhvr>
                                      <p:to>
                                        <p:strVal val="visible"/>
                                      </p:to>
                                    </p:set>
                                    <p:anim calcmode="lin" valueType="num">
                                      <p:cBhvr>
                                        <p:cTn id="41" dur="500" fill="hold"/>
                                        <p:tgtEl>
                                          <p:spTgt spid="99">
                                            <p:txEl>
                                              <p:pRg st="6" end="6"/>
                                            </p:txEl>
                                          </p:spTgt>
                                        </p:tgtEl>
                                        <p:attrNameLst>
                                          <p:attrName>ppt_x</p:attrName>
                                        </p:attrNameLst>
                                      </p:cBhvr>
                                      <p:tavLst>
                                        <p:tav tm="0">
                                          <p:val>
                                            <p:strVal val="0-#ppt_w/2"/>
                                          </p:val>
                                        </p:tav>
                                        <p:tav tm="100000">
                                          <p:val>
                                            <p:strVal val="#ppt_x"/>
                                          </p:val>
                                        </p:tav>
                                      </p:tavLst>
                                    </p:anim>
                                    <p:anim calcmode="lin" valueType="num">
                                      <p:cBhvr>
                                        <p:cTn id="42" dur="500" fill="hold"/>
                                        <p:tgtEl>
                                          <p:spTgt spid="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iterate>
                                    <p:tmAbs val="0"/>
                                  </p:iterate>
                                  <p:childTnLst>
                                    <p:set>
                                      <p:cBhvr>
                                        <p:cTn id="46" fill="hold"/>
                                        <p:tgtEl>
                                          <p:spTgt spid="99">
                                            <p:txEl>
                                              <p:pRg st="7" end="7"/>
                                            </p:txEl>
                                          </p:spTgt>
                                        </p:tgtEl>
                                        <p:attrNameLst>
                                          <p:attrName>style.visibility</p:attrName>
                                        </p:attrNameLst>
                                      </p:cBhvr>
                                      <p:to>
                                        <p:strVal val="visible"/>
                                      </p:to>
                                    </p:set>
                                    <p:anim calcmode="lin" valueType="num">
                                      <p:cBhvr>
                                        <p:cTn id="47" dur="500" fill="hold"/>
                                        <p:tgtEl>
                                          <p:spTgt spid="99">
                                            <p:txEl>
                                              <p:pRg st="7" end="7"/>
                                            </p:txEl>
                                          </p:spTgt>
                                        </p:tgtEl>
                                        <p:attrNameLst>
                                          <p:attrName>ppt_x</p:attrName>
                                        </p:attrNameLst>
                                      </p:cBhvr>
                                      <p:tavLst>
                                        <p:tav tm="0">
                                          <p:val>
                                            <p:strVal val="0-#ppt_w/2"/>
                                          </p:val>
                                        </p:tav>
                                        <p:tav tm="100000">
                                          <p:val>
                                            <p:strVal val="#ppt_x"/>
                                          </p:val>
                                        </p:tav>
                                      </p:tavLst>
                                    </p:anim>
                                    <p:anim calcmode="lin" valueType="num">
                                      <p:cBhvr>
                                        <p:cTn id="48" dur="500" fill="hold"/>
                                        <p:tgtEl>
                                          <p:spTgt spid="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iterate>
                                    <p:tmAbs val="0"/>
                                  </p:iterate>
                                  <p:childTnLst>
                                    <p:set>
                                      <p:cBhvr>
                                        <p:cTn id="52" fill="hold"/>
                                        <p:tgtEl>
                                          <p:spTgt spid="99">
                                            <p:txEl>
                                              <p:pRg st="8" end="8"/>
                                            </p:txEl>
                                          </p:spTgt>
                                        </p:tgtEl>
                                        <p:attrNameLst>
                                          <p:attrName>style.visibility</p:attrName>
                                        </p:attrNameLst>
                                      </p:cBhvr>
                                      <p:to>
                                        <p:strVal val="visible"/>
                                      </p:to>
                                    </p:set>
                                    <p:anim calcmode="lin" valueType="num">
                                      <p:cBhvr>
                                        <p:cTn id="53" dur="500" fill="hold"/>
                                        <p:tgtEl>
                                          <p:spTgt spid="99">
                                            <p:txEl>
                                              <p:pRg st="8" end="8"/>
                                            </p:txEl>
                                          </p:spTgt>
                                        </p:tgtEl>
                                        <p:attrNameLst>
                                          <p:attrName>ppt_x</p:attrName>
                                        </p:attrNameLst>
                                      </p:cBhvr>
                                      <p:tavLst>
                                        <p:tav tm="0">
                                          <p:val>
                                            <p:strVal val="0-#ppt_w/2"/>
                                          </p:val>
                                        </p:tav>
                                        <p:tav tm="100000">
                                          <p:val>
                                            <p:strVal val="#ppt_x"/>
                                          </p:val>
                                        </p:tav>
                                      </p:tavLst>
                                    </p:anim>
                                    <p:anim calcmode="lin" valueType="num">
                                      <p:cBhvr>
                                        <p:cTn id="54" dur="500" fill="hold"/>
                                        <p:tgtEl>
                                          <p:spTgt spid="9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advAuto="0"/>
      <p:bldP spid="99" grpId="0"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CB1B3B5-DDFC-4683-8524-ADBBAE790210}"/>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Lst>
          </a:blip>
          <a:srcRect l="26793" t="11088" r="22288" b="35777"/>
          <a:stretch/>
        </p:blipFill>
        <p:spPr>
          <a:xfrm>
            <a:off x="1467951" y="777019"/>
            <a:ext cx="6208098" cy="3644083"/>
          </a:xfrm>
          <a:prstGeom prst="rect">
            <a:avLst/>
          </a:prstGeom>
          <a:ln>
            <a:noFill/>
          </a:ln>
          <a:effectLst>
            <a:softEdge rad="112500"/>
          </a:effectLst>
        </p:spPr>
      </p:pic>
      <p:sp>
        <p:nvSpPr>
          <p:cNvPr id="4" name="ZoneTexte 3">
            <a:extLst>
              <a:ext uri="{FF2B5EF4-FFF2-40B4-BE49-F238E27FC236}">
                <a16:creationId xmlns:a16="http://schemas.microsoft.com/office/drawing/2014/main" id="{71502BC0-136E-4387-86D1-0175B862D706}"/>
              </a:ext>
            </a:extLst>
          </p:cNvPr>
          <p:cNvSpPr txBox="1"/>
          <p:nvPr/>
        </p:nvSpPr>
        <p:spPr>
          <a:xfrm>
            <a:off x="863072" y="253799"/>
            <a:ext cx="8280928" cy="523220"/>
          </a:xfrm>
          <a:prstGeom prst="rect">
            <a:avLst/>
          </a:prstGeom>
          <a:noFill/>
        </p:spPr>
        <p:txBody>
          <a:bodyPr wrap="square">
            <a:spAutoFit/>
          </a:bodyPr>
          <a:lstStyle/>
          <a:p>
            <a:pPr algn="ctr"/>
            <a:r>
              <a:rPr lang="fr-FR" sz="2800" b="1" dirty="0">
                <a:latin typeface="Helvetica" panose="020B0604020202020204" pitchFamily="34" charset="0"/>
                <a:cs typeface="Helvetica" panose="020B0604020202020204" pitchFamily="34" charset="0"/>
              </a:rPr>
              <a:t>La classe prépa, comment ça marche ?</a:t>
            </a:r>
            <a:endParaRPr lang="fr-FR" sz="2800" b="1" i="0" dirty="0">
              <a:effectLst/>
              <a:latin typeface="Helvetica" panose="020B0604020202020204" pitchFamily="34" charset="0"/>
              <a:cs typeface="Helvetica" panose="020B0604020202020204" pitchFamily="34" charset="0"/>
            </a:endParaRPr>
          </a:p>
        </p:txBody>
      </p:sp>
      <p:sp>
        <p:nvSpPr>
          <p:cNvPr id="5" name="ZoneTexte 4">
            <a:extLst>
              <a:ext uri="{FF2B5EF4-FFF2-40B4-BE49-F238E27FC236}">
                <a16:creationId xmlns:a16="http://schemas.microsoft.com/office/drawing/2014/main" id="{08E03BE8-C961-4E2E-9D38-4ACB1F1D5E6F}"/>
              </a:ext>
            </a:extLst>
          </p:cNvPr>
          <p:cNvSpPr txBox="1"/>
          <p:nvPr/>
        </p:nvSpPr>
        <p:spPr>
          <a:xfrm>
            <a:off x="765314" y="4241899"/>
            <a:ext cx="8060634" cy="2616101"/>
          </a:xfrm>
          <a:prstGeom prst="rect">
            <a:avLst/>
          </a:prstGeom>
          <a:noFill/>
        </p:spPr>
        <p:txBody>
          <a:bodyPr wrap="square" rtlCol="0">
            <a:spAutoFit/>
          </a:bodyPr>
          <a:lstStyle/>
          <a:p>
            <a:pPr>
              <a:buSzPct val="100000"/>
              <a:buChar char="-"/>
              <a:defRPr sz="2800" b="0">
                <a:solidFill>
                  <a:srgbClr val="000000"/>
                </a:solidFill>
                <a:latin typeface="Georgia"/>
                <a:ea typeface="Georgia"/>
                <a:cs typeface="Georgia"/>
                <a:sym typeface="Georgia"/>
              </a:defRPr>
            </a:pPr>
            <a:r>
              <a:rPr lang="fr-FR" dirty="0"/>
              <a:t> </a:t>
            </a:r>
            <a:r>
              <a:rPr lang="fr-FR" sz="1800" dirty="0"/>
              <a:t>Préparation en </a:t>
            </a:r>
            <a:r>
              <a:rPr lang="fr-FR" sz="1800" b="1" dirty="0">
                <a:solidFill>
                  <a:srgbClr val="FF0000"/>
                </a:solidFill>
              </a:rPr>
              <a:t>deux ans </a:t>
            </a:r>
            <a:r>
              <a:rPr lang="fr-FR" sz="1800" dirty="0"/>
              <a:t>(ou trois, on peut redoubler sa seconde année) aux concours des grandes écoles.   </a:t>
            </a:r>
          </a:p>
          <a:p>
            <a:pPr>
              <a:buSzPct val="100000"/>
              <a:buChar char="-"/>
              <a:defRPr sz="2800" b="0">
                <a:solidFill>
                  <a:srgbClr val="000000"/>
                </a:solidFill>
                <a:latin typeface="Georgia"/>
                <a:ea typeface="Georgia"/>
                <a:cs typeface="Georgia"/>
                <a:sym typeface="Georgia"/>
              </a:defRPr>
            </a:pPr>
            <a:r>
              <a:rPr lang="fr-FR" dirty="0"/>
              <a:t> </a:t>
            </a:r>
            <a:r>
              <a:rPr lang="fr-FR" sz="1800" dirty="0"/>
              <a:t>Prépas publiques et </a:t>
            </a:r>
            <a:r>
              <a:rPr lang="fr-FR" sz="1800" b="1" dirty="0">
                <a:solidFill>
                  <a:srgbClr val="FF0000"/>
                </a:solidFill>
              </a:rPr>
              <a:t>gratuites. </a:t>
            </a:r>
          </a:p>
          <a:p>
            <a:pPr>
              <a:buSzPct val="100000"/>
              <a:buChar char="-"/>
              <a:defRPr b="0">
                <a:solidFill>
                  <a:srgbClr val="000000"/>
                </a:solidFill>
                <a:latin typeface="Georgia"/>
                <a:ea typeface="Georgia"/>
                <a:cs typeface="Georgia"/>
                <a:sym typeface="Georgia"/>
              </a:defRPr>
            </a:pPr>
            <a:r>
              <a:rPr lang="fr-FR" dirty="0"/>
              <a:t> Chaque semaine : environ 30 heures de </a:t>
            </a:r>
            <a:r>
              <a:rPr lang="fr-FR" b="1" dirty="0"/>
              <a:t>cours</a:t>
            </a:r>
            <a:r>
              <a:rPr lang="fr-FR" dirty="0"/>
              <a:t> et </a:t>
            </a:r>
            <a:r>
              <a:rPr lang="fr-FR" b="1" dirty="0"/>
              <a:t>TP</a:t>
            </a:r>
            <a:r>
              <a:rPr lang="fr-FR" dirty="0"/>
              <a:t>, plus 3 ou 4 heures de </a:t>
            </a:r>
            <a:r>
              <a:rPr lang="fr-FR" b="1" dirty="0"/>
              <a:t>DS</a:t>
            </a:r>
            <a:r>
              <a:rPr lang="fr-FR" dirty="0"/>
              <a:t> le samedi, plus 2 heures de </a:t>
            </a:r>
            <a:r>
              <a:rPr lang="fr-FR" b="1" dirty="0"/>
              <a:t>khôlles</a:t>
            </a:r>
            <a:r>
              <a:rPr lang="fr-FR" dirty="0"/>
              <a:t> (interrogations orales).</a:t>
            </a:r>
          </a:p>
          <a:p>
            <a:pPr>
              <a:buSzPct val="100000"/>
              <a:buChar char="-"/>
              <a:defRPr b="0">
                <a:solidFill>
                  <a:srgbClr val="000000"/>
                </a:solidFill>
                <a:latin typeface="Georgia"/>
                <a:ea typeface="Georgia"/>
                <a:cs typeface="Georgia"/>
                <a:sym typeface="Georgia"/>
              </a:defRPr>
            </a:pPr>
            <a:r>
              <a:rPr lang="fr-FR" dirty="0"/>
              <a:t> Concours en fin de seconde année : </a:t>
            </a:r>
            <a:r>
              <a:rPr lang="fr-FR" b="1" dirty="0">
                <a:solidFill>
                  <a:schemeClr val="tx2">
                    <a:lumMod val="50000"/>
                    <a:lumOff val="50000"/>
                  </a:schemeClr>
                </a:solidFill>
              </a:rPr>
              <a:t>écrit à la Réunion </a:t>
            </a:r>
            <a:r>
              <a:rPr lang="fr-FR" dirty="0"/>
              <a:t>en mai, </a:t>
            </a:r>
            <a:r>
              <a:rPr lang="fr-FR" b="1" dirty="0">
                <a:solidFill>
                  <a:schemeClr val="tx2">
                    <a:lumMod val="50000"/>
                    <a:lumOff val="50000"/>
                  </a:schemeClr>
                </a:solidFill>
              </a:rPr>
              <a:t>oral à Paris </a:t>
            </a:r>
            <a:r>
              <a:rPr lang="fr-FR" dirty="0"/>
              <a:t>en juillet (la Région finance les déplacements et l’hébergement). </a:t>
            </a:r>
          </a:p>
          <a:p>
            <a:endParaRPr lang="fr-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6719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110509" y="1537725"/>
            <a:ext cx="4466563" cy="3314944"/>
          </a:xfrm>
          <a:noFill/>
        </p:spPr>
        <p:txBody>
          <a:bodyPr>
            <a:normAutofit/>
          </a:bodyPr>
          <a:lstStyle/>
          <a:p>
            <a:pPr algn="just"/>
            <a:r>
              <a:rPr lang="fr-FR" sz="2000" b="1" dirty="0">
                <a:latin typeface="Helvetica"/>
                <a:cs typeface="Helvetica"/>
              </a:rPr>
              <a:t>équilibre</a:t>
            </a:r>
            <a:r>
              <a:rPr lang="fr-FR" sz="2000" dirty="0">
                <a:latin typeface="Helvetica"/>
                <a:cs typeface="Helvetica"/>
              </a:rPr>
              <a:t> </a:t>
            </a:r>
            <a:r>
              <a:rPr lang="fr-FR" sz="2000" b="1" dirty="0">
                <a:latin typeface="Helvetica"/>
                <a:cs typeface="Helvetica"/>
              </a:rPr>
              <a:t>cours</a:t>
            </a:r>
            <a:r>
              <a:rPr lang="fr-FR" sz="2000" dirty="0">
                <a:latin typeface="Helvetica"/>
                <a:cs typeface="Helvetica"/>
              </a:rPr>
              <a:t> théoriques </a:t>
            </a:r>
            <a:r>
              <a:rPr lang="fr-FR" dirty="0">
                <a:latin typeface="Helvetica"/>
                <a:cs typeface="Helvetica"/>
              </a:rPr>
              <a:t>et</a:t>
            </a:r>
            <a:r>
              <a:rPr lang="fr-FR" sz="2000" b="1" dirty="0">
                <a:latin typeface="Helvetica"/>
                <a:cs typeface="Helvetica"/>
              </a:rPr>
              <a:t> TP</a:t>
            </a:r>
            <a:r>
              <a:rPr lang="fr-FR" sz="2000" dirty="0">
                <a:latin typeface="Helvetica"/>
                <a:cs typeface="Helvetica"/>
              </a:rPr>
              <a:t>.</a:t>
            </a:r>
          </a:p>
          <a:p>
            <a:pPr algn="just"/>
            <a:r>
              <a:rPr lang="fr-FR" sz="2000" b="1" dirty="0">
                <a:latin typeface="Helvetica"/>
                <a:cs typeface="Helvetica"/>
              </a:rPr>
              <a:t>équilibre des matières </a:t>
            </a:r>
            <a:r>
              <a:rPr lang="fr-FR" sz="2000" dirty="0">
                <a:latin typeface="Helvetica"/>
                <a:cs typeface="Helvetica"/>
              </a:rPr>
              <a:t>:</a:t>
            </a:r>
          </a:p>
          <a:p>
            <a:pPr lvl="2" algn="just"/>
            <a:endParaRPr lang="fr-FR" sz="2000" dirty="0">
              <a:latin typeface="Helvetica"/>
              <a:cs typeface="Helvetica"/>
            </a:endParaRPr>
          </a:p>
          <a:p>
            <a:pPr marL="457200" lvl="2" indent="0" algn="just">
              <a:buNone/>
            </a:pPr>
            <a:endParaRPr lang="fr-FR" sz="2000" dirty="0">
              <a:latin typeface="Helvetica"/>
              <a:cs typeface="Helvetica"/>
            </a:endParaRPr>
          </a:p>
          <a:p>
            <a:pPr lvl="2" algn="just"/>
            <a:endParaRPr lang="fr-FR" sz="2000" dirty="0">
              <a:latin typeface="Helvetica"/>
              <a:cs typeface="Helvetica"/>
            </a:endParaRPr>
          </a:p>
          <a:p>
            <a:pPr lvl="2" algn="just"/>
            <a:endParaRPr lang="fr-FR" sz="2000" dirty="0">
              <a:latin typeface="Helvetica"/>
              <a:cs typeface="Helvetica"/>
            </a:endParaRPr>
          </a:p>
        </p:txBody>
      </p:sp>
      <p:pic>
        <p:nvPicPr>
          <p:cNvPr id="7" name="Image 6">
            <a:extLst>
              <a:ext uri="{FF2B5EF4-FFF2-40B4-BE49-F238E27FC236}">
                <a16:creationId xmlns:a16="http://schemas.microsoft.com/office/drawing/2014/main" id="{E8D8ADD4-0A89-4DCF-9515-13785568B375}"/>
              </a:ext>
            </a:extLst>
          </p:cNvPr>
          <p:cNvPicPr>
            <a:picLocks noChangeAspect="1"/>
          </p:cNvPicPr>
          <p:nvPr/>
        </p:nvPicPr>
        <p:blipFill>
          <a:blip r:embed="rId3"/>
          <a:stretch>
            <a:fillRect/>
          </a:stretch>
        </p:blipFill>
        <p:spPr>
          <a:xfrm>
            <a:off x="1438105" y="1609804"/>
            <a:ext cx="2649953" cy="25537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Image 17">
            <a:extLst>
              <a:ext uri="{FF2B5EF4-FFF2-40B4-BE49-F238E27FC236}">
                <a16:creationId xmlns:a16="http://schemas.microsoft.com/office/drawing/2014/main" id="{A53D6092-B229-4E8B-A53C-75FC4B70015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253692" y="2442449"/>
            <a:ext cx="2283933" cy="1265052"/>
          </a:xfrm>
          <a:prstGeom prst="rect">
            <a:avLst/>
          </a:prstGeom>
        </p:spPr>
      </p:pic>
      <p:pic>
        <p:nvPicPr>
          <p:cNvPr id="20" name="Image 19">
            <a:extLst>
              <a:ext uri="{FF2B5EF4-FFF2-40B4-BE49-F238E27FC236}">
                <a16:creationId xmlns:a16="http://schemas.microsoft.com/office/drawing/2014/main" id="{8944AA24-0D68-46D7-8D42-1D2B9B45D2E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17952" y="2477275"/>
            <a:ext cx="1862904" cy="1187239"/>
          </a:xfrm>
          <a:prstGeom prst="rect">
            <a:avLst/>
          </a:prstGeom>
        </p:spPr>
      </p:pic>
      <p:sp>
        <p:nvSpPr>
          <p:cNvPr id="8" name="ZoneTexte 7">
            <a:extLst>
              <a:ext uri="{FF2B5EF4-FFF2-40B4-BE49-F238E27FC236}">
                <a16:creationId xmlns:a16="http://schemas.microsoft.com/office/drawing/2014/main" id="{33CD5D50-721A-4A76-A42C-DA66F78F64DB}"/>
              </a:ext>
            </a:extLst>
          </p:cNvPr>
          <p:cNvSpPr txBox="1"/>
          <p:nvPr/>
        </p:nvSpPr>
        <p:spPr>
          <a:xfrm>
            <a:off x="1040837" y="478919"/>
            <a:ext cx="6468900" cy="523220"/>
          </a:xfrm>
          <a:prstGeom prst="rect">
            <a:avLst/>
          </a:prstGeom>
          <a:noFill/>
        </p:spPr>
        <p:txBody>
          <a:bodyPr wrap="square">
            <a:spAutoFit/>
          </a:bodyPr>
          <a:lstStyle/>
          <a:p>
            <a:pPr algn="l"/>
            <a:r>
              <a:rPr lang="fr-FR" sz="2800" b="1" dirty="0">
                <a:latin typeface="Helvetica" panose="020B0604020202020204" pitchFamily="34" charset="0"/>
                <a:cs typeface="Helvetica" panose="020B0604020202020204" pitchFamily="34" charset="0"/>
              </a:rPr>
              <a:t> Pourquoi choisir la CPGE PCSI-PSI?</a:t>
            </a:r>
          </a:p>
        </p:txBody>
      </p:sp>
      <p:pic>
        <p:nvPicPr>
          <p:cNvPr id="9" name="Image 8">
            <a:extLst>
              <a:ext uri="{FF2B5EF4-FFF2-40B4-BE49-F238E27FC236}">
                <a16:creationId xmlns:a16="http://schemas.microsoft.com/office/drawing/2014/main" id="{5334BE7F-BD48-4AE3-8181-2BFCB1232A15}"/>
              </a:ext>
            </a:extLst>
          </p:cNvPr>
          <p:cNvPicPr>
            <a:picLocks noChangeAspect="1"/>
          </p:cNvPicPr>
          <p:nvPr/>
        </p:nvPicPr>
        <p:blipFill rotWithShape="1">
          <a:blip r:embed="rId6"/>
          <a:srcRect l="37976" t="26812" r="28309" b="50000"/>
          <a:stretch/>
        </p:blipFill>
        <p:spPr>
          <a:xfrm>
            <a:off x="4418575" y="3891167"/>
            <a:ext cx="4216749" cy="2564102"/>
          </a:xfrm>
          <a:prstGeom prst="rect">
            <a:avLst/>
          </a:prstGeom>
        </p:spPr>
      </p:pic>
      <p:pic>
        <p:nvPicPr>
          <p:cNvPr id="14" name="Image 13" descr="Peut être une image de texte">
            <a:extLst>
              <a:ext uri="{FF2B5EF4-FFF2-40B4-BE49-F238E27FC236}">
                <a16:creationId xmlns:a16="http://schemas.microsoft.com/office/drawing/2014/main" id="{693053FA-F95A-4103-B364-A9D6440C06E6}"/>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7227" t="26814" r="6877" b="23968"/>
          <a:stretch/>
        </p:blipFill>
        <p:spPr bwMode="auto">
          <a:xfrm>
            <a:off x="7428337" y="144044"/>
            <a:ext cx="1552575" cy="1532255"/>
          </a:xfrm>
          <a:prstGeom prst="rect">
            <a:avLst/>
          </a:prstGeom>
          <a:ln>
            <a:noFill/>
          </a:ln>
          <a:effectLst>
            <a:softEdge rad="112500"/>
          </a:effectLst>
          <a:extLst>
            <a:ext uri="{53640926-AAD7-44D8-BBD7-CCE9431645EC}">
              <a14:shadowObscured xmlns:a14="http://schemas.microsoft.com/office/drawing/2010/main"/>
            </a:ext>
          </a:extLst>
        </p:spPr>
      </p:pic>
      <p:pic>
        <p:nvPicPr>
          <p:cNvPr id="4" name="Image 3">
            <a:extLst>
              <a:ext uri="{FF2B5EF4-FFF2-40B4-BE49-F238E27FC236}">
                <a16:creationId xmlns:a16="http://schemas.microsoft.com/office/drawing/2014/main" id="{F89E66EA-421F-4FFB-505E-01B88B2F13D3}"/>
              </a:ext>
            </a:extLst>
          </p:cNvPr>
          <p:cNvPicPr>
            <a:picLocks noChangeAspect="1"/>
          </p:cNvPicPr>
          <p:nvPr/>
        </p:nvPicPr>
        <p:blipFill>
          <a:blip r:embed="rId8"/>
          <a:stretch>
            <a:fillRect/>
          </a:stretch>
        </p:blipFill>
        <p:spPr>
          <a:xfrm>
            <a:off x="280352" y="3891167"/>
            <a:ext cx="3671226" cy="20620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4" descr="Maths en 3ème : cours et exercices corrigés en PDF à télécharger.">
            <a:extLst>
              <a:ext uri="{FF2B5EF4-FFF2-40B4-BE49-F238E27FC236}">
                <a16:creationId xmlns:a16="http://schemas.microsoft.com/office/drawing/2014/main" id="{0765922C-B5A0-7423-6832-DB66ABBC5A56}"/>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02718" y="4208988"/>
            <a:ext cx="1196805" cy="67619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Physique ou Chimie (série télévisée) — Wikipédia">
            <a:extLst>
              <a:ext uri="{FF2B5EF4-FFF2-40B4-BE49-F238E27FC236}">
                <a16:creationId xmlns:a16="http://schemas.microsoft.com/office/drawing/2014/main" id="{43838943-771B-9248-2492-A0EFEDD810C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409254" y="5525497"/>
            <a:ext cx="1008991" cy="5735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Épreuve écrite Spécialité Sciences de l'Ingénieur 2023 - éduscol STI">
            <a:extLst>
              <a:ext uri="{FF2B5EF4-FFF2-40B4-BE49-F238E27FC236}">
                <a16:creationId xmlns:a16="http://schemas.microsoft.com/office/drawing/2014/main" id="{D57210C3-FE1A-CAC2-5BBF-242F1BD1788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158858" y="3664515"/>
            <a:ext cx="955452" cy="75984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The English Speaking Center – Apprenez l'Anglais facilement">
            <a:extLst>
              <a:ext uri="{FF2B5EF4-FFF2-40B4-BE49-F238E27FC236}">
                <a16:creationId xmlns:a16="http://schemas.microsoft.com/office/drawing/2014/main" id="{32576F01-FA56-A371-A1CA-B726C4C9C21C}"/>
              </a:ext>
            </a:extLst>
          </p:cNvPr>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83994" y="4288132"/>
            <a:ext cx="1041662" cy="49511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Les vendredis de la philo">
            <a:extLst>
              <a:ext uri="{FF2B5EF4-FFF2-40B4-BE49-F238E27FC236}">
                <a16:creationId xmlns:a16="http://schemas.microsoft.com/office/drawing/2014/main" id="{59D65786-20A0-3566-C170-D3562EF2C96F}"/>
              </a:ext>
            </a:extLst>
          </p:cNvPr>
          <p:cNvPicPr>
            <a:picLocks noChangeAspect="1" noChangeArrowheads="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01189" y="3748887"/>
            <a:ext cx="746443" cy="74644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4" descr="Vecteur Stock All Sport Logo | Adobe Stock">
            <a:extLst>
              <a:ext uri="{FF2B5EF4-FFF2-40B4-BE49-F238E27FC236}">
                <a16:creationId xmlns:a16="http://schemas.microsoft.com/office/drawing/2014/main" id="{9755DDBB-5062-6054-51B7-50C5BEF4B1E3}"/>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l="9399" t="20767" r="7683" b="19151"/>
          <a:stretch/>
        </p:blipFill>
        <p:spPr bwMode="auto">
          <a:xfrm>
            <a:off x="7642588" y="5647846"/>
            <a:ext cx="910291" cy="659589"/>
          </a:xfrm>
          <a:prstGeom prst="rect">
            <a:avLst/>
          </a:prstGeom>
          <a:noFill/>
          <a:extLst>
            <a:ext uri="{909E8E84-426E-40DD-AFC4-6F175D3DCCD1}">
              <a14:hiddenFill xmlns:a14="http://schemas.microsoft.com/office/drawing/2010/main">
                <a:solidFill>
                  <a:srgbClr val="FFFFFF"/>
                </a:solidFill>
              </a14:hiddenFill>
            </a:ext>
          </a:extLst>
        </p:spPr>
      </p:pic>
      <p:sp>
        <p:nvSpPr>
          <p:cNvPr id="19" name="BCPST">
            <a:extLst>
              <a:ext uri="{FF2B5EF4-FFF2-40B4-BE49-F238E27FC236}">
                <a16:creationId xmlns:a16="http://schemas.microsoft.com/office/drawing/2014/main" id="{35588E2D-24AF-27BC-D8A7-366F9F800A86}"/>
              </a:ext>
            </a:extLst>
          </p:cNvPr>
          <p:cNvSpPr txBox="1"/>
          <p:nvPr/>
        </p:nvSpPr>
        <p:spPr>
          <a:xfrm>
            <a:off x="7999094" y="6378575"/>
            <a:ext cx="84994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rPr lang="fr-RE" dirty="0">
                <a:solidFill>
                  <a:schemeClr val="accent2">
                    <a:lumMod val="60000"/>
                    <a:lumOff val="40000"/>
                  </a:schemeClr>
                </a:solidFill>
              </a:rPr>
              <a:t>PCSI-PSI</a:t>
            </a:r>
            <a:endParaRPr dirty="0">
              <a:solidFill>
                <a:schemeClr val="accent2">
                  <a:lumMod val="60000"/>
                  <a:lumOff val="40000"/>
                </a:schemeClr>
              </a:solidFill>
            </a:endParaRPr>
          </a:p>
        </p:txBody>
      </p:sp>
      <p:pic>
        <p:nvPicPr>
          <p:cNvPr id="1026" name="Picture 2" descr="Logo Informatique Art vectoriel, icônes et graphiques à télécharger  gratuitement">
            <a:extLst>
              <a:ext uri="{FF2B5EF4-FFF2-40B4-BE49-F238E27FC236}">
                <a16:creationId xmlns:a16="http://schemas.microsoft.com/office/drawing/2014/main" id="{960CE1D9-CCF4-25C2-7B7E-20EBDBE9EE57}"/>
              </a:ext>
            </a:extLst>
          </p:cNvPr>
          <p:cNvPicPr>
            <a:picLocks noChangeAspect="1"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17028" y="4663784"/>
            <a:ext cx="1213304" cy="1213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1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96C0D1B-6147-47BB-A786-65CB9EFFDA0D}"/>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271462" y="3734171"/>
            <a:ext cx="8601075" cy="2143125"/>
          </a:xfrm>
          <a:prstGeom prst="rect">
            <a:avLst/>
          </a:prstGeom>
        </p:spPr>
      </p:pic>
      <p:pic>
        <p:nvPicPr>
          <p:cNvPr id="9" name="Image 8" descr="Peut être une image de texte">
            <a:extLst>
              <a:ext uri="{FF2B5EF4-FFF2-40B4-BE49-F238E27FC236}">
                <a16:creationId xmlns:a16="http://schemas.microsoft.com/office/drawing/2014/main" id="{0156C85F-A556-4FD1-B1B2-49FF03AC288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227" t="26814" r="6877" b="23968"/>
          <a:stretch/>
        </p:blipFill>
        <p:spPr bwMode="auto">
          <a:xfrm>
            <a:off x="7428337" y="144044"/>
            <a:ext cx="1552575" cy="1532255"/>
          </a:xfrm>
          <a:prstGeom prst="rect">
            <a:avLst/>
          </a:prstGeom>
          <a:ln>
            <a:noFill/>
          </a:ln>
          <a:effectLst>
            <a:softEdge rad="112500"/>
          </a:effectLst>
          <a:extLst>
            <a:ext uri="{53640926-AAD7-44D8-BBD7-CCE9431645EC}">
              <a14:shadowObscured xmlns:a14="http://schemas.microsoft.com/office/drawing/2010/main"/>
            </a:ext>
          </a:extLst>
        </p:spPr>
      </p:pic>
      <p:pic>
        <p:nvPicPr>
          <p:cNvPr id="1026" name="Picture 2" descr="À quoi ça sert, les maths ? - 1jour1actu.com">
            <a:extLst>
              <a:ext uri="{FF2B5EF4-FFF2-40B4-BE49-F238E27FC236}">
                <a16:creationId xmlns:a16="http://schemas.microsoft.com/office/drawing/2014/main" id="{55A58C67-DEB8-B85C-2750-BFF1D07224DF}"/>
              </a:ext>
            </a:extLst>
          </p:cNvPr>
          <p:cNvPicPr>
            <a:picLocks noChangeAspect="1" noChangeArrowheads="1"/>
          </p:cNvPicPr>
          <p:nvPr/>
        </p:nvPicPr>
        <p:blipFill>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212234" y="1385184"/>
            <a:ext cx="3113938" cy="20759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ientifiques en chimie et en physique avec des équipements de laboratoire  Image Vectorielle Stock - Alamy">
            <a:extLst>
              <a:ext uri="{FF2B5EF4-FFF2-40B4-BE49-F238E27FC236}">
                <a16:creationId xmlns:a16="http://schemas.microsoft.com/office/drawing/2014/main" id="{22EDD470-9D5A-3C7E-6EF9-5BED169510F3}"/>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r="80198" b="56701"/>
          <a:stretch/>
        </p:blipFill>
        <p:spPr bwMode="auto">
          <a:xfrm>
            <a:off x="4993936" y="1878008"/>
            <a:ext cx="830679" cy="142508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ientifiques en chimie et en physique avec des équipements de laboratoire  Image Vectorielle Stock - Alamy">
            <a:extLst>
              <a:ext uri="{FF2B5EF4-FFF2-40B4-BE49-F238E27FC236}">
                <a16:creationId xmlns:a16="http://schemas.microsoft.com/office/drawing/2014/main" id="{5CDF8F9D-15CE-0397-30B3-F8CC08D7B7E7}"/>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57518" t="-30" r="2055" b="56731"/>
          <a:stretch/>
        </p:blipFill>
        <p:spPr bwMode="auto">
          <a:xfrm>
            <a:off x="7121821" y="1940961"/>
            <a:ext cx="1545995" cy="129917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cientifiques en chimie et en physique avec des équipements de laboratoire  Image Vectorielle Stock - Alamy">
            <a:extLst>
              <a:ext uri="{FF2B5EF4-FFF2-40B4-BE49-F238E27FC236}">
                <a16:creationId xmlns:a16="http://schemas.microsoft.com/office/drawing/2014/main" id="{DA227593-EC7A-A345-5881-3DEF22F0AEAE}"/>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t="47199" r="82247" b="9502"/>
          <a:stretch/>
        </p:blipFill>
        <p:spPr bwMode="auto">
          <a:xfrm flipH="1">
            <a:off x="5824134" y="1842600"/>
            <a:ext cx="730958" cy="139874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cientifiques en chimie et en physique avec des équipements de laboratoire  Image Vectorielle Stock - Alamy">
            <a:extLst>
              <a:ext uri="{FF2B5EF4-FFF2-40B4-BE49-F238E27FC236}">
                <a16:creationId xmlns:a16="http://schemas.microsoft.com/office/drawing/2014/main" id="{076C8AB1-29A4-ABF7-D2DF-30A5ABB54883}"/>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22930" t="47200" r="37490" b="8986"/>
          <a:stretch/>
        </p:blipFill>
        <p:spPr bwMode="auto">
          <a:xfrm>
            <a:off x="3148552" y="1878008"/>
            <a:ext cx="1566341" cy="1360381"/>
          </a:xfrm>
          <a:prstGeom prst="rect">
            <a:avLst/>
          </a:prstGeom>
          <a:noFill/>
          <a:extLst>
            <a:ext uri="{909E8E84-426E-40DD-AFC4-6F175D3DCCD1}">
              <a14:hiddenFill xmlns:a14="http://schemas.microsoft.com/office/drawing/2010/main">
                <a:solidFill>
                  <a:srgbClr val="FFFFFF"/>
                </a:solidFill>
              </a14:hiddenFill>
            </a:ext>
          </a:extLst>
        </p:spPr>
      </p:pic>
      <p:sp>
        <p:nvSpPr>
          <p:cNvPr id="2" name="BCPST">
            <a:extLst>
              <a:ext uri="{FF2B5EF4-FFF2-40B4-BE49-F238E27FC236}">
                <a16:creationId xmlns:a16="http://schemas.microsoft.com/office/drawing/2014/main" id="{28A81C89-DC12-831D-AED6-4AEE846CCA4F}"/>
              </a:ext>
            </a:extLst>
          </p:cNvPr>
          <p:cNvSpPr txBox="1"/>
          <p:nvPr/>
        </p:nvSpPr>
        <p:spPr>
          <a:xfrm>
            <a:off x="7999094" y="6378575"/>
            <a:ext cx="84994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rPr lang="fr-RE" dirty="0">
                <a:solidFill>
                  <a:schemeClr val="accent2">
                    <a:lumMod val="60000"/>
                    <a:lumOff val="40000"/>
                  </a:schemeClr>
                </a:solidFill>
              </a:rPr>
              <a:t>PCSI-PSI</a:t>
            </a:r>
            <a:endParaRPr dirty="0">
              <a:solidFill>
                <a:schemeClr val="accent2">
                  <a:lumMod val="60000"/>
                  <a:lumOff val="40000"/>
                </a:schemeClr>
              </a:solidFill>
            </a:endParaRPr>
          </a:p>
        </p:txBody>
      </p:sp>
      <p:sp>
        <p:nvSpPr>
          <p:cNvPr id="4" name="ZoneTexte 3">
            <a:extLst>
              <a:ext uri="{FF2B5EF4-FFF2-40B4-BE49-F238E27FC236}">
                <a16:creationId xmlns:a16="http://schemas.microsoft.com/office/drawing/2014/main" id="{399E57FF-8CBB-E72C-B070-14D5806CC199}"/>
              </a:ext>
            </a:extLst>
          </p:cNvPr>
          <p:cNvSpPr txBox="1"/>
          <p:nvPr/>
        </p:nvSpPr>
        <p:spPr>
          <a:xfrm>
            <a:off x="1040837" y="478919"/>
            <a:ext cx="6468900" cy="523220"/>
          </a:xfrm>
          <a:prstGeom prst="rect">
            <a:avLst/>
          </a:prstGeom>
          <a:noFill/>
        </p:spPr>
        <p:txBody>
          <a:bodyPr wrap="square">
            <a:spAutoFit/>
          </a:bodyPr>
          <a:lstStyle/>
          <a:p>
            <a:pPr algn="l"/>
            <a:r>
              <a:rPr lang="fr-FR" sz="2800" b="1" dirty="0">
                <a:latin typeface="Helvetica" panose="020B0604020202020204" pitchFamily="34" charset="0"/>
                <a:cs typeface="Helvetica" panose="020B0604020202020204" pitchFamily="34" charset="0"/>
              </a:rPr>
              <a:t> Pourquoi choisir la CPGE PCSI-PSI?</a:t>
            </a:r>
          </a:p>
        </p:txBody>
      </p:sp>
      <p:pic>
        <p:nvPicPr>
          <p:cNvPr id="5" name="Picture 2" descr="Mortier carré dessin – Baccalauréat clipartsr - Baccalauréat dessin,  picture, image, graphic, clip art télécharger gratuit">
            <a:extLst>
              <a:ext uri="{FF2B5EF4-FFF2-40B4-BE49-F238E27FC236}">
                <a16:creationId xmlns:a16="http://schemas.microsoft.com/office/drawing/2014/main" id="{90EDD843-43CA-433B-3503-E89378EA6D28}"/>
              </a:ext>
            </a:extLst>
          </p:cNvPr>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12735"/>
          <a:stretch/>
        </p:blipFill>
        <p:spPr bwMode="auto">
          <a:xfrm>
            <a:off x="7509737" y="3934254"/>
            <a:ext cx="1362800" cy="890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777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BCPST pour ?…"/>
          <p:cNvSpPr txBox="1"/>
          <p:nvPr/>
        </p:nvSpPr>
        <p:spPr>
          <a:xfrm>
            <a:off x="250825" y="457200"/>
            <a:ext cx="7792251" cy="1041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lang="fr-FR" sz="3200" dirty="0">
                <a:solidFill>
                  <a:srgbClr val="00B050"/>
                </a:solidFill>
                <a:latin typeface="Helvetica" panose="020B0604020202020204" pitchFamily="34" charset="0"/>
                <a:ea typeface="Open Sans" panose="020B0606030504020204" pitchFamily="34" charset="0"/>
                <a:cs typeface="Helvetica" panose="020B0604020202020204" pitchFamily="34" charset="0"/>
              </a:rPr>
              <a:t> Pourquoi choisir la CPGE BCPST?</a:t>
            </a:r>
          </a:p>
          <a:p>
            <a:pPr algn="ctr">
              <a:spcBef>
                <a:spcPts val="1400"/>
              </a:spcBef>
              <a:defRPr>
                <a:solidFill>
                  <a:srgbClr val="FFFF00"/>
                </a:solidFill>
              </a:defRPr>
            </a:pPr>
            <a:r>
              <a:rPr dirty="0">
                <a:solidFill>
                  <a:srgbClr val="00B050"/>
                </a:solidFill>
                <a:latin typeface="Helvetica" panose="020B0604020202020204" pitchFamily="34" charset="0"/>
                <a:cs typeface="Helvetica" panose="020B0604020202020204" pitchFamily="34" charset="0"/>
              </a:rPr>
              <a:t>B=</a:t>
            </a:r>
            <a:r>
              <a:rPr dirty="0" err="1">
                <a:solidFill>
                  <a:srgbClr val="00B050"/>
                </a:solidFill>
                <a:latin typeface="Helvetica" panose="020B0604020202020204" pitchFamily="34" charset="0"/>
                <a:cs typeface="Helvetica" panose="020B0604020202020204" pitchFamily="34" charset="0"/>
              </a:rPr>
              <a:t>Biologie</a:t>
            </a:r>
            <a:r>
              <a:rPr dirty="0">
                <a:solidFill>
                  <a:srgbClr val="00B050"/>
                </a:solidFill>
                <a:latin typeface="Helvetica" panose="020B0604020202020204" pitchFamily="34" charset="0"/>
                <a:cs typeface="Helvetica" panose="020B0604020202020204" pitchFamily="34" charset="0"/>
              </a:rPr>
              <a:t> ; P=Physique ; C = </a:t>
            </a:r>
            <a:r>
              <a:rPr dirty="0" err="1">
                <a:solidFill>
                  <a:srgbClr val="00B050"/>
                </a:solidFill>
                <a:latin typeface="Helvetica" panose="020B0604020202020204" pitchFamily="34" charset="0"/>
                <a:cs typeface="Helvetica" panose="020B0604020202020204" pitchFamily="34" charset="0"/>
              </a:rPr>
              <a:t>Chimie</a:t>
            </a:r>
            <a:r>
              <a:rPr dirty="0">
                <a:solidFill>
                  <a:srgbClr val="00B050"/>
                </a:solidFill>
                <a:latin typeface="Helvetica" panose="020B0604020202020204" pitchFamily="34" charset="0"/>
                <a:cs typeface="Helvetica" panose="020B0604020202020204" pitchFamily="34" charset="0"/>
              </a:rPr>
              <a:t> ; ST = Sciences de la Terre</a:t>
            </a:r>
          </a:p>
        </p:txBody>
      </p:sp>
      <p:sp>
        <p:nvSpPr>
          <p:cNvPr id="113" name="Comme dans toute prépa scientifique, les Mathématiques ont une place importante ! La BCPST est la seule prépa avec un programme de Biologie-Géologie."/>
          <p:cNvSpPr txBox="1"/>
          <p:nvPr/>
        </p:nvSpPr>
        <p:spPr>
          <a:xfrm>
            <a:off x="774782" y="1781234"/>
            <a:ext cx="5169011"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1800" b="0">
                <a:solidFill>
                  <a:srgbClr val="FFFFFF"/>
                </a:solidFill>
              </a:defRPr>
            </a:lvl1pPr>
          </a:lstStyle>
          <a:p>
            <a:pPr algn="just"/>
            <a:r>
              <a:rPr dirty="0">
                <a:solidFill>
                  <a:schemeClr val="tx1"/>
                </a:solidFill>
              </a:rPr>
              <a:t>Comme dans </a:t>
            </a:r>
            <a:r>
              <a:rPr dirty="0" err="1">
                <a:solidFill>
                  <a:schemeClr val="tx1"/>
                </a:solidFill>
              </a:rPr>
              <a:t>toute</a:t>
            </a:r>
            <a:r>
              <a:rPr dirty="0">
                <a:solidFill>
                  <a:schemeClr val="tx1"/>
                </a:solidFill>
              </a:rPr>
              <a:t> </a:t>
            </a:r>
            <a:r>
              <a:rPr dirty="0" err="1">
                <a:solidFill>
                  <a:schemeClr val="tx1"/>
                </a:solidFill>
              </a:rPr>
              <a:t>prépa</a:t>
            </a:r>
            <a:r>
              <a:rPr dirty="0">
                <a:solidFill>
                  <a:schemeClr val="tx1"/>
                </a:solidFill>
              </a:rPr>
              <a:t> </a:t>
            </a:r>
            <a:r>
              <a:rPr dirty="0" err="1">
                <a:solidFill>
                  <a:schemeClr val="tx1"/>
                </a:solidFill>
              </a:rPr>
              <a:t>scientifique</a:t>
            </a:r>
            <a:r>
              <a:rPr dirty="0">
                <a:solidFill>
                  <a:schemeClr val="tx1"/>
                </a:solidFill>
              </a:rPr>
              <a:t>, les </a:t>
            </a:r>
            <a:r>
              <a:rPr b="1" dirty="0" err="1">
                <a:solidFill>
                  <a:srgbClr val="FF0000"/>
                </a:solidFill>
              </a:rPr>
              <a:t>Mathématiques</a:t>
            </a:r>
            <a:r>
              <a:rPr dirty="0">
                <a:solidFill>
                  <a:schemeClr val="tx1"/>
                </a:solidFill>
              </a:rPr>
              <a:t> </a:t>
            </a:r>
            <a:r>
              <a:rPr dirty="0" err="1">
                <a:solidFill>
                  <a:schemeClr val="tx1"/>
                </a:solidFill>
              </a:rPr>
              <a:t>ont</a:t>
            </a:r>
            <a:r>
              <a:rPr dirty="0">
                <a:solidFill>
                  <a:schemeClr val="tx1"/>
                </a:solidFill>
              </a:rPr>
              <a:t> </a:t>
            </a:r>
            <a:r>
              <a:rPr dirty="0" err="1">
                <a:solidFill>
                  <a:schemeClr val="tx1"/>
                </a:solidFill>
              </a:rPr>
              <a:t>une</a:t>
            </a:r>
            <a:r>
              <a:rPr dirty="0">
                <a:solidFill>
                  <a:schemeClr val="tx1"/>
                </a:solidFill>
              </a:rPr>
              <a:t> place </a:t>
            </a:r>
            <a:r>
              <a:rPr dirty="0" err="1">
                <a:solidFill>
                  <a:schemeClr val="tx1"/>
                </a:solidFill>
              </a:rPr>
              <a:t>importante</a:t>
            </a:r>
            <a:r>
              <a:rPr dirty="0">
                <a:solidFill>
                  <a:schemeClr val="tx1"/>
                </a:solidFill>
              </a:rPr>
              <a:t> ! La BCPST </a:t>
            </a:r>
            <a:r>
              <a:rPr dirty="0" err="1">
                <a:solidFill>
                  <a:schemeClr val="tx1"/>
                </a:solidFill>
              </a:rPr>
              <a:t>est</a:t>
            </a:r>
            <a:r>
              <a:rPr dirty="0">
                <a:solidFill>
                  <a:schemeClr val="tx1"/>
                </a:solidFill>
              </a:rPr>
              <a:t> la </a:t>
            </a:r>
            <a:r>
              <a:rPr dirty="0" err="1">
                <a:solidFill>
                  <a:schemeClr val="tx1"/>
                </a:solidFill>
              </a:rPr>
              <a:t>seule</a:t>
            </a:r>
            <a:r>
              <a:rPr dirty="0">
                <a:solidFill>
                  <a:schemeClr val="tx1"/>
                </a:solidFill>
              </a:rPr>
              <a:t> </a:t>
            </a:r>
            <a:r>
              <a:rPr dirty="0" err="1">
                <a:solidFill>
                  <a:schemeClr val="tx1"/>
                </a:solidFill>
              </a:rPr>
              <a:t>prépa</a:t>
            </a:r>
            <a:r>
              <a:rPr dirty="0">
                <a:solidFill>
                  <a:schemeClr val="tx1"/>
                </a:solidFill>
              </a:rPr>
              <a:t> avec un </a:t>
            </a:r>
            <a:r>
              <a:rPr dirty="0" err="1">
                <a:solidFill>
                  <a:schemeClr val="tx1"/>
                </a:solidFill>
              </a:rPr>
              <a:t>programme</a:t>
            </a:r>
            <a:r>
              <a:rPr dirty="0">
                <a:solidFill>
                  <a:schemeClr val="tx1"/>
                </a:solidFill>
              </a:rPr>
              <a:t> de </a:t>
            </a:r>
            <a:r>
              <a:rPr b="1" dirty="0" err="1">
                <a:solidFill>
                  <a:srgbClr val="00B050"/>
                </a:solidFill>
              </a:rPr>
              <a:t>Biologie-Géologie</a:t>
            </a:r>
            <a:r>
              <a:rPr b="1" dirty="0">
                <a:solidFill>
                  <a:schemeClr val="tx1"/>
                </a:solidFill>
              </a:rPr>
              <a:t>.</a:t>
            </a:r>
          </a:p>
        </p:txBody>
      </p:sp>
      <p:sp>
        <p:nvSpPr>
          <p:cNvPr id="114" name="Horaires de la BCPST de Roland Garros : SVT 8h – PC 7h - Maths 7h – Philo 2h – Anglais 2h,  LV2 2h, Informatique 2h, EPS : 2h – TIPE : 1h"/>
          <p:cNvSpPr txBox="1"/>
          <p:nvPr/>
        </p:nvSpPr>
        <p:spPr>
          <a:xfrm>
            <a:off x="774781" y="3361343"/>
            <a:ext cx="7792251" cy="707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spcBef>
                <a:spcPts val="1800"/>
              </a:spcBef>
              <a:defRPr sz="2200" b="0">
                <a:solidFill>
                  <a:srgbClr val="FFFFFF"/>
                </a:solidFill>
              </a:defRPr>
            </a:lvl1pPr>
          </a:lstStyle>
          <a:p>
            <a:r>
              <a:rPr sz="2000" dirty="0" err="1">
                <a:solidFill>
                  <a:schemeClr val="tx1"/>
                </a:solidFill>
              </a:rPr>
              <a:t>Horaires</a:t>
            </a:r>
            <a:r>
              <a:rPr sz="2000" dirty="0">
                <a:solidFill>
                  <a:schemeClr val="tx1"/>
                </a:solidFill>
              </a:rPr>
              <a:t> de la BCPST : SVT 8h – PC 7h - </a:t>
            </a:r>
            <a:r>
              <a:rPr sz="2000" dirty="0" err="1">
                <a:solidFill>
                  <a:schemeClr val="tx1"/>
                </a:solidFill>
              </a:rPr>
              <a:t>Maths</a:t>
            </a:r>
            <a:r>
              <a:rPr sz="2000" dirty="0">
                <a:solidFill>
                  <a:schemeClr val="tx1"/>
                </a:solidFill>
              </a:rPr>
              <a:t> 7h – Philo 2h – </a:t>
            </a:r>
            <a:r>
              <a:rPr sz="2000" dirty="0" err="1">
                <a:solidFill>
                  <a:schemeClr val="tx1"/>
                </a:solidFill>
              </a:rPr>
              <a:t>Anglais</a:t>
            </a:r>
            <a:r>
              <a:rPr sz="2000" dirty="0">
                <a:solidFill>
                  <a:schemeClr val="tx1"/>
                </a:solidFill>
              </a:rPr>
              <a:t> 2h,  LV2 2h, Informatique 2h, EPS : 2h – TIPE : 1h</a:t>
            </a:r>
          </a:p>
        </p:txBody>
      </p:sp>
      <p:sp>
        <p:nvSpPr>
          <p:cNvPr id="115" name="Spécialités en première : SVT + Maths + Physique…"/>
          <p:cNvSpPr txBox="1"/>
          <p:nvPr/>
        </p:nvSpPr>
        <p:spPr>
          <a:xfrm>
            <a:off x="774781" y="4873119"/>
            <a:ext cx="7792251" cy="15696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defRPr>
                <a:solidFill>
                  <a:srgbClr val="000000"/>
                </a:solidFill>
              </a:defRPr>
            </a:pPr>
            <a:r>
              <a:rPr dirty="0" err="1"/>
              <a:t>Spécialités</a:t>
            </a:r>
            <a:r>
              <a:rPr dirty="0"/>
              <a:t> </a:t>
            </a:r>
            <a:r>
              <a:rPr dirty="0" err="1"/>
              <a:t>en</a:t>
            </a:r>
            <a:r>
              <a:rPr dirty="0"/>
              <a:t> première : SVT + </a:t>
            </a:r>
            <a:r>
              <a:rPr dirty="0" err="1"/>
              <a:t>Maths</a:t>
            </a:r>
            <a:r>
              <a:rPr dirty="0"/>
              <a:t> + Physique</a:t>
            </a:r>
          </a:p>
          <a:p>
            <a:pPr>
              <a:defRPr>
                <a:solidFill>
                  <a:srgbClr val="000000"/>
                </a:solidFill>
              </a:defRPr>
            </a:pPr>
            <a:r>
              <a:rPr dirty="0" err="1"/>
              <a:t>Spécialités</a:t>
            </a:r>
            <a:r>
              <a:rPr dirty="0"/>
              <a:t> </a:t>
            </a:r>
            <a:r>
              <a:rPr dirty="0" err="1"/>
              <a:t>en</a:t>
            </a:r>
            <a:r>
              <a:rPr dirty="0"/>
              <a:t> </a:t>
            </a:r>
            <a:r>
              <a:rPr dirty="0" err="1"/>
              <a:t>Terminale</a:t>
            </a:r>
            <a:r>
              <a:rPr dirty="0"/>
              <a:t> : </a:t>
            </a:r>
          </a:p>
          <a:p>
            <a:pPr>
              <a:defRPr>
                <a:solidFill>
                  <a:srgbClr val="000000"/>
                </a:solidFill>
              </a:defRPr>
            </a:pPr>
            <a:r>
              <a:rPr dirty="0"/>
              <a:t>(</a:t>
            </a:r>
            <a:r>
              <a:rPr dirty="0" err="1"/>
              <a:t>Maths</a:t>
            </a:r>
            <a:r>
              <a:rPr dirty="0"/>
              <a:t> + PC) </a:t>
            </a:r>
            <a:r>
              <a:rPr dirty="0" err="1"/>
              <a:t>ou</a:t>
            </a:r>
            <a:r>
              <a:rPr dirty="0"/>
              <a:t> (</a:t>
            </a:r>
            <a:r>
              <a:rPr dirty="0" err="1"/>
              <a:t>Maths+SVT</a:t>
            </a:r>
            <a:r>
              <a:rPr dirty="0"/>
              <a:t>) </a:t>
            </a:r>
            <a:r>
              <a:rPr dirty="0" err="1"/>
              <a:t>ou</a:t>
            </a:r>
            <a:r>
              <a:rPr dirty="0"/>
              <a:t> (</a:t>
            </a:r>
            <a:r>
              <a:rPr dirty="0" err="1"/>
              <a:t>SVT+PC+Maths</a:t>
            </a:r>
            <a:r>
              <a:rPr dirty="0"/>
              <a:t> </a:t>
            </a:r>
            <a:r>
              <a:rPr dirty="0" err="1"/>
              <a:t>complé</a:t>
            </a:r>
            <a:r>
              <a:rPr dirty="0"/>
              <a:t>).</a:t>
            </a:r>
          </a:p>
          <a:p>
            <a:pPr>
              <a:defRPr>
                <a:solidFill>
                  <a:srgbClr val="000000"/>
                </a:solidFill>
              </a:defRPr>
            </a:pPr>
            <a:r>
              <a:rPr dirty="0"/>
              <a:t>Option </a:t>
            </a:r>
            <a:r>
              <a:rPr dirty="0" err="1"/>
              <a:t>Maths</a:t>
            </a:r>
            <a:r>
              <a:rPr dirty="0"/>
              <a:t> </a:t>
            </a:r>
            <a:r>
              <a:rPr dirty="0" err="1"/>
              <a:t>expertes</a:t>
            </a:r>
            <a:r>
              <a:rPr dirty="0"/>
              <a:t> très </a:t>
            </a:r>
            <a:r>
              <a:rPr dirty="0" err="1"/>
              <a:t>recommandée</a:t>
            </a:r>
            <a:r>
              <a:rPr dirty="0"/>
              <a:t> </a:t>
            </a:r>
            <a:r>
              <a:rPr dirty="0" err="1"/>
              <a:t>si</a:t>
            </a:r>
            <a:r>
              <a:rPr dirty="0"/>
              <a:t> </a:t>
            </a:r>
            <a:r>
              <a:rPr dirty="0" err="1"/>
              <a:t>spé</a:t>
            </a:r>
            <a:r>
              <a:rPr dirty="0"/>
              <a:t> </a:t>
            </a:r>
            <a:r>
              <a:rPr dirty="0" err="1"/>
              <a:t>Maths</a:t>
            </a:r>
            <a:r>
              <a:rPr dirty="0"/>
              <a:t> </a:t>
            </a:r>
            <a:r>
              <a:rPr dirty="0" err="1"/>
              <a:t>prise</a:t>
            </a:r>
            <a:r>
              <a:rPr dirty="0"/>
              <a:t>.</a:t>
            </a:r>
          </a:p>
          <a:p>
            <a:pPr>
              <a:defRPr sz="2000">
                <a:solidFill>
                  <a:srgbClr val="000000"/>
                </a:solidFill>
              </a:defRPr>
            </a:pPr>
            <a:r>
              <a:rPr dirty="0" err="1"/>
              <a:t>Autres</a:t>
            </a:r>
            <a:r>
              <a:rPr dirty="0"/>
              <a:t> choix de </a:t>
            </a:r>
            <a:r>
              <a:rPr dirty="0" err="1"/>
              <a:t>spés</a:t>
            </a:r>
            <a:r>
              <a:rPr dirty="0"/>
              <a:t> non </a:t>
            </a:r>
            <a:r>
              <a:rPr dirty="0" err="1"/>
              <a:t>interdits</a:t>
            </a:r>
            <a:r>
              <a:rPr dirty="0"/>
              <a:t>, </a:t>
            </a:r>
            <a:r>
              <a:rPr dirty="0" err="1"/>
              <a:t>mais</a:t>
            </a:r>
            <a:r>
              <a:rPr dirty="0"/>
              <a:t> </a:t>
            </a:r>
            <a:r>
              <a:rPr dirty="0" err="1"/>
              <a:t>fortement</a:t>
            </a:r>
            <a:r>
              <a:rPr dirty="0"/>
              <a:t> </a:t>
            </a:r>
            <a:r>
              <a:rPr dirty="0" err="1"/>
              <a:t>déconseillés</a:t>
            </a:r>
            <a:r>
              <a:rPr sz="2400" dirty="0"/>
              <a:t>.</a:t>
            </a:r>
          </a:p>
        </p:txBody>
      </p:sp>
      <p:sp>
        <p:nvSpPr>
          <p:cNvPr id="116" name="BCPST"/>
          <p:cNvSpPr txBox="1"/>
          <p:nvPr/>
        </p:nvSpPr>
        <p:spPr>
          <a:xfrm>
            <a:off x="7999094" y="6378575"/>
            <a:ext cx="849949"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t>BCPST</a:t>
            </a:r>
          </a:p>
        </p:txBody>
      </p:sp>
      <p:pic>
        <p:nvPicPr>
          <p:cNvPr id="5122" name="Picture 2" descr="LBM de référence : quelles missions et modalités de désignation ? | CNOP">
            <a:extLst>
              <a:ext uri="{FF2B5EF4-FFF2-40B4-BE49-F238E27FC236}">
                <a16:creationId xmlns:a16="http://schemas.microsoft.com/office/drawing/2014/main" id="{47F943B2-1074-B3BE-1CE8-697C961BAF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6457" y="1956089"/>
            <a:ext cx="1278156" cy="127815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Maths en 3ème : cours et exercices corrigés en PDF à télécharger.">
            <a:extLst>
              <a:ext uri="{FF2B5EF4-FFF2-40B4-BE49-F238E27FC236}">
                <a16:creationId xmlns:a16="http://schemas.microsoft.com/office/drawing/2014/main" id="{A21935D5-4664-15B6-9C97-7D536BF53A54}"/>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55710" y="2685084"/>
            <a:ext cx="1196805" cy="67619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descr="The English Speaking Center – Apprenez l'Anglais facilement">
            <a:extLst>
              <a:ext uri="{FF2B5EF4-FFF2-40B4-BE49-F238E27FC236}">
                <a16:creationId xmlns:a16="http://schemas.microsoft.com/office/drawing/2014/main" id="{679D1AEC-726A-F2AA-F5BC-3E464C40D5F3}"/>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38808" y="4183028"/>
            <a:ext cx="1041662" cy="49511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Physique ou Chimie (série télévisée) — Wikipédia">
            <a:extLst>
              <a:ext uri="{FF2B5EF4-FFF2-40B4-BE49-F238E27FC236}">
                <a16:creationId xmlns:a16="http://schemas.microsoft.com/office/drawing/2014/main" id="{5CED76AD-737C-DBF6-22EE-5B642EB08BD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40052" y="4125840"/>
            <a:ext cx="1008991" cy="5735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Les vendredis de la philo">
            <a:extLst>
              <a:ext uri="{FF2B5EF4-FFF2-40B4-BE49-F238E27FC236}">
                <a16:creationId xmlns:a16="http://schemas.microsoft.com/office/drawing/2014/main" id="{57906615-83C2-354C-4F53-9CD65D7A2EE3}"/>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97045" y="4704668"/>
            <a:ext cx="778824" cy="74644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vectorielle Emblème géologique avec sélection, montagne et minéraux  par ©robuart - 222318738">
            <a:extLst>
              <a:ext uri="{FF2B5EF4-FFF2-40B4-BE49-F238E27FC236}">
                <a16:creationId xmlns:a16="http://schemas.microsoft.com/office/drawing/2014/main" id="{831ED968-C40A-1AAE-0105-F16ED32F0A17}"/>
              </a:ext>
            </a:extLst>
          </p:cNvPr>
          <p:cNvPicPr>
            <a:picLocks noChangeAspect="1" noChangeArrowheads="1"/>
          </p:cNvPicPr>
          <p:nvPr/>
        </p:nvPicPr>
        <p:blipFill rotWithShape="1">
          <a:blip r:embed="rId7" cstate="print">
            <a:clrChange>
              <a:clrFrom>
                <a:srgbClr val="DCD57D"/>
              </a:clrFrom>
              <a:clrTo>
                <a:srgbClr val="DCD57D">
                  <a:alpha val="0"/>
                </a:srgbClr>
              </a:clrTo>
            </a:clrChange>
            <a:extLst>
              <a:ext uri="{28A0092B-C50C-407E-A947-70E740481C1C}">
                <a14:useLocalDpi xmlns:a14="http://schemas.microsoft.com/office/drawing/2010/main" val="0"/>
              </a:ext>
            </a:extLst>
          </a:blip>
          <a:srcRect l="11444" t="8221" r="12576" b="9855"/>
          <a:stretch/>
        </p:blipFill>
        <p:spPr bwMode="auto">
          <a:xfrm>
            <a:off x="6361237" y="2003921"/>
            <a:ext cx="1196805" cy="135735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Journée Portes Ouvertes 2023 CPGE BCPST PCSI et PSI du Lycée Roland Garros  – Lycée Roland Garros">
            <a:extLst>
              <a:ext uri="{FF2B5EF4-FFF2-40B4-BE49-F238E27FC236}">
                <a16:creationId xmlns:a16="http://schemas.microsoft.com/office/drawing/2014/main" id="{C0063D3E-24CE-09F1-0F21-C5DCBA3F4B92}"/>
              </a:ext>
            </a:extLst>
          </p:cNvPr>
          <p:cNvPicPr>
            <a:picLocks noChangeAspect="1" noChangeArrowheads="1"/>
          </p:cNvPicPr>
          <p:nvPr/>
        </p:nvPicPr>
        <p:blipFill>
          <a:blip r:embed="rId8">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346134" y="78419"/>
            <a:ext cx="1618479" cy="16503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ortier carré dessin – Baccalauréat clipartsr - Baccalauréat dessin,  picture, image, graphic, clip art télécharger gratuit">
            <a:extLst>
              <a:ext uri="{FF2B5EF4-FFF2-40B4-BE49-F238E27FC236}">
                <a16:creationId xmlns:a16="http://schemas.microsoft.com/office/drawing/2014/main" id="{7F30464C-954B-7EBB-ED6F-9C39C30B1867}"/>
              </a:ext>
            </a:extLst>
          </p:cNvPr>
          <p:cNvPicPr>
            <a:picLocks noChangeAspect="1" noChangeArrowheads="1"/>
          </p:cNvPicPr>
          <p:nvPr/>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b="12735"/>
          <a:stretch/>
        </p:blipFill>
        <p:spPr bwMode="auto">
          <a:xfrm>
            <a:off x="691493" y="4070616"/>
            <a:ext cx="1362800" cy="8907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112"/>
                                        </p:tgtEl>
                                        <p:attrNameLst>
                                          <p:attrName>style.visibility</p:attrName>
                                        </p:attrNameLst>
                                      </p:cBhvr>
                                      <p:to>
                                        <p:strVal val="visible"/>
                                      </p:to>
                                    </p:set>
                                    <p:anim calcmode="lin" valueType="num">
                                      <p:cBhvr>
                                        <p:cTn id="7" dur="500" fill="hold"/>
                                        <p:tgtEl>
                                          <p:spTgt spid="112"/>
                                        </p:tgtEl>
                                        <p:attrNameLst>
                                          <p:attrName>ppt_x</p:attrName>
                                        </p:attrNameLst>
                                      </p:cBhvr>
                                      <p:tavLst>
                                        <p:tav tm="0">
                                          <p:val>
                                            <p:strVal val="0-#ppt_w/2"/>
                                          </p:val>
                                        </p:tav>
                                        <p:tav tm="100000">
                                          <p:val>
                                            <p:strVal val="#ppt_x"/>
                                          </p:val>
                                        </p:tav>
                                      </p:tavLst>
                                    </p:anim>
                                    <p:anim calcmode="lin" valueType="num">
                                      <p:cBhvr>
                                        <p:cTn id="8" dur="500" fill="hold"/>
                                        <p:tgtEl>
                                          <p:spTgt spid="1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p:tmAbs val="0"/>
                                  </p:iterate>
                                  <p:childTnLst>
                                    <p:set>
                                      <p:cBhvr>
                                        <p:cTn id="12" fill="hold"/>
                                        <p:tgtEl>
                                          <p:spTgt spid="113"/>
                                        </p:tgtEl>
                                        <p:attrNameLst>
                                          <p:attrName>style.visibility</p:attrName>
                                        </p:attrNameLst>
                                      </p:cBhvr>
                                      <p:to>
                                        <p:strVal val="visible"/>
                                      </p:to>
                                    </p:set>
                                    <p:anim calcmode="lin" valueType="num">
                                      <p:cBhvr>
                                        <p:cTn id="13" dur="500" fill="hold"/>
                                        <p:tgtEl>
                                          <p:spTgt spid="113"/>
                                        </p:tgtEl>
                                        <p:attrNameLst>
                                          <p:attrName>ppt_x</p:attrName>
                                        </p:attrNameLst>
                                      </p:cBhvr>
                                      <p:tavLst>
                                        <p:tav tm="0">
                                          <p:val>
                                            <p:strVal val="0-#ppt_w/2"/>
                                          </p:val>
                                        </p:tav>
                                        <p:tav tm="100000">
                                          <p:val>
                                            <p:strVal val="#ppt_x"/>
                                          </p:val>
                                        </p:tav>
                                      </p:tavLst>
                                    </p:anim>
                                    <p:anim calcmode="lin" valueType="num">
                                      <p:cBhvr>
                                        <p:cTn id="14" dur="500" fill="hold"/>
                                        <p:tgtEl>
                                          <p:spTgt spid="1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iterate>
                                    <p:tmAbs val="0"/>
                                  </p:iterate>
                                  <p:childTnLst>
                                    <p:set>
                                      <p:cBhvr>
                                        <p:cTn id="18" fill="hold"/>
                                        <p:tgtEl>
                                          <p:spTgt spid="114"/>
                                        </p:tgtEl>
                                        <p:attrNameLst>
                                          <p:attrName>style.visibility</p:attrName>
                                        </p:attrNameLst>
                                      </p:cBhvr>
                                      <p:to>
                                        <p:strVal val="visible"/>
                                      </p:to>
                                    </p:set>
                                    <p:anim calcmode="lin" valueType="num">
                                      <p:cBhvr>
                                        <p:cTn id="19" dur="500" fill="hold"/>
                                        <p:tgtEl>
                                          <p:spTgt spid="114"/>
                                        </p:tgtEl>
                                        <p:attrNameLst>
                                          <p:attrName>ppt_x</p:attrName>
                                        </p:attrNameLst>
                                      </p:cBhvr>
                                      <p:tavLst>
                                        <p:tav tm="0">
                                          <p:val>
                                            <p:strVal val="#ppt_x"/>
                                          </p:val>
                                        </p:tav>
                                        <p:tav tm="100000">
                                          <p:val>
                                            <p:strVal val="#ppt_x"/>
                                          </p:val>
                                        </p:tav>
                                      </p:tavLst>
                                    </p:anim>
                                    <p:anim calcmode="lin" valueType="num">
                                      <p:cBhvr>
                                        <p:cTn id="20"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iterate>
                                    <p:tmAbs val="0"/>
                                  </p:iterate>
                                  <p:childTnLst>
                                    <p:set>
                                      <p:cBhvr>
                                        <p:cTn id="24" fill="hold"/>
                                        <p:tgtEl>
                                          <p:spTgt spid="115"/>
                                        </p:tgtEl>
                                        <p:attrNameLst>
                                          <p:attrName>style.visibility</p:attrName>
                                        </p:attrNameLst>
                                      </p:cBhvr>
                                      <p:to>
                                        <p:strVal val="visible"/>
                                      </p:to>
                                    </p:set>
                                    <p:anim calcmode="lin" valueType="num">
                                      <p:cBhvr>
                                        <p:cTn id="25" dur="500" fill="hold"/>
                                        <p:tgtEl>
                                          <p:spTgt spid="115"/>
                                        </p:tgtEl>
                                        <p:attrNameLst>
                                          <p:attrName>ppt_x</p:attrName>
                                        </p:attrNameLst>
                                      </p:cBhvr>
                                      <p:tavLst>
                                        <p:tav tm="0">
                                          <p:val>
                                            <p:strVal val="#ppt_x"/>
                                          </p:val>
                                        </p:tav>
                                        <p:tav tm="100000">
                                          <p:val>
                                            <p:strVal val="#ppt_x"/>
                                          </p:val>
                                        </p:tav>
                                      </p:tavLst>
                                    </p:anim>
                                    <p:anim calcmode="lin" valueType="num">
                                      <p:cBhvr>
                                        <p:cTn id="26"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advAuto="0"/>
      <p:bldP spid="113" grpId="0" animBg="1" advAuto="0"/>
      <p:bldP spid="114" grpId="0" animBg="1" advAuto="0"/>
      <p:bldP spid="115"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oncours et débouchés…"/>
          <p:cNvSpPr txBox="1"/>
          <p:nvPr/>
        </p:nvSpPr>
        <p:spPr>
          <a:xfrm>
            <a:off x="474970" y="251115"/>
            <a:ext cx="6953367" cy="1320874"/>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Concours et </a:t>
            </a:r>
            <a:r>
              <a:rPr dirty="0" err="1">
                <a:solidFill>
                  <a:sysClr val="windowText" lastClr="000000"/>
                </a:solidFill>
                <a:latin typeface="Helvetica" panose="020B0604020202020204" pitchFamily="34" charset="0"/>
                <a:cs typeface="Helvetica" panose="020B0604020202020204" pitchFamily="34" charset="0"/>
              </a:rPr>
              <a:t>débouchés</a:t>
            </a:r>
            <a:r>
              <a:rPr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après la PSI du Lycée Roland Garros</a:t>
            </a:r>
          </a:p>
        </p:txBody>
      </p:sp>
      <p:pic>
        <p:nvPicPr>
          <p:cNvPr id="119" name="image.png" descr="image.png"/>
          <p:cNvPicPr>
            <a:picLocks noChangeAspect="1"/>
          </p:cNvPicPr>
          <p:nvPr/>
        </p:nvPicPr>
        <p:blipFill>
          <a:blip r:embed="rId2">
            <a:clrChange>
              <a:clrFrom>
                <a:srgbClr val="FFFFFF"/>
              </a:clrFrom>
              <a:clrTo>
                <a:srgbClr val="FFFFFF">
                  <a:alpha val="0"/>
                </a:srgbClr>
              </a:clrTo>
            </a:clrChange>
          </a:blip>
          <a:stretch>
            <a:fillRect/>
          </a:stretch>
        </p:blipFill>
        <p:spPr>
          <a:xfrm>
            <a:off x="4816233" y="3888454"/>
            <a:ext cx="3696735" cy="2121177"/>
          </a:xfrm>
          <a:prstGeom prst="rect">
            <a:avLst/>
          </a:prstGeom>
          <a:ln w="12700">
            <a:miter lim="400000"/>
          </a:ln>
        </p:spPr>
      </p:pic>
      <p:sp>
        <p:nvSpPr>
          <p:cNvPr id="120" name="PCSI/PSI"/>
          <p:cNvSpPr txBox="1"/>
          <p:nvPr/>
        </p:nvSpPr>
        <p:spPr>
          <a:xfrm>
            <a:off x="7962582" y="6484937"/>
            <a:ext cx="1100773"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lvl1pPr>
          </a:lstStyle>
          <a:p>
            <a:r>
              <a:rPr dirty="0"/>
              <a:t>PCSI/PSI</a:t>
            </a:r>
          </a:p>
        </p:txBody>
      </p:sp>
      <p:pic>
        <p:nvPicPr>
          <p:cNvPr id="2" name="Image 1" descr="Peut être une image de texte">
            <a:extLst>
              <a:ext uri="{FF2B5EF4-FFF2-40B4-BE49-F238E27FC236}">
                <a16:creationId xmlns:a16="http://schemas.microsoft.com/office/drawing/2014/main" id="{D10DD8B2-E0B0-3ECD-A81B-41ADCAD2394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227" t="26814" r="6877" b="23968"/>
          <a:stretch/>
        </p:blipFill>
        <p:spPr bwMode="auto">
          <a:xfrm>
            <a:off x="7428337" y="144044"/>
            <a:ext cx="1552575" cy="1532255"/>
          </a:xfrm>
          <a:prstGeom prst="rect">
            <a:avLst/>
          </a:prstGeom>
          <a:ln>
            <a:noFill/>
          </a:ln>
          <a:effectLst>
            <a:softEdge rad="112500"/>
          </a:effectLst>
          <a:extLst>
            <a:ext uri="{53640926-AAD7-44D8-BBD7-CCE9431645EC}">
              <a14:shadowObscured xmlns:a14="http://schemas.microsoft.com/office/drawing/2010/main"/>
            </a:ext>
          </a:extLst>
        </p:spPr>
      </p:pic>
      <p:sp>
        <p:nvSpPr>
          <p:cNvPr id="3" name="- ENAC (pour devenir pilote, ou ingénieur dans l’aviation civile)">
            <a:extLst>
              <a:ext uri="{FF2B5EF4-FFF2-40B4-BE49-F238E27FC236}">
                <a16:creationId xmlns:a16="http://schemas.microsoft.com/office/drawing/2014/main" id="{11C66CE7-EF9B-54D8-A3F8-AC15D6E359B1}"/>
              </a:ext>
            </a:extLst>
          </p:cNvPr>
          <p:cNvSpPr txBox="1"/>
          <p:nvPr/>
        </p:nvSpPr>
        <p:spPr>
          <a:xfrm>
            <a:off x="1018581" y="3111384"/>
            <a:ext cx="8512037" cy="4213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000000"/>
                </a:solidFill>
              </a:defRPr>
            </a:lvl1pPr>
          </a:lstStyle>
          <a:p>
            <a:r>
              <a:rPr dirty="0"/>
              <a:t> - ENAC (pour </a:t>
            </a:r>
            <a:r>
              <a:rPr dirty="0" err="1"/>
              <a:t>devenir</a:t>
            </a:r>
            <a:r>
              <a:rPr dirty="0"/>
              <a:t> </a:t>
            </a:r>
            <a:r>
              <a:rPr dirty="0" err="1"/>
              <a:t>pilote</a:t>
            </a:r>
            <a:r>
              <a:rPr dirty="0"/>
              <a:t>, </a:t>
            </a:r>
            <a:r>
              <a:rPr dirty="0" err="1"/>
              <a:t>ou</a:t>
            </a:r>
            <a:r>
              <a:rPr dirty="0"/>
              <a:t> </a:t>
            </a:r>
            <a:r>
              <a:rPr dirty="0" err="1"/>
              <a:t>ingénieur</a:t>
            </a:r>
            <a:r>
              <a:rPr dirty="0"/>
              <a:t> dans </a:t>
            </a:r>
            <a:r>
              <a:rPr dirty="0" err="1"/>
              <a:t>l’aviation</a:t>
            </a:r>
            <a:r>
              <a:rPr dirty="0"/>
              <a:t> civile)</a:t>
            </a:r>
          </a:p>
        </p:txBody>
      </p:sp>
      <p:sp>
        <p:nvSpPr>
          <p:cNvPr id="4" name="En fin de PSI les élèves ont accès à de nombreux concours :">
            <a:extLst>
              <a:ext uri="{FF2B5EF4-FFF2-40B4-BE49-F238E27FC236}">
                <a16:creationId xmlns:a16="http://schemas.microsoft.com/office/drawing/2014/main" id="{57761DAA-0120-D273-CEAB-58B5A15D5E13}"/>
              </a:ext>
            </a:extLst>
          </p:cNvPr>
          <p:cNvSpPr txBox="1"/>
          <p:nvPr/>
        </p:nvSpPr>
        <p:spPr>
          <a:xfrm>
            <a:off x="779144" y="1781957"/>
            <a:ext cx="7785905"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000000"/>
                </a:solidFill>
              </a:defRPr>
            </a:lvl1pPr>
          </a:lstStyle>
          <a:p>
            <a:r>
              <a:rPr dirty="0"/>
              <a:t>En fin de PSI les </a:t>
            </a:r>
            <a:r>
              <a:rPr dirty="0" err="1"/>
              <a:t>élèves</a:t>
            </a:r>
            <a:r>
              <a:rPr dirty="0"/>
              <a:t> </a:t>
            </a:r>
            <a:r>
              <a:rPr dirty="0" err="1"/>
              <a:t>ont</a:t>
            </a:r>
            <a:r>
              <a:rPr dirty="0"/>
              <a:t> </a:t>
            </a:r>
            <a:r>
              <a:rPr dirty="0" err="1"/>
              <a:t>accès</a:t>
            </a:r>
            <a:r>
              <a:rPr dirty="0"/>
              <a:t> à de </a:t>
            </a:r>
            <a:r>
              <a:rPr dirty="0" err="1"/>
              <a:t>nombreux</a:t>
            </a:r>
            <a:r>
              <a:rPr dirty="0"/>
              <a:t> concours :</a:t>
            </a:r>
          </a:p>
        </p:txBody>
      </p:sp>
      <p:sp>
        <p:nvSpPr>
          <p:cNvPr id="5" name="- Centrale-Supélec">
            <a:extLst>
              <a:ext uri="{FF2B5EF4-FFF2-40B4-BE49-F238E27FC236}">
                <a16:creationId xmlns:a16="http://schemas.microsoft.com/office/drawing/2014/main" id="{CFDF978A-ABEA-03D7-F2BA-D645A54BC95C}"/>
              </a:ext>
            </a:extLst>
          </p:cNvPr>
          <p:cNvSpPr txBox="1"/>
          <p:nvPr/>
        </p:nvSpPr>
        <p:spPr>
          <a:xfrm>
            <a:off x="1155174" y="2673350"/>
            <a:ext cx="1834796"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rPr dirty="0">
                <a:solidFill>
                  <a:schemeClr val="accent4">
                    <a:lumMod val="75000"/>
                  </a:schemeClr>
                </a:solidFill>
              </a:rPr>
              <a:t>- Centrale-</a:t>
            </a:r>
            <a:r>
              <a:rPr dirty="0" err="1">
                <a:solidFill>
                  <a:schemeClr val="accent4">
                    <a:lumMod val="75000"/>
                  </a:schemeClr>
                </a:solidFill>
              </a:rPr>
              <a:t>Supélec</a:t>
            </a:r>
            <a:endParaRPr dirty="0">
              <a:solidFill>
                <a:schemeClr val="accent4">
                  <a:lumMod val="75000"/>
                </a:schemeClr>
              </a:solidFill>
            </a:endParaRPr>
          </a:p>
        </p:txBody>
      </p:sp>
      <p:sp>
        <p:nvSpPr>
          <p:cNvPr id="6" name="- Ecoles Normales Supérieures (ENS)">
            <a:extLst>
              <a:ext uri="{FF2B5EF4-FFF2-40B4-BE49-F238E27FC236}">
                <a16:creationId xmlns:a16="http://schemas.microsoft.com/office/drawing/2014/main" id="{B0075F34-E10C-30FC-52DC-E057050AAC03}"/>
              </a:ext>
            </a:extLst>
          </p:cNvPr>
          <p:cNvSpPr txBox="1"/>
          <p:nvPr/>
        </p:nvSpPr>
        <p:spPr>
          <a:xfrm>
            <a:off x="1076508" y="4612824"/>
            <a:ext cx="4940906" cy="4213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rPr dirty="0"/>
              <a:t>- </a:t>
            </a:r>
            <a:r>
              <a:rPr dirty="0" err="1">
                <a:solidFill>
                  <a:srgbClr val="FFC000"/>
                </a:solidFill>
              </a:rPr>
              <a:t>Ecoles</a:t>
            </a:r>
            <a:r>
              <a:rPr dirty="0">
                <a:solidFill>
                  <a:srgbClr val="FFC000"/>
                </a:solidFill>
              </a:rPr>
              <a:t> </a:t>
            </a:r>
            <a:r>
              <a:rPr dirty="0" err="1">
                <a:solidFill>
                  <a:srgbClr val="FFC000"/>
                </a:solidFill>
              </a:rPr>
              <a:t>Normales</a:t>
            </a:r>
            <a:r>
              <a:rPr dirty="0">
                <a:solidFill>
                  <a:srgbClr val="FFC000"/>
                </a:solidFill>
              </a:rPr>
              <a:t> </a:t>
            </a:r>
            <a:r>
              <a:rPr dirty="0" err="1">
                <a:solidFill>
                  <a:srgbClr val="FFC000"/>
                </a:solidFill>
              </a:rPr>
              <a:t>Supérieures</a:t>
            </a:r>
            <a:r>
              <a:rPr dirty="0">
                <a:solidFill>
                  <a:srgbClr val="FFC000"/>
                </a:solidFill>
              </a:rPr>
              <a:t> (ENS)</a:t>
            </a:r>
          </a:p>
        </p:txBody>
      </p:sp>
      <p:sp>
        <p:nvSpPr>
          <p:cNvPr id="7" name="- E3A-Polytech">
            <a:extLst>
              <a:ext uri="{FF2B5EF4-FFF2-40B4-BE49-F238E27FC236}">
                <a16:creationId xmlns:a16="http://schemas.microsoft.com/office/drawing/2014/main" id="{FAD0D2D3-8319-AC9E-E4B0-09B2A7C711B7}"/>
              </a:ext>
            </a:extLst>
          </p:cNvPr>
          <p:cNvSpPr txBox="1"/>
          <p:nvPr/>
        </p:nvSpPr>
        <p:spPr>
          <a:xfrm>
            <a:off x="1075670" y="4121238"/>
            <a:ext cx="2076411" cy="4213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rPr dirty="0"/>
              <a:t>- </a:t>
            </a:r>
            <a:r>
              <a:rPr dirty="0">
                <a:solidFill>
                  <a:srgbClr val="0E2A7C"/>
                </a:solidFill>
              </a:rPr>
              <a:t>E3A-Polytech</a:t>
            </a:r>
          </a:p>
        </p:txBody>
      </p:sp>
      <p:sp>
        <p:nvSpPr>
          <p:cNvPr id="8" name="- Mines-Ponts">
            <a:extLst>
              <a:ext uri="{FF2B5EF4-FFF2-40B4-BE49-F238E27FC236}">
                <a16:creationId xmlns:a16="http://schemas.microsoft.com/office/drawing/2014/main" id="{98C230A6-DA5B-2A48-B91B-413F55F9831D}"/>
              </a:ext>
            </a:extLst>
          </p:cNvPr>
          <p:cNvSpPr txBox="1"/>
          <p:nvPr/>
        </p:nvSpPr>
        <p:spPr>
          <a:xfrm>
            <a:off x="1082627" y="3590927"/>
            <a:ext cx="1907343"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t>- </a:t>
            </a:r>
            <a:r>
              <a:rPr>
                <a:solidFill>
                  <a:srgbClr val="00A249"/>
                </a:solidFill>
              </a:rPr>
              <a:t>Mines-Ponts</a:t>
            </a:r>
          </a:p>
        </p:txBody>
      </p:sp>
      <p:sp>
        <p:nvSpPr>
          <p:cNvPr id="9" name="- Ecole Polytechnique">
            <a:extLst>
              <a:ext uri="{FF2B5EF4-FFF2-40B4-BE49-F238E27FC236}">
                <a16:creationId xmlns:a16="http://schemas.microsoft.com/office/drawing/2014/main" id="{9210F8FB-3C5E-8801-B04C-C55639ECF332}"/>
              </a:ext>
            </a:extLst>
          </p:cNvPr>
          <p:cNvSpPr txBox="1"/>
          <p:nvPr/>
        </p:nvSpPr>
        <p:spPr>
          <a:xfrm>
            <a:off x="1097850" y="5162560"/>
            <a:ext cx="2914760"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rPr dirty="0"/>
              <a:t>- </a:t>
            </a:r>
            <a:r>
              <a:rPr dirty="0">
                <a:solidFill>
                  <a:srgbClr val="FF7C80"/>
                </a:solidFill>
              </a:rPr>
              <a:t>Ecole Polytechnique</a:t>
            </a:r>
          </a:p>
        </p:txBody>
      </p:sp>
      <p:sp>
        <p:nvSpPr>
          <p:cNvPr id="10" name="- Epita-Ipsa-Esme">
            <a:extLst>
              <a:ext uri="{FF2B5EF4-FFF2-40B4-BE49-F238E27FC236}">
                <a16:creationId xmlns:a16="http://schemas.microsoft.com/office/drawing/2014/main" id="{B51A740A-F0B1-343C-7FA8-35BA3326002C}"/>
              </a:ext>
            </a:extLst>
          </p:cNvPr>
          <p:cNvSpPr txBox="1"/>
          <p:nvPr/>
        </p:nvSpPr>
        <p:spPr>
          <a:xfrm>
            <a:off x="1097850" y="5692871"/>
            <a:ext cx="2466490"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t>- </a:t>
            </a:r>
            <a:r>
              <a:rPr>
                <a:solidFill>
                  <a:srgbClr val="0000FF"/>
                </a:solidFill>
              </a:rPr>
              <a:t>Epita-Ipsa-Esme</a:t>
            </a:r>
          </a:p>
        </p:txBody>
      </p:sp>
      <p:sp>
        <p:nvSpPr>
          <p:cNvPr id="11" name="- CCINP (Concours commun des INP)">
            <a:extLst>
              <a:ext uri="{FF2B5EF4-FFF2-40B4-BE49-F238E27FC236}">
                <a16:creationId xmlns:a16="http://schemas.microsoft.com/office/drawing/2014/main" id="{7CF7D596-339F-3B46-2F75-481BF99DAAF3}"/>
              </a:ext>
            </a:extLst>
          </p:cNvPr>
          <p:cNvSpPr txBox="1"/>
          <p:nvPr/>
        </p:nvSpPr>
        <p:spPr>
          <a:xfrm>
            <a:off x="1155174" y="2176462"/>
            <a:ext cx="5150159"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a:solidFill>
                  <a:srgbClr val="000000"/>
                </a:solidFill>
              </a:defRPr>
            </a:pPr>
            <a:r>
              <a:rPr dirty="0"/>
              <a:t>- </a:t>
            </a:r>
            <a:r>
              <a:rPr dirty="0">
                <a:solidFill>
                  <a:srgbClr val="0000FF"/>
                </a:solidFill>
              </a:rPr>
              <a:t>CCINP</a:t>
            </a:r>
            <a:r>
              <a:rPr dirty="0"/>
              <a:t> (Concours </a:t>
            </a:r>
            <a:r>
              <a:rPr dirty="0" err="1"/>
              <a:t>commun</a:t>
            </a:r>
            <a:r>
              <a:rPr dirty="0"/>
              <a:t> des INP) </a:t>
            </a:r>
          </a:p>
        </p:txBody>
      </p:sp>
      <p:pic>
        <p:nvPicPr>
          <p:cNvPr id="12" name="Image 11">
            <a:extLst>
              <a:ext uri="{FF2B5EF4-FFF2-40B4-BE49-F238E27FC236}">
                <a16:creationId xmlns:a16="http://schemas.microsoft.com/office/drawing/2014/main" id="{7A43F985-7D77-C179-FEF7-C29D0EDF72F4}"/>
              </a:ext>
            </a:extLst>
          </p:cNvPr>
          <p:cNvPicPr>
            <a:picLocks noChangeAspect="1"/>
          </p:cNvPicPr>
          <p:nvPr/>
        </p:nvPicPr>
        <p:blipFill rotWithShape="1">
          <a:blip r:embed="rId4">
            <a:clrChange>
              <a:clrFrom>
                <a:srgbClr val="FFFFFF"/>
              </a:clrFrom>
              <a:clrTo>
                <a:srgbClr val="FFFFFF">
                  <a:alpha val="0"/>
                </a:srgbClr>
              </a:clrTo>
            </a:clrChange>
          </a:blip>
          <a:srcRect l="2129" t="35818" r="76381" b="43637"/>
          <a:stretch/>
        </p:blipFill>
        <p:spPr>
          <a:xfrm>
            <a:off x="7225301" y="1840459"/>
            <a:ext cx="1527049" cy="1033272"/>
          </a:xfrm>
          <a:prstGeom prst="rect">
            <a:avLst/>
          </a:prstGeom>
        </p:spPr>
      </p:pic>
      <p:pic>
        <p:nvPicPr>
          <p:cNvPr id="13" name="Picture 4" descr="Intégrer l&amp;#39;école d&amp;#39;intelligence informatique EPITA après Prépa Scientifique">
            <a:extLst>
              <a:ext uri="{FF2B5EF4-FFF2-40B4-BE49-F238E27FC236}">
                <a16:creationId xmlns:a16="http://schemas.microsoft.com/office/drawing/2014/main" id="{C2136F84-A7F5-8439-7664-1AF594E47CD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6700" r="28000"/>
          <a:stretch/>
        </p:blipFill>
        <p:spPr bwMode="auto">
          <a:xfrm>
            <a:off x="5692149" y="2178283"/>
            <a:ext cx="1373913" cy="75526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4" name="Image 13">
            <a:extLst>
              <a:ext uri="{FF2B5EF4-FFF2-40B4-BE49-F238E27FC236}">
                <a16:creationId xmlns:a16="http://schemas.microsoft.com/office/drawing/2014/main" id="{16D1131A-1327-DE7C-DA73-99FF3FBAC70C}"/>
              </a:ext>
            </a:extLst>
          </p:cNvPr>
          <p:cNvPicPr>
            <a:picLocks noChangeAspect="1"/>
          </p:cNvPicPr>
          <p:nvPr/>
        </p:nvPicPr>
        <p:blipFill rotWithShape="1">
          <a:blip r:embed="rId4">
            <a:clrChange>
              <a:clrFrom>
                <a:srgbClr val="FFFFFF"/>
              </a:clrFrom>
              <a:clrTo>
                <a:srgbClr val="FFFFFF">
                  <a:alpha val="0"/>
                </a:srgbClr>
              </a:clrTo>
            </a:clrChange>
          </a:blip>
          <a:srcRect l="55147" t="70364" r="30569" b="3636"/>
          <a:stretch/>
        </p:blipFill>
        <p:spPr>
          <a:xfrm>
            <a:off x="7722101" y="2836457"/>
            <a:ext cx="678543" cy="874158"/>
          </a:xfrm>
          <a:prstGeom prst="rect">
            <a:avLst/>
          </a:prstGeom>
        </p:spPr>
      </p:pic>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118"/>
                                        </p:tgtEl>
                                        <p:attrNameLst>
                                          <p:attrName>style.visibility</p:attrName>
                                        </p:attrNameLst>
                                      </p:cBhvr>
                                      <p:to>
                                        <p:strVal val="visible"/>
                                      </p:to>
                                    </p:set>
                                    <p:anim calcmode="lin" valueType="num">
                                      <p:cBhvr>
                                        <p:cTn id="7" dur="500" fill="hold"/>
                                        <p:tgtEl>
                                          <p:spTgt spid="118"/>
                                        </p:tgtEl>
                                        <p:attrNameLst>
                                          <p:attrName>ppt_x</p:attrName>
                                        </p:attrNameLst>
                                      </p:cBhvr>
                                      <p:tavLst>
                                        <p:tav tm="0">
                                          <p:val>
                                            <p:strVal val="0-#ppt_w/2"/>
                                          </p:val>
                                        </p:tav>
                                        <p:tav tm="100000">
                                          <p:val>
                                            <p:strVal val="#ppt_x"/>
                                          </p:val>
                                        </p:tav>
                                      </p:tavLst>
                                    </p:anim>
                                    <p:anim calcmode="lin" valueType="num">
                                      <p:cBhvr>
                                        <p:cTn id="8" dur="500" fill="hold"/>
                                        <p:tgtEl>
                                          <p:spTgt spid="1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advAuto="0"/>
      <p:bldP spid="119" grpId="0" animBg="1" advAuto="0"/>
      <p:bldP spid="3" grpId="0" animBg="1" advAuto="0"/>
      <p:bldP spid="4" grpId="0" animBg="1" advAuto="0"/>
      <p:bldP spid="5" grpId="0" animBg="1" advAuto="0"/>
      <p:bldP spid="6" grpId="0" animBg="1" advAuto="0"/>
      <p:bldP spid="7" grpId="0" animBg="1" advAuto="0"/>
      <p:bldP spid="8" grpId="0" animBg="1" advAuto="0"/>
      <p:bldP spid="9" grpId="0" animBg="1" advAuto="0"/>
      <p:bldP spid="10" grpId="0" animBg="1" advAuto="0"/>
      <p:bldP spid="11"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es concours donnent accès…"/>
          <p:cNvSpPr txBox="1"/>
          <p:nvPr/>
        </p:nvSpPr>
        <p:spPr>
          <a:xfrm>
            <a:off x="834886" y="1700212"/>
            <a:ext cx="8146025" cy="44319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defRPr sz="2800" b="0">
                <a:solidFill>
                  <a:srgbClr val="000000"/>
                </a:solidFill>
              </a:defRPr>
            </a:pPr>
            <a:r>
              <a:rPr sz="2400" dirty="0" err="1"/>
              <a:t>Ces</a:t>
            </a:r>
            <a:r>
              <a:rPr sz="2400" dirty="0"/>
              <a:t> concours </a:t>
            </a:r>
            <a:r>
              <a:rPr sz="2400" dirty="0" err="1"/>
              <a:t>donnent</a:t>
            </a:r>
            <a:r>
              <a:rPr sz="2400" dirty="0"/>
              <a:t> </a:t>
            </a:r>
            <a:r>
              <a:rPr sz="2400" dirty="0" err="1"/>
              <a:t>accès</a:t>
            </a:r>
            <a:r>
              <a:rPr sz="2400" dirty="0"/>
              <a:t> </a:t>
            </a:r>
          </a:p>
          <a:p>
            <a:pPr>
              <a:defRPr sz="2800" b="0">
                <a:solidFill>
                  <a:srgbClr val="000000"/>
                </a:solidFill>
              </a:defRPr>
            </a:pPr>
            <a:r>
              <a:rPr sz="2400" dirty="0"/>
              <a:t>à plus de </a:t>
            </a:r>
            <a:r>
              <a:rPr sz="2400" dirty="0">
                <a:solidFill>
                  <a:srgbClr val="0070C0"/>
                </a:solidFill>
              </a:rPr>
              <a:t>200 écoles </a:t>
            </a:r>
            <a:r>
              <a:rPr sz="2400" dirty="0" err="1">
                <a:solidFill>
                  <a:srgbClr val="0070C0"/>
                </a:solidFill>
              </a:rPr>
              <a:t>d’ingénieur</a:t>
            </a:r>
            <a:r>
              <a:rPr sz="2400" dirty="0">
                <a:solidFill>
                  <a:srgbClr val="0070C0"/>
                </a:solidFill>
              </a:rPr>
              <a:t> </a:t>
            </a:r>
            <a:r>
              <a:rPr sz="2400" dirty="0"/>
              <a:t>!</a:t>
            </a:r>
          </a:p>
          <a:p>
            <a:pPr>
              <a:defRPr sz="2800" b="0">
                <a:solidFill>
                  <a:srgbClr val="000000"/>
                </a:solidFill>
              </a:defRPr>
            </a:pPr>
            <a:endParaRPr sz="2400" dirty="0"/>
          </a:p>
          <a:p>
            <a:pPr>
              <a:defRPr sz="2800" b="0">
                <a:solidFill>
                  <a:srgbClr val="000000"/>
                </a:solidFill>
              </a:defRPr>
            </a:pPr>
            <a:r>
              <a:rPr sz="2400" dirty="0"/>
              <a:t>En fin de PSI il y a environ </a:t>
            </a:r>
            <a:r>
              <a:rPr sz="2400" b="1" dirty="0">
                <a:solidFill>
                  <a:schemeClr val="accent4">
                    <a:lumMod val="75000"/>
                  </a:schemeClr>
                </a:solidFill>
              </a:rPr>
              <a:t>4000 places </a:t>
            </a:r>
            <a:endParaRPr lang="fr-RE" sz="2400" b="1" dirty="0">
              <a:solidFill>
                <a:schemeClr val="accent4">
                  <a:lumMod val="75000"/>
                </a:schemeClr>
              </a:solidFill>
            </a:endParaRPr>
          </a:p>
          <a:p>
            <a:pPr>
              <a:defRPr sz="2800" b="0">
                <a:solidFill>
                  <a:srgbClr val="000000"/>
                </a:solidFill>
              </a:defRPr>
            </a:pPr>
            <a:r>
              <a:rPr sz="2400" dirty="0"/>
              <a:t>dans  les écoles</a:t>
            </a:r>
            <a:r>
              <a:rPr lang="fr-RE" sz="2400" dirty="0"/>
              <a:t> a</a:t>
            </a:r>
            <a:r>
              <a:rPr sz="2400" dirty="0" err="1"/>
              <a:t>ccessibles</a:t>
            </a:r>
            <a:r>
              <a:rPr sz="2400" dirty="0"/>
              <a:t> par concours</a:t>
            </a:r>
            <a:endParaRPr lang="fr-RE" sz="2400" dirty="0"/>
          </a:p>
          <a:p>
            <a:pPr>
              <a:defRPr sz="2800" b="0">
                <a:solidFill>
                  <a:srgbClr val="000000"/>
                </a:solidFill>
              </a:defRPr>
            </a:pPr>
            <a:r>
              <a:rPr sz="2400" dirty="0"/>
              <a:t>pour environ </a:t>
            </a:r>
            <a:r>
              <a:rPr sz="2400" b="1" dirty="0">
                <a:solidFill>
                  <a:schemeClr val="accent2"/>
                </a:solidFill>
              </a:rPr>
              <a:t>5000 </a:t>
            </a:r>
            <a:r>
              <a:rPr sz="2400" b="1" dirty="0" err="1">
                <a:solidFill>
                  <a:schemeClr val="accent2"/>
                </a:solidFill>
              </a:rPr>
              <a:t>élèves</a:t>
            </a:r>
            <a:r>
              <a:rPr sz="2400" dirty="0"/>
              <a:t>.</a:t>
            </a:r>
          </a:p>
          <a:p>
            <a:pPr>
              <a:defRPr sz="2800" b="0">
                <a:solidFill>
                  <a:srgbClr val="000000"/>
                </a:solidFill>
              </a:defRPr>
            </a:pPr>
            <a:endParaRPr sz="1000" dirty="0"/>
          </a:p>
          <a:p>
            <a:pPr>
              <a:defRPr sz="2800" b="0">
                <a:solidFill>
                  <a:srgbClr val="000000"/>
                </a:solidFill>
              </a:defRPr>
            </a:pPr>
            <a:r>
              <a:rPr sz="2400" dirty="0"/>
              <a:t>En y </a:t>
            </a:r>
            <a:r>
              <a:rPr sz="2400" dirty="0" err="1"/>
              <a:t>ajoutant</a:t>
            </a:r>
            <a:r>
              <a:rPr sz="2400" dirty="0"/>
              <a:t> les écoles </a:t>
            </a:r>
            <a:r>
              <a:rPr sz="2400" dirty="0" err="1"/>
              <a:t>accessibles</a:t>
            </a:r>
            <a:r>
              <a:rPr sz="2400" dirty="0"/>
              <a:t> sur dossier </a:t>
            </a:r>
          </a:p>
          <a:p>
            <a:pPr>
              <a:defRPr sz="2800" b="0">
                <a:solidFill>
                  <a:srgbClr val="000000"/>
                </a:solidFill>
              </a:defRPr>
            </a:pPr>
            <a:r>
              <a:rPr sz="2400" dirty="0" err="1"/>
              <a:t>ou</a:t>
            </a:r>
            <a:r>
              <a:rPr sz="2400" dirty="0"/>
              <a:t> </a:t>
            </a:r>
            <a:r>
              <a:rPr sz="2400" dirty="0" err="1"/>
              <a:t>entretien</a:t>
            </a:r>
            <a:r>
              <a:rPr sz="2400" dirty="0"/>
              <a:t>, </a:t>
            </a:r>
            <a:r>
              <a:rPr sz="2800" b="1" i="1" dirty="0">
                <a:solidFill>
                  <a:srgbClr val="C00000"/>
                </a:solidFill>
              </a:rPr>
              <a:t>il y a </a:t>
            </a:r>
            <a:r>
              <a:rPr sz="2800" b="1" i="1" dirty="0" err="1">
                <a:solidFill>
                  <a:srgbClr val="C00000"/>
                </a:solidFill>
              </a:rPr>
              <a:t>aujourd’hui</a:t>
            </a:r>
            <a:r>
              <a:rPr sz="2800" b="1" i="1" dirty="0">
                <a:solidFill>
                  <a:srgbClr val="C00000"/>
                </a:solidFill>
              </a:rPr>
              <a:t> plus de places </a:t>
            </a:r>
            <a:r>
              <a:rPr sz="2800" b="1" i="1" dirty="0" err="1">
                <a:solidFill>
                  <a:srgbClr val="C00000"/>
                </a:solidFill>
              </a:rPr>
              <a:t>offertes</a:t>
            </a:r>
            <a:r>
              <a:rPr sz="2800" b="1" i="1" dirty="0">
                <a:solidFill>
                  <a:srgbClr val="C00000"/>
                </a:solidFill>
              </a:rPr>
              <a:t> </a:t>
            </a:r>
          </a:p>
          <a:p>
            <a:pPr>
              <a:defRPr sz="2800" b="0">
                <a:solidFill>
                  <a:srgbClr val="000000"/>
                </a:solidFill>
              </a:defRPr>
            </a:pPr>
            <a:r>
              <a:rPr sz="2800" b="1" i="1" dirty="0">
                <a:solidFill>
                  <a:srgbClr val="C00000"/>
                </a:solidFill>
              </a:rPr>
              <a:t>dans les écoles </a:t>
            </a:r>
            <a:r>
              <a:rPr sz="2800" b="1" i="1" dirty="0" err="1">
                <a:solidFill>
                  <a:srgbClr val="C00000"/>
                </a:solidFill>
              </a:rPr>
              <a:t>d’ingénieurs</a:t>
            </a:r>
            <a:r>
              <a:rPr sz="2800" b="1" i="1" dirty="0">
                <a:solidFill>
                  <a:srgbClr val="C00000"/>
                </a:solidFill>
              </a:rPr>
              <a:t> que de </a:t>
            </a:r>
            <a:r>
              <a:rPr sz="2800" b="1" i="1" dirty="0" err="1">
                <a:solidFill>
                  <a:srgbClr val="C00000"/>
                </a:solidFill>
              </a:rPr>
              <a:t>candidats</a:t>
            </a:r>
            <a:r>
              <a:rPr sz="2400" dirty="0"/>
              <a:t>.</a:t>
            </a:r>
            <a:endParaRPr sz="1600" dirty="0"/>
          </a:p>
          <a:p>
            <a:pPr>
              <a:defRPr sz="1400" b="0">
                <a:solidFill>
                  <a:srgbClr val="000000"/>
                </a:solidFill>
              </a:defRPr>
            </a:pPr>
            <a:endParaRPr sz="1600" dirty="0"/>
          </a:p>
          <a:p>
            <a:pPr>
              <a:defRPr sz="1800" b="0">
                <a:solidFill>
                  <a:srgbClr val="000000"/>
                </a:solidFill>
              </a:defRPr>
            </a:pPr>
            <a:r>
              <a:rPr sz="1600" dirty="0" err="1"/>
              <a:t>Chaque</a:t>
            </a:r>
            <a:r>
              <a:rPr sz="1600" dirty="0"/>
              <a:t> </a:t>
            </a:r>
            <a:r>
              <a:rPr sz="1600" dirty="0" err="1"/>
              <a:t>étudiant</a:t>
            </a:r>
            <a:r>
              <a:rPr sz="1600" dirty="0"/>
              <a:t> de PSI a </a:t>
            </a:r>
            <a:r>
              <a:rPr sz="1600" dirty="0" err="1"/>
              <a:t>aussi</a:t>
            </a:r>
            <a:r>
              <a:rPr sz="1600" dirty="0"/>
              <a:t> la </a:t>
            </a:r>
            <a:r>
              <a:rPr sz="1600" dirty="0" err="1"/>
              <a:t>possibilité</a:t>
            </a:r>
            <a:r>
              <a:rPr sz="1600" dirty="0"/>
              <a:t> </a:t>
            </a:r>
            <a:r>
              <a:rPr sz="1600" dirty="0" err="1"/>
              <a:t>d’obtenir</a:t>
            </a:r>
            <a:r>
              <a:rPr sz="1600" dirty="0"/>
              <a:t> des </a:t>
            </a:r>
          </a:p>
          <a:p>
            <a:pPr>
              <a:defRPr sz="1800" b="0" u="sng">
                <a:solidFill>
                  <a:srgbClr val="000000"/>
                </a:solidFill>
              </a:defRPr>
            </a:pPr>
            <a:r>
              <a:rPr sz="1600" dirty="0" err="1"/>
              <a:t>équivalences</a:t>
            </a:r>
            <a:r>
              <a:rPr sz="1600" dirty="0"/>
              <a:t> à </a:t>
            </a:r>
            <a:r>
              <a:rPr sz="1600" dirty="0" err="1"/>
              <a:t>l’Université</a:t>
            </a:r>
            <a:r>
              <a:rPr sz="1600" u="none" dirty="0"/>
              <a:t> et </a:t>
            </a:r>
            <a:r>
              <a:rPr sz="1600" u="none" dirty="0" err="1"/>
              <a:t>l’intégrer</a:t>
            </a:r>
            <a:r>
              <a:rPr sz="1600" u="none" dirty="0"/>
              <a:t> </a:t>
            </a:r>
            <a:r>
              <a:rPr sz="1600" u="none" dirty="0" err="1"/>
              <a:t>directement</a:t>
            </a:r>
            <a:r>
              <a:rPr sz="1600" u="none" dirty="0"/>
              <a:t> </a:t>
            </a:r>
            <a:r>
              <a:rPr sz="1600" u="none" dirty="0" err="1"/>
              <a:t>en</a:t>
            </a:r>
            <a:r>
              <a:rPr sz="1600" u="none" dirty="0"/>
              <a:t> L3.</a:t>
            </a:r>
          </a:p>
        </p:txBody>
      </p:sp>
      <p:sp>
        <p:nvSpPr>
          <p:cNvPr id="136" name="PCSI/PSI"/>
          <p:cNvSpPr txBox="1"/>
          <p:nvPr/>
        </p:nvSpPr>
        <p:spPr>
          <a:xfrm>
            <a:off x="7930832" y="6375400"/>
            <a:ext cx="1099186"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lvl1pPr>
          </a:lstStyle>
          <a:p>
            <a:r>
              <a:t>PCSI/PSI</a:t>
            </a:r>
          </a:p>
        </p:txBody>
      </p:sp>
      <p:pic>
        <p:nvPicPr>
          <p:cNvPr id="12" name="Image 11" descr="Peut être une image de texte">
            <a:extLst>
              <a:ext uri="{FF2B5EF4-FFF2-40B4-BE49-F238E27FC236}">
                <a16:creationId xmlns:a16="http://schemas.microsoft.com/office/drawing/2014/main" id="{A6BA7011-4F6C-416F-5D3A-342A5605C3E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27" t="26814" r="6877" b="23968"/>
          <a:stretch/>
        </p:blipFill>
        <p:spPr bwMode="auto">
          <a:xfrm>
            <a:off x="7428337" y="144044"/>
            <a:ext cx="1552575" cy="1532255"/>
          </a:xfrm>
          <a:prstGeom prst="rect">
            <a:avLst/>
          </a:prstGeom>
          <a:ln>
            <a:noFill/>
          </a:ln>
          <a:effectLst>
            <a:softEdge rad="112500"/>
          </a:effectLst>
          <a:extLst>
            <a:ext uri="{53640926-AAD7-44D8-BBD7-CCE9431645EC}">
              <a14:shadowObscured xmlns:a14="http://schemas.microsoft.com/office/drawing/2010/main"/>
            </a:ext>
          </a:extLst>
        </p:spPr>
      </p:pic>
      <p:pic>
        <p:nvPicPr>
          <p:cNvPr id="13" name="Picture 2" descr="Université, dessin animé, beauté. Université, vecteur, illustration,  beauté, dessin animé. | CanStock">
            <a:extLst>
              <a:ext uri="{FF2B5EF4-FFF2-40B4-BE49-F238E27FC236}">
                <a16:creationId xmlns:a16="http://schemas.microsoft.com/office/drawing/2014/main" id="{43776833-E331-17EC-C705-BDBF00F2685C}"/>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21000" b="4500"/>
          <a:stretch/>
        </p:blipFill>
        <p:spPr bwMode="auto">
          <a:xfrm>
            <a:off x="5682895" y="5482065"/>
            <a:ext cx="2316450" cy="96642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e 13">
            <a:extLst>
              <a:ext uri="{FF2B5EF4-FFF2-40B4-BE49-F238E27FC236}">
                <a16:creationId xmlns:a16="http://schemas.microsoft.com/office/drawing/2014/main" id="{12E21A9E-290B-BBFB-42F8-687289DB74BE}"/>
              </a:ext>
            </a:extLst>
          </p:cNvPr>
          <p:cNvGrpSpPr/>
          <p:nvPr/>
        </p:nvGrpSpPr>
        <p:grpSpPr>
          <a:xfrm>
            <a:off x="5044426" y="1722262"/>
            <a:ext cx="3985592" cy="1916808"/>
            <a:chOff x="76235" y="2121384"/>
            <a:chExt cx="9073780" cy="3751221"/>
          </a:xfrm>
        </p:grpSpPr>
        <p:pic>
          <p:nvPicPr>
            <p:cNvPr id="15" name="Picture 2" descr="Il y a toujours aussi peu de femmes chez les ingénieurs et d&amp;#39;hommes chez  les instituteurs - Le Figaro Etudiant">
              <a:extLst>
                <a:ext uri="{FF2B5EF4-FFF2-40B4-BE49-F238E27FC236}">
                  <a16:creationId xmlns:a16="http://schemas.microsoft.com/office/drawing/2014/main" id="{F1AA2398-75C8-BAF9-C5AB-3A47DA11B36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19394"/>
            <a:stretch/>
          </p:blipFill>
          <p:spPr bwMode="auto">
            <a:xfrm>
              <a:off x="76235" y="2429988"/>
              <a:ext cx="2754093" cy="192271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6" name="Picture 4" descr="Les personnels de la recherche | enseignementsup-recherche.gouv.fr">
              <a:extLst>
                <a:ext uri="{FF2B5EF4-FFF2-40B4-BE49-F238E27FC236}">
                  <a16:creationId xmlns:a16="http://schemas.microsoft.com/office/drawing/2014/main" id="{3DE611E4-D010-B192-AB93-04CB8FCDA9F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607" r="12196"/>
            <a:stretch/>
          </p:blipFill>
          <p:spPr bwMode="auto">
            <a:xfrm>
              <a:off x="2159511" y="3844684"/>
              <a:ext cx="2317984" cy="148397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7" name="Picture 6">
              <a:extLst>
                <a:ext uri="{FF2B5EF4-FFF2-40B4-BE49-F238E27FC236}">
                  <a16:creationId xmlns:a16="http://schemas.microsoft.com/office/drawing/2014/main" id="{55D774AD-DBE8-89B6-2060-93A725674FC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5550" t="3201" r="13500" b="18479"/>
            <a:stretch/>
          </p:blipFill>
          <p:spPr bwMode="auto">
            <a:xfrm>
              <a:off x="3959648" y="2697221"/>
              <a:ext cx="2250129" cy="16554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8" name="Image 17">
              <a:extLst>
                <a:ext uri="{FF2B5EF4-FFF2-40B4-BE49-F238E27FC236}">
                  <a16:creationId xmlns:a16="http://schemas.microsoft.com/office/drawing/2014/main" id="{B938624D-381D-128D-1212-BFD93CAE588D}"/>
                </a:ext>
              </a:extLst>
            </p:cNvPr>
            <p:cNvPicPr>
              <a:picLocks noChangeAspect="1"/>
            </p:cNvPicPr>
            <p:nvPr/>
          </p:nvPicPr>
          <p:blipFill>
            <a:blip r:embed="rId7"/>
            <a:stretch>
              <a:fillRect/>
            </a:stretch>
          </p:blipFill>
          <p:spPr>
            <a:xfrm>
              <a:off x="2302276" y="2121384"/>
              <a:ext cx="2249226" cy="1655486"/>
            </a:xfrm>
            <a:prstGeom prst="rect">
              <a:avLst/>
            </a:prstGeom>
            <a:ln>
              <a:noFill/>
            </a:ln>
            <a:effectLst>
              <a:softEdge rad="112500"/>
            </a:effectLst>
          </p:spPr>
        </p:pic>
        <p:pic>
          <p:nvPicPr>
            <p:cNvPr id="19" name="Image 18">
              <a:extLst>
                <a:ext uri="{FF2B5EF4-FFF2-40B4-BE49-F238E27FC236}">
                  <a16:creationId xmlns:a16="http://schemas.microsoft.com/office/drawing/2014/main" id="{2C07E040-C3EC-C995-C19E-E26A9E9E0F1C}"/>
                </a:ext>
              </a:extLst>
            </p:cNvPr>
            <p:cNvPicPr>
              <a:picLocks noChangeAspect="1"/>
            </p:cNvPicPr>
            <p:nvPr/>
          </p:nvPicPr>
          <p:blipFill>
            <a:blip r:embed="rId8"/>
            <a:stretch>
              <a:fillRect/>
            </a:stretch>
          </p:blipFill>
          <p:spPr>
            <a:xfrm>
              <a:off x="4193363" y="4299248"/>
              <a:ext cx="2575195" cy="1573357"/>
            </a:xfrm>
            <a:prstGeom prst="rect">
              <a:avLst/>
            </a:prstGeom>
            <a:ln>
              <a:noFill/>
            </a:ln>
            <a:effectLst>
              <a:softEdge rad="112500"/>
            </a:effectLst>
          </p:spPr>
        </p:pic>
        <p:pic>
          <p:nvPicPr>
            <p:cNvPr id="20" name="Image 19">
              <a:extLst>
                <a:ext uri="{FF2B5EF4-FFF2-40B4-BE49-F238E27FC236}">
                  <a16:creationId xmlns:a16="http://schemas.microsoft.com/office/drawing/2014/main" id="{22C524C5-2888-61A8-31D3-D52E21EEA023}"/>
                </a:ext>
              </a:extLst>
            </p:cNvPr>
            <p:cNvPicPr>
              <a:picLocks noChangeAspect="1"/>
            </p:cNvPicPr>
            <p:nvPr/>
          </p:nvPicPr>
          <p:blipFill>
            <a:blip r:embed="rId9"/>
            <a:stretch>
              <a:fillRect/>
            </a:stretch>
          </p:blipFill>
          <p:spPr>
            <a:xfrm>
              <a:off x="6499804" y="3409230"/>
              <a:ext cx="1967109" cy="1532016"/>
            </a:xfrm>
            <a:prstGeom prst="rect">
              <a:avLst/>
            </a:prstGeom>
            <a:ln>
              <a:noFill/>
            </a:ln>
            <a:effectLst>
              <a:softEdge rad="112500"/>
            </a:effectLst>
          </p:spPr>
        </p:pic>
        <p:pic>
          <p:nvPicPr>
            <p:cNvPr id="21" name="Image 20">
              <a:extLst>
                <a:ext uri="{FF2B5EF4-FFF2-40B4-BE49-F238E27FC236}">
                  <a16:creationId xmlns:a16="http://schemas.microsoft.com/office/drawing/2014/main" id="{E2B95370-2BC8-3032-317C-B9634A2DF6B2}"/>
                </a:ext>
              </a:extLst>
            </p:cNvPr>
            <p:cNvPicPr>
              <a:picLocks noChangeAspect="1"/>
            </p:cNvPicPr>
            <p:nvPr/>
          </p:nvPicPr>
          <p:blipFill>
            <a:blip r:embed="rId10"/>
            <a:stretch>
              <a:fillRect/>
            </a:stretch>
          </p:blipFill>
          <p:spPr>
            <a:xfrm>
              <a:off x="5562657" y="2176625"/>
              <a:ext cx="3587358" cy="1370999"/>
            </a:xfrm>
            <a:prstGeom prst="rect">
              <a:avLst/>
            </a:prstGeom>
            <a:ln>
              <a:noFill/>
            </a:ln>
            <a:effectLst>
              <a:softEdge rad="112500"/>
            </a:effectLst>
          </p:spPr>
        </p:pic>
      </p:grpSp>
      <p:sp>
        <p:nvSpPr>
          <p:cNvPr id="2" name="Concours et débouchés…">
            <a:extLst>
              <a:ext uri="{FF2B5EF4-FFF2-40B4-BE49-F238E27FC236}">
                <a16:creationId xmlns:a16="http://schemas.microsoft.com/office/drawing/2014/main" id="{1986E79F-49FD-3858-182C-80AA38DA34C6}"/>
              </a:ext>
            </a:extLst>
          </p:cNvPr>
          <p:cNvSpPr txBox="1"/>
          <p:nvPr/>
        </p:nvSpPr>
        <p:spPr>
          <a:xfrm>
            <a:off x="474970" y="251115"/>
            <a:ext cx="6953367" cy="1320874"/>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Concours et </a:t>
            </a:r>
            <a:r>
              <a:rPr dirty="0" err="1">
                <a:solidFill>
                  <a:sysClr val="windowText" lastClr="000000"/>
                </a:solidFill>
                <a:latin typeface="Helvetica" panose="020B0604020202020204" pitchFamily="34" charset="0"/>
                <a:cs typeface="Helvetica" panose="020B0604020202020204" pitchFamily="34" charset="0"/>
              </a:rPr>
              <a:t>débouchés</a:t>
            </a:r>
            <a:r>
              <a:rPr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après la PSI du Lycée Roland Garros</a:t>
            </a:r>
          </a:p>
        </p:txBody>
      </p:sp>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p:tmAbs val="0"/>
                                  </p:iterate>
                                  <p:childTnLst>
                                    <p:set>
                                      <p:cBhvr>
                                        <p:cTn id="6" fill="hold"/>
                                        <p:tgtEl>
                                          <p:spTgt spid="135"/>
                                        </p:tgtEl>
                                        <p:attrNameLst>
                                          <p:attrName>style.visibility</p:attrName>
                                        </p:attrNameLst>
                                      </p:cBhvr>
                                      <p:to>
                                        <p:strVal val="visible"/>
                                      </p:to>
                                    </p:set>
                                    <p:anim calcmode="lin" valueType="num">
                                      <p:cBhvr>
                                        <p:cTn id="7" dur="500" fill="hold"/>
                                        <p:tgtEl>
                                          <p:spTgt spid="135"/>
                                        </p:tgtEl>
                                        <p:attrNameLst>
                                          <p:attrName>ppt_x</p:attrName>
                                        </p:attrNameLst>
                                      </p:cBhvr>
                                      <p:tavLst>
                                        <p:tav tm="0">
                                          <p:val>
                                            <p:strVal val="#ppt_x"/>
                                          </p:val>
                                        </p:tav>
                                        <p:tav tm="100000">
                                          <p:val>
                                            <p:strVal val="#ppt_x"/>
                                          </p:val>
                                        </p:tav>
                                      </p:tavLst>
                                    </p:anim>
                                    <p:anim calcmode="lin" valueType="num">
                                      <p:cBhvr>
                                        <p:cTn id="8" dur="500" fill="hold"/>
                                        <p:tgtEl>
                                          <p:spTgt spid="13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iterate>
                                    <p:tmAbs val="0"/>
                                  </p:iterate>
                                  <p:childTnLst>
                                    <p:set>
                                      <p:cBhvr>
                                        <p:cTn id="11" fill="hold"/>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0-#ppt_w/2"/>
                                          </p:val>
                                        </p:tav>
                                        <p:tav tm="100000">
                                          <p:val>
                                            <p:strVal val="#ppt_x"/>
                                          </p:val>
                                        </p:tav>
                                      </p:tavLst>
                                    </p:anim>
                                    <p:anim calcmode="lin" valueType="num">
                                      <p:cBhvr>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advAuto="0"/>
      <p:bldP spid="2"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Quelques exemples de métiers après un cursus PCSI/PSI puis école d’ingénieur (il y en a des centaines d’autres) :"/>
          <p:cNvSpPr txBox="1"/>
          <p:nvPr/>
        </p:nvSpPr>
        <p:spPr>
          <a:xfrm>
            <a:off x="746262" y="1522291"/>
            <a:ext cx="8045630"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1800" b="0">
                <a:solidFill>
                  <a:srgbClr val="000000"/>
                </a:solidFill>
              </a:defRPr>
            </a:lvl1pPr>
          </a:lstStyle>
          <a:p>
            <a:r>
              <a:rPr dirty="0" err="1"/>
              <a:t>Quelques</a:t>
            </a:r>
            <a:r>
              <a:rPr dirty="0"/>
              <a:t> </a:t>
            </a:r>
            <a:r>
              <a:rPr dirty="0" err="1"/>
              <a:t>exemples</a:t>
            </a:r>
            <a:r>
              <a:rPr dirty="0"/>
              <a:t> de métiers après un cursus PCSI/PSI </a:t>
            </a:r>
            <a:r>
              <a:rPr dirty="0" err="1"/>
              <a:t>puis</a:t>
            </a:r>
            <a:r>
              <a:rPr dirty="0"/>
              <a:t> école </a:t>
            </a:r>
            <a:r>
              <a:rPr dirty="0" err="1"/>
              <a:t>d’ingénieur</a:t>
            </a:r>
            <a:r>
              <a:rPr dirty="0"/>
              <a:t> (il y </a:t>
            </a:r>
            <a:r>
              <a:rPr dirty="0" err="1"/>
              <a:t>en</a:t>
            </a:r>
            <a:r>
              <a:rPr dirty="0"/>
              <a:t> a des </a:t>
            </a:r>
            <a:r>
              <a:rPr dirty="0" err="1"/>
              <a:t>centaines</a:t>
            </a:r>
            <a:r>
              <a:rPr dirty="0"/>
              <a:t> </a:t>
            </a:r>
            <a:r>
              <a:rPr dirty="0" err="1"/>
              <a:t>d’autres</a:t>
            </a:r>
            <a:r>
              <a:rPr dirty="0"/>
              <a:t>) : </a:t>
            </a:r>
          </a:p>
        </p:txBody>
      </p:sp>
      <p:sp>
        <p:nvSpPr>
          <p:cNvPr id="140" name="PCSI/PSI"/>
          <p:cNvSpPr txBox="1"/>
          <p:nvPr/>
        </p:nvSpPr>
        <p:spPr>
          <a:xfrm>
            <a:off x="7930832" y="6375400"/>
            <a:ext cx="1099186"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lvl1pPr>
          </a:lstStyle>
          <a:p>
            <a:r>
              <a:t>PCSI/PSI</a:t>
            </a:r>
          </a:p>
        </p:txBody>
      </p:sp>
      <p:sp>
        <p:nvSpPr>
          <p:cNvPr id="141" name="Ingénieur dans l’aérospatiale.…"/>
          <p:cNvSpPr txBox="1"/>
          <p:nvPr/>
        </p:nvSpPr>
        <p:spPr>
          <a:xfrm>
            <a:off x="731975" y="2117725"/>
            <a:ext cx="8045630" cy="1015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indent="-457200">
              <a:buSzPct val="100000"/>
              <a:buChar char="-"/>
              <a:defRPr sz="2000" b="0">
                <a:solidFill>
                  <a:srgbClr val="FFC000"/>
                </a:solidFill>
              </a:defRPr>
            </a:pPr>
            <a:r>
              <a:rPr dirty="0" err="1">
                <a:solidFill>
                  <a:sysClr val="windowText" lastClr="000000"/>
                </a:solidFill>
              </a:rPr>
              <a:t>Ingénieur</a:t>
            </a:r>
            <a:r>
              <a:rPr dirty="0">
                <a:solidFill>
                  <a:sysClr val="windowText" lastClr="000000"/>
                </a:solidFill>
              </a:rPr>
              <a:t> dans </a:t>
            </a:r>
            <a:r>
              <a:rPr dirty="0" err="1">
                <a:solidFill>
                  <a:sysClr val="windowText" lastClr="000000"/>
                </a:solidFill>
              </a:rPr>
              <a:t>l’</a:t>
            </a:r>
            <a:r>
              <a:rPr dirty="0" err="1">
                <a:solidFill>
                  <a:srgbClr val="FF0000"/>
                </a:solidFill>
              </a:rPr>
              <a:t>aérospatiale</a:t>
            </a:r>
            <a:r>
              <a:rPr dirty="0">
                <a:solidFill>
                  <a:sysClr val="windowText" lastClr="000000"/>
                </a:solidFill>
              </a:rPr>
              <a:t>.</a:t>
            </a:r>
          </a:p>
          <a:p>
            <a:pPr marL="457200" indent="-457200">
              <a:buSzPct val="100000"/>
              <a:buChar char="-"/>
              <a:defRPr sz="2000" b="0">
                <a:solidFill>
                  <a:srgbClr val="0000BF"/>
                </a:solidFill>
              </a:defRPr>
            </a:pPr>
            <a:r>
              <a:rPr dirty="0" err="1">
                <a:solidFill>
                  <a:sysClr val="windowText" lastClr="000000"/>
                </a:solidFill>
              </a:rPr>
              <a:t>Ingénieur</a:t>
            </a:r>
            <a:r>
              <a:rPr dirty="0">
                <a:solidFill>
                  <a:sysClr val="windowText" lastClr="000000"/>
                </a:solidFill>
              </a:rPr>
              <a:t> </a:t>
            </a:r>
            <a:r>
              <a:rPr dirty="0" err="1">
                <a:solidFill>
                  <a:sysClr val="windowText" lastClr="000000"/>
                </a:solidFill>
              </a:rPr>
              <a:t>en</a:t>
            </a:r>
            <a:r>
              <a:rPr dirty="0">
                <a:solidFill>
                  <a:sysClr val="windowText" lastClr="000000"/>
                </a:solidFill>
              </a:rPr>
              <a:t> </a:t>
            </a:r>
            <a:r>
              <a:rPr dirty="0" err="1">
                <a:solidFill>
                  <a:srgbClr val="0070C0"/>
                </a:solidFill>
              </a:rPr>
              <a:t>génie</a:t>
            </a:r>
            <a:r>
              <a:rPr dirty="0">
                <a:solidFill>
                  <a:srgbClr val="0070C0"/>
                </a:solidFill>
              </a:rPr>
              <a:t> civil</a:t>
            </a:r>
            <a:r>
              <a:rPr dirty="0">
                <a:solidFill>
                  <a:sysClr val="windowText" lastClr="000000"/>
                </a:solidFill>
              </a:rPr>
              <a:t>, </a:t>
            </a:r>
            <a:r>
              <a:rPr dirty="0" err="1">
                <a:solidFill>
                  <a:sysClr val="windowText" lastClr="000000"/>
                </a:solidFill>
              </a:rPr>
              <a:t>travaillant</a:t>
            </a:r>
            <a:r>
              <a:rPr dirty="0">
                <a:solidFill>
                  <a:sysClr val="windowText" lastClr="000000"/>
                </a:solidFill>
              </a:rPr>
              <a:t> sur de grands </a:t>
            </a:r>
            <a:r>
              <a:rPr dirty="0" err="1">
                <a:solidFill>
                  <a:sysClr val="windowText" lastClr="000000"/>
                </a:solidFill>
              </a:rPr>
              <a:t>projets</a:t>
            </a:r>
            <a:r>
              <a:rPr dirty="0">
                <a:solidFill>
                  <a:sysClr val="windowText" lastClr="000000"/>
                </a:solidFill>
              </a:rPr>
              <a:t> (</a:t>
            </a:r>
            <a:r>
              <a:rPr dirty="0" err="1">
                <a:solidFill>
                  <a:sysClr val="windowText" lastClr="000000"/>
                </a:solidFill>
              </a:rPr>
              <a:t>ponts</a:t>
            </a:r>
            <a:r>
              <a:rPr dirty="0">
                <a:solidFill>
                  <a:sysClr val="windowText" lastClr="000000"/>
                </a:solidFill>
              </a:rPr>
              <a:t>, immeubles, routes, </a:t>
            </a:r>
            <a:r>
              <a:rPr dirty="0" err="1">
                <a:solidFill>
                  <a:sysClr val="windowText" lastClr="000000"/>
                </a:solidFill>
              </a:rPr>
              <a:t>ferroviaire</a:t>
            </a:r>
            <a:r>
              <a:rPr dirty="0">
                <a:solidFill>
                  <a:sysClr val="windowText" lastClr="000000"/>
                </a:solidFill>
              </a:rPr>
              <a:t>).</a:t>
            </a:r>
          </a:p>
        </p:txBody>
      </p:sp>
      <p:sp>
        <p:nvSpPr>
          <p:cNvPr id="142" name="Ingénieur en mécanique, travaillant dans l’industrie (automobile, aviation, robotique).…"/>
          <p:cNvSpPr txBox="1"/>
          <p:nvPr/>
        </p:nvSpPr>
        <p:spPr>
          <a:xfrm>
            <a:off x="774838" y="3063322"/>
            <a:ext cx="8045630" cy="1015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indent="-457200">
              <a:buSzPct val="100000"/>
              <a:buChar char="-"/>
              <a:defRPr sz="2000" b="0">
                <a:solidFill>
                  <a:srgbClr val="363636"/>
                </a:solidFill>
              </a:defRPr>
            </a:pPr>
            <a:r>
              <a:rPr dirty="0" err="1">
                <a:solidFill>
                  <a:sysClr val="windowText" lastClr="000000"/>
                </a:solidFill>
              </a:rPr>
              <a:t>Ingénieur</a:t>
            </a:r>
            <a:r>
              <a:rPr dirty="0">
                <a:solidFill>
                  <a:sysClr val="windowText" lastClr="000000"/>
                </a:solidFill>
              </a:rPr>
              <a:t> </a:t>
            </a:r>
            <a:r>
              <a:rPr dirty="0" err="1">
                <a:solidFill>
                  <a:sysClr val="windowText" lastClr="000000"/>
                </a:solidFill>
              </a:rPr>
              <a:t>en</a:t>
            </a:r>
            <a:r>
              <a:rPr dirty="0">
                <a:solidFill>
                  <a:sysClr val="windowText" lastClr="000000"/>
                </a:solidFill>
              </a:rPr>
              <a:t> </a:t>
            </a:r>
            <a:r>
              <a:rPr dirty="0" err="1">
                <a:solidFill>
                  <a:srgbClr val="0070C0"/>
                </a:solidFill>
              </a:rPr>
              <a:t>mécanique</a:t>
            </a:r>
            <a:r>
              <a:rPr dirty="0">
                <a:solidFill>
                  <a:sysClr val="windowText" lastClr="000000"/>
                </a:solidFill>
              </a:rPr>
              <a:t>, </a:t>
            </a:r>
            <a:r>
              <a:rPr dirty="0" err="1">
                <a:solidFill>
                  <a:sysClr val="windowText" lastClr="000000"/>
                </a:solidFill>
              </a:rPr>
              <a:t>travaillant</a:t>
            </a:r>
            <a:r>
              <a:rPr dirty="0">
                <a:solidFill>
                  <a:sysClr val="windowText" lastClr="000000"/>
                </a:solidFill>
              </a:rPr>
              <a:t> dans </a:t>
            </a:r>
            <a:r>
              <a:rPr dirty="0" err="1">
                <a:solidFill>
                  <a:sysClr val="windowText" lastClr="000000"/>
                </a:solidFill>
              </a:rPr>
              <a:t>l’industrie</a:t>
            </a:r>
            <a:r>
              <a:rPr dirty="0">
                <a:solidFill>
                  <a:sysClr val="windowText" lastClr="000000"/>
                </a:solidFill>
              </a:rPr>
              <a:t> (automobile, aviation, </a:t>
            </a:r>
            <a:r>
              <a:rPr dirty="0" err="1">
                <a:solidFill>
                  <a:sysClr val="windowText" lastClr="000000"/>
                </a:solidFill>
              </a:rPr>
              <a:t>robotique</a:t>
            </a:r>
            <a:r>
              <a:rPr dirty="0">
                <a:solidFill>
                  <a:sysClr val="windowText" lastClr="000000"/>
                </a:solidFill>
              </a:rPr>
              <a:t>).</a:t>
            </a:r>
          </a:p>
          <a:p>
            <a:pPr marL="457200" indent="-457200">
              <a:buSzPct val="100000"/>
              <a:buChar char="-"/>
              <a:defRPr sz="2000" b="0">
                <a:solidFill>
                  <a:srgbClr val="009900"/>
                </a:solidFill>
              </a:defRPr>
            </a:pPr>
            <a:r>
              <a:rPr dirty="0" err="1">
                <a:solidFill>
                  <a:srgbClr val="FF0000"/>
                </a:solidFill>
              </a:rPr>
              <a:t>Pilote</a:t>
            </a:r>
            <a:r>
              <a:rPr dirty="0">
                <a:solidFill>
                  <a:srgbClr val="FF0000"/>
                </a:solidFill>
              </a:rPr>
              <a:t> de </a:t>
            </a:r>
            <a:r>
              <a:rPr dirty="0" err="1">
                <a:solidFill>
                  <a:srgbClr val="FF0000"/>
                </a:solidFill>
              </a:rPr>
              <a:t>ligne</a:t>
            </a:r>
            <a:r>
              <a:rPr dirty="0">
                <a:solidFill>
                  <a:sysClr val="windowText" lastClr="000000"/>
                </a:solidFill>
              </a:rPr>
              <a:t>, </a:t>
            </a:r>
            <a:r>
              <a:rPr dirty="0" err="1">
                <a:solidFill>
                  <a:sysClr val="windowText" lastClr="000000"/>
                </a:solidFill>
              </a:rPr>
              <a:t>ingénieur</a:t>
            </a:r>
            <a:r>
              <a:rPr dirty="0">
                <a:solidFill>
                  <a:sysClr val="windowText" lastClr="000000"/>
                </a:solidFill>
              </a:rPr>
              <a:t> dans </a:t>
            </a:r>
            <a:r>
              <a:rPr dirty="0" err="1">
                <a:solidFill>
                  <a:sysClr val="windowText" lastClr="000000"/>
                </a:solidFill>
              </a:rPr>
              <a:t>l’aviation</a:t>
            </a:r>
            <a:r>
              <a:rPr dirty="0">
                <a:solidFill>
                  <a:sysClr val="windowText" lastClr="000000"/>
                </a:solidFill>
              </a:rPr>
              <a:t> civile (</a:t>
            </a:r>
            <a:r>
              <a:rPr b="1" dirty="0">
                <a:solidFill>
                  <a:sysClr val="windowText" lastClr="000000"/>
                </a:solidFill>
              </a:rPr>
              <a:t>2 admis </a:t>
            </a:r>
            <a:r>
              <a:rPr b="1" dirty="0" err="1">
                <a:solidFill>
                  <a:sysClr val="windowText" lastClr="000000"/>
                </a:solidFill>
              </a:rPr>
              <a:t>en</a:t>
            </a:r>
            <a:r>
              <a:rPr b="1" dirty="0">
                <a:solidFill>
                  <a:sysClr val="windowText" lastClr="000000"/>
                </a:solidFill>
              </a:rPr>
              <a:t> 2023</a:t>
            </a:r>
            <a:r>
              <a:rPr dirty="0">
                <a:solidFill>
                  <a:sysClr val="windowText" lastClr="000000"/>
                </a:solidFill>
              </a:rPr>
              <a:t>!!</a:t>
            </a:r>
            <a:r>
              <a:rPr lang="fr-RE" dirty="0">
                <a:solidFill>
                  <a:sysClr val="windowText" lastClr="000000"/>
                </a:solidFill>
              </a:rPr>
              <a:t>)</a:t>
            </a:r>
            <a:endParaRPr dirty="0">
              <a:solidFill>
                <a:sysClr val="windowText" lastClr="000000"/>
              </a:solidFill>
            </a:endParaRPr>
          </a:p>
        </p:txBody>
      </p:sp>
      <p:sp>
        <p:nvSpPr>
          <p:cNvPr id="143" name="Ingénieur de recherche, dans le privé ou le public : CNRS, Universités,……"/>
          <p:cNvSpPr txBox="1"/>
          <p:nvPr/>
        </p:nvSpPr>
        <p:spPr>
          <a:xfrm>
            <a:off x="731975" y="4078287"/>
            <a:ext cx="8074205"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indent="-457200">
              <a:buSzPct val="100000"/>
              <a:buChar char="-"/>
              <a:defRPr sz="2000"/>
            </a:pPr>
            <a:r>
              <a:rPr dirty="0" err="1">
                <a:solidFill>
                  <a:sysClr val="windowText" lastClr="000000"/>
                </a:solidFill>
              </a:rPr>
              <a:t>Ingénieur</a:t>
            </a:r>
            <a:r>
              <a:rPr dirty="0">
                <a:solidFill>
                  <a:sysClr val="windowText" lastClr="000000"/>
                </a:solidFill>
              </a:rPr>
              <a:t> de recherche, dans le </a:t>
            </a:r>
            <a:r>
              <a:rPr dirty="0" err="1">
                <a:solidFill>
                  <a:sysClr val="windowText" lastClr="000000"/>
                </a:solidFill>
              </a:rPr>
              <a:t>privé</a:t>
            </a:r>
            <a:r>
              <a:rPr dirty="0">
                <a:solidFill>
                  <a:sysClr val="windowText" lastClr="000000"/>
                </a:solidFill>
              </a:rPr>
              <a:t> </a:t>
            </a:r>
            <a:r>
              <a:rPr dirty="0" err="1">
                <a:solidFill>
                  <a:sysClr val="windowText" lastClr="000000"/>
                </a:solidFill>
              </a:rPr>
              <a:t>ou</a:t>
            </a:r>
            <a:r>
              <a:rPr dirty="0">
                <a:solidFill>
                  <a:sysClr val="windowText" lastClr="000000"/>
                </a:solidFill>
              </a:rPr>
              <a:t> le public : CNRS, </a:t>
            </a:r>
            <a:r>
              <a:rPr dirty="0" err="1">
                <a:solidFill>
                  <a:sysClr val="windowText" lastClr="000000"/>
                </a:solidFill>
              </a:rPr>
              <a:t>Universités</a:t>
            </a:r>
            <a:r>
              <a:rPr dirty="0">
                <a:solidFill>
                  <a:sysClr val="windowText" lastClr="000000"/>
                </a:solidFill>
              </a:rPr>
              <a:t>,…</a:t>
            </a:r>
          </a:p>
          <a:p>
            <a:pPr marL="457200" indent="-457200">
              <a:buSzPct val="100000"/>
              <a:buChar char="-"/>
              <a:defRPr sz="2000">
                <a:solidFill>
                  <a:srgbClr val="000000"/>
                </a:solidFill>
              </a:defRPr>
            </a:pPr>
            <a:r>
              <a:rPr dirty="0" err="1">
                <a:solidFill>
                  <a:sysClr val="windowText" lastClr="000000"/>
                </a:solidFill>
              </a:rPr>
              <a:t>Ingénieur</a:t>
            </a:r>
            <a:r>
              <a:rPr dirty="0">
                <a:solidFill>
                  <a:sysClr val="windowText" lastClr="000000"/>
                </a:solidFill>
              </a:rPr>
              <a:t> </a:t>
            </a:r>
            <a:r>
              <a:rPr dirty="0">
                <a:solidFill>
                  <a:srgbClr val="FFC000"/>
                </a:solidFill>
              </a:rPr>
              <a:t>financier</a:t>
            </a:r>
            <a:r>
              <a:rPr dirty="0">
                <a:solidFill>
                  <a:sysClr val="windowText" lastClr="000000"/>
                </a:solidFill>
              </a:rPr>
              <a:t>, </a:t>
            </a:r>
            <a:r>
              <a:rPr dirty="0" err="1">
                <a:solidFill>
                  <a:sysClr val="windowText" lastClr="000000"/>
                </a:solidFill>
              </a:rPr>
              <a:t>spécialiste</a:t>
            </a:r>
            <a:r>
              <a:rPr dirty="0">
                <a:solidFill>
                  <a:sysClr val="windowText" lastClr="000000"/>
                </a:solidFill>
              </a:rPr>
              <a:t> du trading et de </a:t>
            </a:r>
            <a:r>
              <a:rPr dirty="0" err="1">
                <a:solidFill>
                  <a:sysClr val="windowText" lastClr="000000"/>
                </a:solidFill>
              </a:rPr>
              <a:t>l’analyse</a:t>
            </a:r>
            <a:r>
              <a:rPr dirty="0">
                <a:solidFill>
                  <a:sysClr val="windowText" lastClr="000000"/>
                </a:solidFill>
              </a:rPr>
              <a:t> financière des </a:t>
            </a:r>
            <a:r>
              <a:rPr dirty="0" err="1">
                <a:solidFill>
                  <a:sysClr val="windowText" lastClr="000000"/>
                </a:solidFill>
              </a:rPr>
              <a:t>marchés</a:t>
            </a:r>
            <a:r>
              <a:rPr dirty="0">
                <a:solidFill>
                  <a:sysClr val="windowText" lastClr="000000"/>
                </a:solidFill>
              </a:rPr>
              <a:t> </a:t>
            </a:r>
            <a:r>
              <a:rPr dirty="0" err="1">
                <a:solidFill>
                  <a:sysClr val="windowText" lastClr="000000"/>
                </a:solidFill>
              </a:rPr>
              <a:t>boursiers</a:t>
            </a:r>
            <a:r>
              <a:rPr dirty="0">
                <a:solidFill>
                  <a:sysClr val="windowText" lastClr="000000"/>
                </a:solidFill>
              </a:rPr>
              <a:t>.</a:t>
            </a:r>
          </a:p>
          <a:p>
            <a:pPr marL="457200" indent="-457200">
              <a:buSzPct val="100000"/>
              <a:buChar char="-"/>
              <a:defRPr sz="2000">
                <a:solidFill>
                  <a:srgbClr val="FF0000"/>
                </a:solidFill>
              </a:defRPr>
            </a:pPr>
            <a:r>
              <a:rPr dirty="0" err="1">
                <a:solidFill>
                  <a:sysClr val="windowText" lastClr="000000"/>
                </a:solidFill>
              </a:rPr>
              <a:t>Ingénieur</a:t>
            </a:r>
            <a:r>
              <a:rPr dirty="0">
                <a:solidFill>
                  <a:sysClr val="windowText" lastClr="000000"/>
                </a:solidFill>
              </a:rPr>
              <a:t> </a:t>
            </a:r>
            <a:r>
              <a:rPr dirty="0" err="1">
                <a:solidFill>
                  <a:srgbClr val="00B050"/>
                </a:solidFill>
              </a:rPr>
              <a:t>informaticien</a:t>
            </a:r>
            <a:r>
              <a:rPr dirty="0">
                <a:solidFill>
                  <a:sysClr val="windowText" lastClr="000000"/>
                </a:solidFill>
              </a:rPr>
              <a:t>, </a:t>
            </a:r>
            <a:r>
              <a:rPr dirty="0" err="1">
                <a:solidFill>
                  <a:sysClr val="windowText" lastClr="000000"/>
                </a:solidFill>
              </a:rPr>
              <a:t>spécialiste</a:t>
            </a:r>
            <a:r>
              <a:rPr dirty="0">
                <a:solidFill>
                  <a:sysClr val="windowText" lastClr="000000"/>
                </a:solidFill>
              </a:rPr>
              <a:t> des réseaux, des </a:t>
            </a:r>
            <a:r>
              <a:rPr dirty="0" err="1">
                <a:solidFill>
                  <a:sysClr val="windowText" lastClr="000000"/>
                </a:solidFill>
              </a:rPr>
              <a:t>systèmes</a:t>
            </a:r>
            <a:r>
              <a:rPr dirty="0">
                <a:solidFill>
                  <a:sysClr val="windowText" lastClr="000000"/>
                </a:solidFill>
              </a:rPr>
              <a:t> </a:t>
            </a:r>
            <a:r>
              <a:rPr dirty="0" err="1">
                <a:solidFill>
                  <a:sysClr val="windowText" lastClr="000000"/>
                </a:solidFill>
              </a:rPr>
              <a:t>d’information</a:t>
            </a:r>
            <a:r>
              <a:rPr dirty="0">
                <a:solidFill>
                  <a:sysClr val="windowText" lastClr="000000"/>
                </a:solidFill>
              </a:rPr>
              <a:t>, du </a:t>
            </a:r>
            <a:r>
              <a:rPr dirty="0">
                <a:solidFill>
                  <a:srgbClr val="00B050"/>
                </a:solidFill>
              </a:rPr>
              <a:t>big data</a:t>
            </a:r>
            <a:r>
              <a:rPr dirty="0">
                <a:solidFill>
                  <a:sysClr val="windowText" lastClr="000000"/>
                </a:solidFill>
              </a:rPr>
              <a:t>,…</a:t>
            </a:r>
          </a:p>
        </p:txBody>
      </p:sp>
      <p:sp>
        <p:nvSpPr>
          <p:cNvPr id="144" name="Ingénieur Telecom, chargé de nouvelles technologies de communication.…"/>
          <p:cNvSpPr txBox="1"/>
          <p:nvPr/>
        </p:nvSpPr>
        <p:spPr>
          <a:xfrm>
            <a:off x="731975" y="5678487"/>
            <a:ext cx="8105955" cy="1015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indent="-457200">
              <a:buSzPct val="100000"/>
              <a:buChar char="-"/>
              <a:defRPr sz="2000" b="0">
                <a:solidFill>
                  <a:srgbClr val="FFFF00"/>
                </a:solidFill>
              </a:defRPr>
            </a:pPr>
            <a:r>
              <a:rPr dirty="0" err="1">
                <a:solidFill>
                  <a:sysClr val="windowText" lastClr="000000"/>
                </a:solidFill>
              </a:rPr>
              <a:t>Ingénieur</a:t>
            </a:r>
            <a:r>
              <a:rPr dirty="0">
                <a:solidFill>
                  <a:sysClr val="windowText" lastClr="000000"/>
                </a:solidFill>
              </a:rPr>
              <a:t> </a:t>
            </a:r>
            <a:r>
              <a:rPr dirty="0">
                <a:solidFill>
                  <a:srgbClr val="00B050"/>
                </a:solidFill>
              </a:rPr>
              <a:t>Telecom</a:t>
            </a:r>
            <a:r>
              <a:rPr dirty="0">
                <a:solidFill>
                  <a:sysClr val="windowText" lastClr="000000"/>
                </a:solidFill>
              </a:rPr>
              <a:t>, chargé de </a:t>
            </a:r>
            <a:r>
              <a:rPr dirty="0" err="1">
                <a:solidFill>
                  <a:srgbClr val="00B050"/>
                </a:solidFill>
              </a:rPr>
              <a:t>nouvelles</a:t>
            </a:r>
            <a:r>
              <a:rPr dirty="0">
                <a:solidFill>
                  <a:srgbClr val="00B050"/>
                </a:solidFill>
              </a:rPr>
              <a:t> technologies </a:t>
            </a:r>
            <a:r>
              <a:rPr dirty="0">
                <a:solidFill>
                  <a:sysClr val="windowText" lastClr="000000"/>
                </a:solidFill>
              </a:rPr>
              <a:t>de communication.</a:t>
            </a:r>
          </a:p>
          <a:p>
            <a:pPr marL="457200" indent="-457200">
              <a:buSzPct val="100000"/>
              <a:buChar char="-"/>
              <a:defRPr sz="2000" b="0">
                <a:solidFill>
                  <a:srgbClr val="FFFFFF"/>
                </a:solidFill>
              </a:defRPr>
            </a:pPr>
            <a:r>
              <a:rPr dirty="0" err="1">
                <a:solidFill>
                  <a:sysClr val="windowText" lastClr="000000"/>
                </a:solidFill>
              </a:rPr>
              <a:t>Ingénieur</a:t>
            </a:r>
            <a:r>
              <a:rPr dirty="0">
                <a:solidFill>
                  <a:sysClr val="windowText" lastClr="000000"/>
                </a:solidFill>
              </a:rPr>
              <a:t> </a:t>
            </a:r>
            <a:r>
              <a:rPr dirty="0" err="1">
                <a:solidFill>
                  <a:srgbClr val="FFC000"/>
                </a:solidFill>
              </a:rPr>
              <a:t>technico</a:t>
            </a:r>
            <a:r>
              <a:rPr dirty="0">
                <a:solidFill>
                  <a:srgbClr val="FFC000"/>
                </a:solidFill>
              </a:rPr>
              <a:t>-commercial</a:t>
            </a:r>
            <a:r>
              <a:rPr dirty="0">
                <a:solidFill>
                  <a:sysClr val="windowText" lastClr="000000"/>
                </a:solidFill>
              </a:rPr>
              <a:t>, </a:t>
            </a:r>
            <a:r>
              <a:rPr dirty="0" err="1">
                <a:solidFill>
                  <a:sysClr val="windowText" lastClr="000000"/>
                </a:solidFill>
              </a:rPr>
              <a:t>en</a:t>
            </a:r>
            <a:r>
              <a:rPr dirty="0">
                <a:solidFill>
                  <a:sysClr val="windowText" lastClr="000000"/>
                </a:solidFill>
              </a:rPr>
              <a:t> interaction avec le </a:t>
            </a:r>
            <a:r>
              <a:rPr dirty="0" err="1">
                <a:solidFill>
                  <a:sysClr val="windowText" lastClr="000000"/>
                </a:solidFill>
              </a:rPr>
              <a:t>domaine</a:t>
            </a:r>
            <a:r>
              <a:rPr dirty="0">
                <a:solidFill>
                  <a:sysClr val="windowText" lastClr="000000"/>
                </a:solidFill>
              </a:rPr>
              <a:t> </a:t>
            </a:r>
            <a:r>
              <a:rPr dirty="0" err="1">
                <a:solidFill>
                  <a:sysClr val="windowText" lastClr="000000"/>
                </a:solidFill>
              </a:rPr>
              <a:t>scientifique</a:t>
            </a:r>
            <a:r>
              <a:rPr dirty="0">
                <a:solidFill>
                  <a:sysClr val="windowText" lastClr="000000"/>
                </a:solidFill>
              </a:rPr>
              <a:t> et </a:t>
            </a:r>
            <a:r>
              <a:rPr dirty="0" err="1">
                <a:solidFill>
                  <a:sysClr val="windowText" lastClr="000000"/>
                </a:solidFill>
              </a:rPr>
              <a:t>celui</a:t>
            </a:r>
            <a:r>
              <a:rPr dirty="0">
                <a:solidFill>
                  <a:sysClr val="windowText" lastClr="000000"/>
                </a:solidFill>
              </a:rPr>
              <a:t> de la vente.</a:t>
            </a:r>
          </a:p>
        </p:txBody>
      </p:sp>
      <p:pic>
        <p:nvPicPr>
          <p:cNvPr id="2" name="Image 1" descr="Peut être une image de texte">
            <a:extLst>
              <a:ext uri="{FF2B5EF4-FFF2-40B4-BE49-F238E27FC236}">
                <a16:creationId xmlns:a16="http://schemas.microsoft.com/office/drawing/2014/main" id="{CC12C047-F721-0611-1F42-4A9F6D3CDC6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27" t="26814" r="6877" b="23968"/>
          <a:stretch/>
        </p:blipFill>
        <p:spPr bwMode="auto">
          <a:xfrm>
            <a:off x="7428337" y="144044"/>
            <a:ext cx="1552575" cy="1532255"/>
          </a:xfrm>
          <a:prstGeom prst="rect">
            <a:avLst/>
          </a:prstGeom>
          <a:ln>
            <a:noFill/>
          </a:ln>
          <a:effectLst>
            <a:softEdge rad="112500"/>
          </a:effectLst>
          <a:extLst>
            <a:ext uri="{53640926-AAD7-44D8-BBD7-CCE9431645EC}">
              <a14:shadowObscured xmlns:a14="http://schemas.microsoft.com/office/drawing/2010/main"/>
            </a:ext>
          </a:extLst>
        </p:spPr>
      </p:pic>
      <p:sp>
        <p:nvSpPr>
          <p:cNvPr id="3" name="Concours et débouchés…">
            <a:extLst>
              <a:ext uri="{FF2B5EF4-FFF2-40B4-BE49-F238E27FC236}">
                <a16:creationId xmlns:a16="http://schemas.microsoft.com/office/drawing/2014/main" id="{009AB85B-CA81-40F6-A3F3-D37852AF8677}"/>
              </a:ext>
            </a:extLst>
          </p:cNvPr>
          <p:cNvSpPr txBox="1"/>
          <p:nvPr/>
        </p:nvSpPr>
        <p:spPr>
          <a:xfrm>
            <a:off x="474970" y="251115"/>
            <a:ext cx="6953367" cy="1320874"/>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Concours et </a:t>
            </a:r>
            <a:r>
              <a:rPr dirty="0" err="1">
                <a:solidFill>
                  <a:sysClr val="windowText" lastClr="000000"/>
                </a:solidFill>
                <a:latin typeface="Helvetica" panose="020B0604020202020204" pitchFamily="34" charset="0"/>
                <a:cs typeface="Helvetica" panose="020B0604020202020204" pitchFamily="34" charset="0"/>
              </a:rPr>
              <a:t>débouchés</a:t>
            </a:r>
            <a:r>
              <a:rPr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dirty="0">
                <a:solidFill>
                  <a:sysClr val="windowText" lastClr="000000"/>
                </a:solidFill>
                <a:latin typeface="Helvetica" panose="020B0604020202020204" pitchFamily="34" charset="0"/>
                <a:cs typeface="Helvetica" panose="020B0604020202020204" pitchFamily="34" charset="0"/>
              </a:rPr>
              <a:t>après la PSI du Lycée Roland Garros</a:t>
            </a:r>
          </a:p>
        </p:txBody>
      </p:sp>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p:tmAbs val="0"/>
                                  </p:iterate>
                                  <p:childTnLst>
                                    <p:set>
                                      <p:cBhvr>
                                        <p:cTn id="6" fill="hold"/>
                                        <p:tgtEl>
                                          <p:spTgt spid="139"/>
                                        </p:tgtEl>
                                        <p:attrNameLst>
                                          <p:attrName>style.visibility</p:attrName>
                                        </p:attrNameLst>
                                      </p:cBhvr>
                                      <p:to>
                                        <p:strVal val="visible"/>
                                      </p:to>
                                    </p:set>
                                    <p:anim calcmode="lin" valueType="num">
                                      <p:cBhvr>
                                        <p:cTn id="7" dur="500" fill="hold"/>
                                        <p:tgtEl>
                                          <p:spTgt spid="139"/>
                                        </p:tgtEl>
                                        <p:attrNameLst>
                                          <p:attrName>ppt_x</p:attrName>
                                        </p:attrNameLst>
                                      </p:cBhvr>
                                      <p:tavLst>
                                        <p:tav tm="0">
                                          <p:val>
                                            <p:strVal val="#ppt_x"/>
                                          </p:val>
                                        </p:tav>
                                        <p:tav tm="100000">
                                          <p:val>
                                            <p:strVal val="#ppt_x"/>
                                          </p:val>
                                        </p:tav>
                                      </p:tavLst>
                                    </p:anim>
                                    <p:anim calcmode="lin" valueType="num">
                                      <p:cBhvr>
                                        <p:cTn id="8" dur="500" fill="hold"/>
                                        <p:tgtEl>
                                          <p:spTgt spid="13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iterate>
                                    <p:tmAbs val="0"/>
                                  </p:iterate>
                                  <p:childTnLst>
                                    <p:set>
                                      <p:cBhvr>
                                        <p:cTn id="11" fill="hold"/>
                                        <p:tgtEl>
                                          <p:spTgt spid="3"/>
                                        </p:tgtEl>
                                        <p:attrNameLst>
                                          <p:attrName>style.visibility</p:attrName>
                                        </p:attrNameLst>
                                      </p:cBhvr>
                                      <p:to>
                                        <p:strVal val="visible"/>
                                      </p:to>
                                    </p:set>
                                    <p:anim calcmode="lin" valueType="num">
                                      <p:cBhvr>
                                        <p:cTn id="12" dur="500" fill="hold"/>
                                        <p:tgtEl>
                                          <p:spTgt spid="3"/>
                                        </p:tgtEl>
                                        <p:attrNameLst>
                                          <p:attrName>ppt_x</p:attrName>
                                        </p:attrNameLst>
                                      </p:cBhvr>
                                      <p:tavLst>
                                        <p:tav tm="0">
                                          <p:val>
                                            <p:strVal val="0-#ppt_w/2"/>
                                          </p:val>
                                        </p:tav>
                                        <p:tav tm="100000">
                                          <p:val>
                                            <p:strVal val="#ppt_x"/>
                                          </p:val>
                                        </p:tav>
                                      </p:tavLst>
                                    </p:anim>
                                    <p:anim calcmode="lin" valueType="num">
                                      <p:cBhvr>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iterate>
                                    <p:tmAbs val="0"/>
                                  </p:iterate>
                                  <p:childTnLst>
                                    <p:set>
                                      <p:cBhvr>
                                        <p:cTn id="17" fill="hold"/>
                                        <p:tgtEl>
                                          <p:spTgt spid="141"/>
                                        </p:tgtEl>
                                        <p:attrNameLst>
                                          <p:attrName>style.visibility</p:attrName>
                                        </p:attrNameLst>
                                      </p:cBhvr>
                                      <p:to>
                                        <p:strVal val="visible"/>
                                      </p:to>
                                    </p:set>
                                    <p:anim calcmode="lin" valueType="num">
                                      <p:cBhvr>
                                        <p:cTn id="18" dur="500" fill="hold"/>
                                        <p:tgtEl>
                                          <p:spTgt spid="141"/>
                                        </p:tgtEl>
                                        <p:attrNameLst>
                                          <p:attrName>ppt_x</p:attrName>
                                        </p:attrNameLst>
                                      </p:cBhvr>
                                      <p:tavLst>
                                        <p:tav tm="0">
                                          <p:val>
                                            <p:strVal val="#ppt_x"/>
                                          </p:val>
                                        </p:tav>
                                        <p:tav tm="100000">
                                          <p:val>
                                            <p:strVal val="#ppt_x"/>
                                          </p:val>
                                        </p:tav>
                                      </p:tavLst>
                                    </p:anim>
                                    <p:anim calcmode="lin" valueType="num">
                                      <p:cBhvr>
                                        <p:cTn id="19" dur="500" fill="hold"/>
                                        <p:tgtEl>
                                          <p:spTgt spid="14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iterate>
                                    <p:tmAbs val="0"/>
                                  </p:iterate>
                                  <p:childTnLst>
                                    <p:set>
                                      <p:cBhvr>
                                        <p:cTn id="23" fill="hold"/>
                                        <p:tgtEl>
                                          <p:spTgt spid="142"/>
                                        </p:tgtEl>
                                        <p:attrNameLst>
                                          <p:attrName>style.visibility</p:attrName>
                                        </p:attrNameLst>
                                      </p:cBhvr>
                                      <p:to>
                                        <p:strVal val="visible"/>
                                      </p:to>
                                    </p:set>
                                    <p:anim calcmode="lin" valueType="num">
                                      <p:cBhvr>
                                        <p:cTn id="24" dur="500" fill="hold"/>
                                        <p:tgtEl>
                                          <p:spTgt spid="142"/>
                                        </p:tgtEl>
                                        <p:attrNameLst>
                                          <p:attrName>ppt_x</p:attrName>
                                        </p:attrNameLst>
                                      </p:cBhvr>
                                      <p:tavLst>
                                        <p:tav tm="0">
                                          <p:val>
                                            <p:strVal val="#ppt_x"/>
                                          </p:val>
                                        </p:tav>
                                        <p:tav tm="100000">
                                          <p:val>
                                            <p:strVal val="#ppt_x"/>
                                          </p:val>
                                        </p:tav>
                                      </p:tavLst>
                                    </p:anim>
                                    <p:anim calcmode="lin" valueType="num">
                                      <p:cBhvr>
                                        <p:cTn id="25" dur="500" fill="hold"/>
                                        <p:tgtEl>
                                          <p:spTgt spid="14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iterate>
                                    <p:tmAbs val="0"/>
                                  </p:iterate>
                                  <p:childTnLst>
                                    <p:set>
                                      <p:cBhvr>
                                        <p:cTn id="29" fill="hold"/>
                                        <p:tgtEl>
                                          <p:spTgt spid="143"/>
                                        </p:tgtEl>
                                        <p:attrNameLst>
                                          <p:attrName>style.visibility</p:attrName>
                                        </p:attrNameLst>
                                      </p:cBhvr>
                                      <p:to>
                                        <p:strVal val="visible"/>
                                      </p:to>
                                    </p:set>
                                    <p:anim calcmode="lin" valueType="num">
                                      <p:cBhvr>
                                        <p:cTn id="30" dur="500" fill="hold"/>
                                        <p:tgtEl>
                                          <p:spTgt spid="143"/>
                                        </p:tgtEl>
                                        <p:attrNameLst>
                                          <p:attrName>ppt_x</p:attrName>
                                        </p:attrNameLst>
                                      </p:cBhvr>
                                      <p:tavLst>
                                        <p:tav tm="0">
                                          <p:val>
                                            <p:strVal val="#ppt_x"/>
                                          </p:val>
                                        </p:tav>
                                        <p:tav tm="100000">
                                          <p:val>
                                            <p:strVal val="#ppt_x"/>
                                          </p:val>
                                        </p:tav>
                                      </p:tavLst>
                                    </p:anim>
                                    <p:anim calcmode="lin" valueType="num">
                                      <p:cBhvr>
                                        <p:cTn id="31" dur="500" fill="hold"/>
                                        <p:tgtEl>
                                          <p:spTgt spid="14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iterate>
                                    <p:tmAbs val="0"/>
                                  </p:iterate>
                                  <p:childTnLst>
                                    <p:set>
                                      <p:cBhvr>
                                        <p:cTn id="35" fill="hold"/>
                                        <p:tgtEl>
                                          <p:spTgt spid="144"/>
                                        </p:tgtEl>
                                        <p:attrNameLst>
                                          <p:attrName>style.visibility</p:attrName>
                                        </p:attrNameLst>
                                      </p:cBhvr>
                                      <p:to>
                                        <p:strVal val="visible"/>
                                      </p:to>
                                    </p:set>
                                    <p:anim calcmode="lin" valueType="num">
                                      <p:cBhvr>
                                        <p:cTn id="36" dur="500" fill="hold"/>
                                        <p:tgtEl>
                                          <p:spTgt spid="144"/>
                                        </p:tgtEl>
                                        <p:attrNameLst>
                                          <p:attrName>ppt_x</p:attrName>
                                        </p:attrNameLst>
                                      </p:cBhvr>
                                      <p:tavLst>
                                        <p:tav tm="0">
                                          <p:val>
                                            <p:strVal val="#ppt_x"/>
                                          </p:val>
                                        </p:tav>
                                        <p:tav tm="100000">
                                          <p:val>
                                            <p:strVal val="#ppt_x"/>
                                          </p:val>
                                        </p:tav>
                                      </p:tavLst>
                                    </p:anim>
                                    <p:anim calcmode="lin" valueType="num">
                                      <p:cBhvr>
                                        <p:cTn id="37"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advAuto="0"/>
      <p:bldP spid="141" grpId="0" animBg="1" advAuto="0"/>
      <p:bldP spid="142" grpId="0" animBg="1" advAuto="0"/>
      <p:bldP spid="143" grpId="0" animBg="1" advAuto="0"/>
      <p:bldP spid="144" grpId="0" animBg="1" advAuto="0"/>
      <p:bldP spid="3"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oncours Agro (1000 places) : écoles d’ingénieurs en Agronomie.…"/>
          <p:cNvSpPr txBox="1"/>
          <p:nvPr/>
        </p:nvSpPr>
        <p:spPr>
          <a:xfrm>
            <a:off x="650932" y="1597025"/>
            <a:ext cx="8325996" cy="44012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buSzPct val="100000"/>
              <a:buFont typeface="Arial"/>
              <a:buChar char="•"/>
              <a:defRPr sz="2000" b="0">
                <a:solidFill>
                  <a:srgbClr val="000000"/>
                </a:solidFill>
                <a:latin typeface="Georgia"/>
                <a:ea typeface="Georgia"/>
                <a:cs typeface="Georgia"/>
                <a:sym typeface="Georgia"/>
              </a:defRPr>
            </a:pPr>
            <a:r>
              <a:rPr dirty="0"/>
              <a:t> Concours </a:t>
            </a:r>
            <a:r>
              <a:rPr b="1" dirty="0" err="1">
                <a:solidFill>
                  <a:srgbClr val="FFC000"/>
                </a:solidFill>
              </a:rPr>
              <a:t>Agro</a:t>
            </a:r>
            <a:r>
              <a:rPr b="1" dirty="0"/>
              <a:t> </a:t>
            </a:r>
            <a:r>
              <a:rPr dirty="0"/>
              <a:t>(1000 places) : écoles </a:t>
            </a:r>
            <a:r>
              <a:rPr dirty="0" err="1"/>
              <a:t>d’ingénieurs</a:t>
            </a:r>
            <a:r>
              <a:rPr dirty="0"/>
              <a:t> </a:t>
            </a:r>
            <a:r>
              <a:rPr dirty="0" err="1"/>
              <a:t>en</a:t>
            </a:r>
            <a:r>
              <a:rPr dirty="0"/>
              <a:t> </a:t>
            </a:r>
            <a:r>
              <a:rPr b="1" dirty="0" err="1"/>
              <a:t>Agronomie</a:t>
            </a:r>
            <a:r>
              <a:rPr b="1" dirty="0"/>
              <a:t>.</a:t>
            </a:r>
          </a:p>
          <a:p>
            <a:pPr>
              <a:buSzPct val="100000"/>
              <a:buFont typeface="Arial"/>
              <a:buChar char="•"/>
              <a:defRPr sz="2000" b="0">
                <a:solidFill>
                  <a:srgbClr val="000000"/>
                </a:solidFill>
                <a:latin typeface="Georgia"/>
                <a:ea typeface="Georgia"/>
                <a:cs typeface="Georgia"/>
                <a:sym typeface="Georgia"/>
              </a:defRPr>
            </a:pPr>
            <a:r>
              <a:rPr dirty="0"/>
              <a:t> Concours </a:t>
            </a:r>
            <a:r>
              <a:rPr b="1" dirty="0">
                <a:solidFill>
                  <a:srgbClr val="FF0000"/>
                </a:solidFill>
              </a:rPr>
              <a:t>G2E</a:t>
            </a:r>
            <a:r>
              <a:rPr b="1" dirty="0"/>
              <a:t> </a:t>
            </a:r>
            <a:r>
              <a:rPr dirty="0"/>
              <a:t>(300 pl) : écoles </a:t>
            </a:r>
            <a:r>
              <a:rPr dirty="0" err="1"/>
              <a:t>d’ingénieurs</a:t>
            </a:r>
            <a:r>
              <a:rPr dirty="0"/>
              <a:t> </a:t>
            </a:r>
            <a:r>
              <a:rPr dirty="0" err="1"/>
              <a:t>en</a:t>
            </a:r>
            <a:r>
              <a:rPr dirty="0"/>
              <a:t> </a:t>
            </a:r>
            <a:r>
              <a:rPr b="1" dirty="0" err="1"/>
              <a:t>Géologie</a:t>
            </a:r>
            <a:r>
              <a:rPr b="1" dirty="0"/>
              <a:t>, Eau, </a:t>
            </a:r>
            <a:r>
              <a:rPr b="1" dirty="0" err="1"/>
              <a:t>Environnement</a:t>
            </a:r>
            <a:r>
              <a:rPr b="1" dirty="0"/>
              <a:t>. </a:t>
            </a:r>
          </a:p>
          <a:p>
            <a:pPr>
              <a:buSzPct val="100000"/>
              <a:buFont typeface="Arial"/>
              <a:buChar char="•"/>
              <a:defRPr sz="2000" b="0">
                <a:solidFill>
                  <a:srgbClr val="000000"/>
                </a:solidFill>
                <a:latin typeface="Georgia"/>
                <a:ea typeface="Georgia"/>
                <a:cs typeface="Georgia"/>
                <a:sym typeface="Georgia"/>
              </a:defRPr>
            </a:pPr>
            <a:r>
              <a:rPr dirty="0"/>
              <a:t> Concours </a:t>
            </a:r>
            <a:r>
              <a:rPr b="1" dirty="0" err="1">
                <a:solidFill>
                  <a:srgbClr val="FFFF00"/>
                </a:solidFill>
              </a:rPr>
              <a:t>Véto</a:t>
            </a:r>
            <a:r>
              <a:rPr dirty="0"/>
              <a:t> (320 pl) : les </a:t>
            </a:r>
            <a:r>
              <a:rPr dirty="0" err="1"/>
              <a:t>Ecoles</a:t>
            </a:r>
            <a:r>
              <a:rPr dirty="0"/>
              <a:t> </a:t>
            </a:r>
            <a:r>
              <a:rPr dirty="0" err="1"/>
              <a:t>Nationales</a:t>
            </a:r>
            <a:r>
              <a:rPr dirty="0"/>
              <a:t> </a:t>
            </a:r>
            <a:r>
              <a:rPr b="1" dirty="0" err="1"/>
              <a:t>Vétérinaires</a:t>
            </a:r>
            <a:r>
              <a:rPr b="1" dirty="0"/>
              <a:t>.</a:t>
            </a:r>
          </a:p>
          <a:p>
            <a:pPr>
              <a:buSzPct val="100000"/>
              <a:buFont typeface="Arial"/>
              <a:buChar char="•"/>
              <a:defRPr sz="2000" b="0">
                <a:solidFill>
                  <a:srgbClr val="000000"/>
                </a:solidFill>
                <a:latin typeface="Georgia"/>
                <a:ea typeface="Georgia"/>
                <a:cs typeface="Georgia"/>
                <a:sym typeface="Georgia"/>
              </a:defRPr>
            </a:pPr>
            <a:r>
              <a:rPr dirty="0"/>
              <a:t> Concours </a:t>
            </a:r>
            <a:r>
              <a:rPr b="1" dirty="0">
                <a:solidFill>
                  <a:srgbClr val="6666FF"/>
                </a:solidFill>
              </a:rPr>
              <a:t>ENS</a:t>
            </a:r>
            <a:r>
              <a:rPr dirty="0"/>
              <a:t> (80 pl) : </a:t>
            </a:r>
            <a:r>
              <a:rPr b="1" dirty="0" err="1"/>
              <a:t>l’Ecole</a:t>
            </a:r>
            <a:r>
              <a:rPr b="1" dirty="0"/>
              <a:t> Normale Supérieure.</a:t>
            </a:r>
          </a:p>
          <a:p>
            <a:pPr>
              <a:buSzPct val="100000"/>
              <a:buFont typeface="Arial"/>
              <a:buChar char="•"/>
              <a:defRPr sz="2000">
                <a:solidFill>
                  <a:srgbClr val="FFF5E0"/>
                </a:solidFill>
                <a:latin typeface="Georgia"/>
                <a:ea typeface="Georgia"/>
                <a:cs typeface="Georgia"/>
                <a:sym typeface="Georgia"/>
              </a:defRPr>
            </a:pPr>
            <a:r>
              <a:rPr dirty="0"/>
              <a:t> </a:t>
            </a:r>
            <a:r>
              <a:rPr b="1" dirty="0" err="1">
                <a:solidFill>
                  <a:schemeClr val="accent3"/>
                </a:solidFill>
              </a:rPr>
              <a:t>L’Ecole</a:t>
            </a:r>
            <a:r>
              <a:rPr b="1" dirty="0">
                <a:solidFill>
                  <a:schemeClr val="accent3"/>
                </a:solidFill>
              </a:rPr>
              <a:t> Polytechnique (</a:t>
            </a:r>
            <a:r>
              <a:rPr lang="fr-RE" b="1" dirty="0">
                <a:solidFill>
                  <a:schemeClr val="accent3"/>
                </a:solidFill>
              </a:rPr>
              <a:t>X)</a:t>
            </a:r>
            <a:r>
              <a:rPr dirty="0"/>
              <a:t> </a:t>
            </a:r>
            <a:r>
              <a:rPr b="0" dirty="0">
                <a:solidFill>
                  <a:srgbClr val="000000"/>
                </a:solidFill>
              </a:rPr>
              <a:t>(10 pl par le </a:t>
            </a:r>
            <a:r>
              <a:rPr b="0" u="sng" dirty="0">
                <a:solidFill>
                  <a:srgbClr val="000000"/>
                </a:solidFill>
              </a:rPr>
              <a:t>concours </a:t>
            </a:r>
            <a:r>
              <a:rPr b="0" u="sng" dirty="0" err="1">
                <a:solidFill>
                  <a:srgbClr val="000000"/>
                </a:solidFill>
              </a:rPr>
              <a:t>Agro</a:t>
            </a:r>
            <a:r>
              <a:rPr b="0" dirty="0">
                <a:solidFill>
                  <a:srgbClr val="000000"/>
                </a:solidFill>
              </a:rPr>
              <a:t>).</a:t>
            </a:r>
          </a:p>
          <a:p>
            <a:pPr>
              <a:buSzPct val="100000"/>
              <a:buFont typeface="Arial"/>
              <a:buChar char="•"/>
              <a:defRPr sz="2000" b="0">
                <a:solidFill>
                  <a:srgbClr val="00D5D5"/>
                </a:solidFill>
                <a:latin typeface="Georgia"/>
                <a:ea typeface="Georgia"/>
                <a:cs typeface="Georgia"/>
                <a:sym typeface="Georgia"/>
              </a:defRPr>
            </a:pPr>
            <a:r>
              <a:rPr dirty="0"/>
              <a:t> Les </a:t>
            </a:r>
            <a:r>
              <a:rPr b="1" dirty="0"/>
              <a:t>Mines</a:t>
            </a:r>
            <a:r>
              <a:rPr dirty="0"/>
              <a:t> et </a:t>
            </a:r>
            <a:r>
              <a:rPr dirty="0" err="1"/>
              <a:t>l</a:t>
            </a:r>
            <a:r>
              <a:rPr b="1" dirty="0" err="1"/>
              <a:t>’Ecole</a:t>
            </a:r>
            <a:r>
              <a:rPr b="1" dirty="0"/>
              <a:t> Nationale des </a:t>
            </a:r>
            <a:r>
              <a:rPr b="1" dirty="0" err="1"/>
              <a:t>Ponts</a:t>
            </a:r>
            <a:r>
              <a:rPr b="1" dirty="0"/>
              <a:t> et Chaussées </a:t>
            </a:r>
            <a:r>
              <a:rPr dirty="0">
                <a:solidFill>
                  <a:srgbClr val="000000"/>
                </a:solidFill>
              </a:rPr>
              <a:t>(par le </a:t>
            </a:r>
            <a:r>
              <a:rPr u="sng" dirty="0">
                <a:solidFill>
                  <a:srgbClr val="000000"/>
                </a:solidFill>
              </a:rPr>
              <a:t>concours ENS</a:t>
            </a:r>
            <a:r>
              <a:rPr dirty="0">
                <a:solidFill>
                  <a:srgbClr val="000000"/>
                </a:solidFill>
              </a:rPr>
              <a:t>).</a:t>
            </a:r>
          </a:p>
          <a:p>
            <a:pPr>
              <a:buSzPct val="100000"/>
              <a:buFont typeface="Arial"/>
              <a:buChar char="•"/>
              <a:defRPr sz="2000" b="0">
                <a:solidFill>
                  <a:srgbClr val="000000"/>
                </a:solidFill>
                <a:latin typeface="Georgia"/>
                <a:ea typeface="Georgia"/>
                <a:cs typeface="Georgia"/>
                <a:sym typeface="Georgia"/>
              </a:defRPr>
            </a:pPr>
            <a:r>
              <a:rPr dirty="0"/>
              <a:t> </a:t>
            </a:r>
            <a:r>
              <a:rPr b="1" dirty="0">
                <a:solidFill>
                  <a:srgbClr val="FF7C80"/>
                </a:solidFill>
              </a:rPr>
              <a:t>Centrale-</a:t>
            </a:r>
            <a:r>
              <a:rPr b="1" dirty="0" err="1">
                <a:solidFill>
                  <a:srgbClr val="FF7C80"/>
                </a:solidFill>
              </a:rPr>
              <a:t>Supelec</a:t>
            </a:r>
            <a:r>
              <a:rPr b="1" dirty="0"/>
              <a:t> </a:t>
            </a:r>
            <a:r>
              <a:rPr dirty="0"/>
              <a:t>(20 places par le </a:t>
            </a:r>
            <a:r>
              <a:rPr u="sng" dirty="0"/>
              <a:t>concours </a:t>
            </a:r>
            <a:r>
              <a:rPr u="sng" dirty="0" err="1"/>
              <a:t>Agro</a:t>
            </a:r>
            <a:r>
              <a:rPr dirty="0"/>
              <a:t>).</a:t>
            </a:r>
          </a:p>
          <a:p>
            <a:pPr>
              <a:buSzPct val="100000"/>
              <a:buFont typeface="Arial"/>
              <a:buChar char="•"/>
              <a:defRPr sz="2000" b="0">
                <a:solidFill>
                  <a:srgbClr val="000000"/>
                </a:solidFill>
                <a:latin typeface="Georgia"/>
                <a:ea typeface="Georgia"/>
                <a:cs typeface="Georgia"/>
                <a:sym typeface="Georgia"/>
              </a:defRPr>
            </a:pPr>
            <a:r>
              <a:rPr dirty="0"/>
              <a:t> Plus des </a:t>
            </a:r>
            <a:r>
              <a:rPr b="1" dirty="0"/>
              <a:t>écoles </a:t>
            </a:r>
            <a:r>
              <a:rPr b="1" dirty="0" err="1"/>
              <a:t>d’ingénieurs</a:t>
            </a:r>
            <a:r>
              <a:rPr b="1" dirty="0"/>
              <a:t> qui </a:t>
            </a:r>
            <a:r>
              <a:rPr b="1" dirty="0" err="1"/>
              <a:t>recrutent</a:t>
            </a:r>
            <a:r>
              <a:rPr b="1" dirty="0"/>
              <a:t> sur dossier </a:t>
            </a:r>
            <a:r>
              <a:rPr b="1" dirty="0" err="1"/>
              <a:t>ou</a:t>
            </a:r>
            <a:r>
              <a:rPr b="1" dirty="0"/>
              <a:t> </a:t>
            </a:r>
            <a:r>
              <a:rPr b="1" dirty="0" err="1"/>
              <a:t>entretien</a:t>
            </a:r>
            <a:r>
              <a:rPr b="1" dirty="0"/>
              <a:t> </a:t>
            </a:r>
            <a:r>
              <a:rPr dirty="0"/>
              <a:t> (</a:t>
            </a:r>
            <a:r>
              <a:rPr b="1" dirty="0">
                <a:solidFill>
                  <a:srgbClr val="FFC000"/>
                </a:solidFill>
              </a:rPr>
              <a:t>les écoles Polytech, les INSA</a:t>
            </a:r>
            <a:r>
              <a:rPr dirty="0"/>
              <a:t>, les écoles </a:t>
            </a:r>
            <a:r>
              <a:rPr dirty="0" err="1"/>
              <a:t>spécialisées</a:t>
            </a:r>
            <a:r>
              <a:rPr dirty="0"/>
              <a:t>…).</a:t>
            </a:r>
          </a:p>
          <a:p>
            <a:pPr>
              <a:buSzPct val="100000"/>
              <a:buFont typeface="Arial"/>
              <a:buChar char="•"/>
              <a:defRPr sz="2000" b="0">
                <a:solidFill>
                  <a:srgbClr val="000000"/>
                </a:solidFill>
                <a:latin typeface="Georgia"/>
                <a:ea typeface="Georgia"/>
                <a:cs typeface="Georgia"/>
                <a:sym typeface="Georgia"/>
              </a:defRPr>
            </a:pPr>
            <a:r>
              <a:rPr dirty="0"/>
              <a:t> Plus la </a:t>
            </a:r>
            <a:r>
              <a:rPr dirty="0" err="1"/>
              <a:t>possibilité</a:t>
            </a:r>
            <a:r>
              <a:rPr dirty="0"/>
              <a:t> </a:t>
            </a:r>
            <a:r>
              <a:rPr dirty="0" err="1"/>
              <a:t>d’obtenir</a:t>
            </a:r>
            <a:r>
              <a:rPr dirty="0"/>
              <a:t> des </a:t>
            </a:r>
            <a:r>
              <a:rPr b="1" u="sng" dirty="0" err="1"/>
              <a:t>équivalences</a:t>
            </a:r>
            <a:r>
              <a:rPr b="1" u="sng" dirty="0"/>
              <a:t> à </a:t>
            </a:r>
            <a:r>
              <a:rPr b="1" u="sng" dirty="0" err="1"/>
              <a:t>l’Université</a:t>
            </a:r>
            <a:r>
              <a:rPr dirty="0"/>
              <a:t> et </a:t>
            </a:r>
            <a:r>
              <a:rPr dirty="0" err="1"/>
              <a:t>l’intégrer</a:t>
            </a:r>
            <a:r>
              <a:rPr dirty="0"/>
              <a:t> </a:t>
            </a:r>
            <a:r>
              <a:rPr dirty="0" err="1"/>
              <a:t>directement</a:t>
            </a:r>
            <a:r>
              <a:rPr dirty="0"/>
              <a:t> </a:t>
            </a:r>
            <a:r>
              <a:rPr dirty="0" err="1"/>
              <a:t>en</a:t>
            </a:r>
            <a:r>
              <a:rPr dirty="0"/>
              <a:t> L3. </a:t>
            </a:r>
          </a:p>
          <a:p>
            <a:pPr>
              <a:buSzPct val="100000"/>
              <a:buFont typeface="Arial"/>
              <a:buChar char="•"/>
              <a:defRPr sz="2000" b="0">
                <a:solidFill>
                  <a:srgbClr val="000000"/>
                </a:solidFill>
                <a:latin typeface="Georgia"/>
                <a:ea typeface="Georgia"/>
                <a:cs typeface="Georgia"/>
                <a:sym typeface="Georgia"/>
              </a:defRPr>
            </a:pPr>
            <a:r>
              <a:rPr dirty="0"/>
              <a:t> Et </a:t>
            </a:r>
            <a:r>
              <a:rPr dirty="0" err="1"/>
              <a:t>d’autres</a:t>
            </a:r>
            <a:r>
              <a:rPr dirty="0"/>
              <a:t> </a:t>
            </a:r>
            <a:r>
              <a:rPr dirty="0" err="1"/>
              <a:t>réorientations</a:t>
            </a:r>
            <a:r>
              <a:rPr dirty="0"/>
              <a:t> possibles à </a:t>
            </a:r>
            <a:r>
              <a:rPr dirty="0" err="1"/>
              <a:t>l’étranger</a:t>
            </a:r>
            <a:r>
              <a:rPr dirty="0"/>
              <a:t>.</a:t>
            </a:r>
          </a:p>
        </p:txBody>
      </p:sp>
      <p:sp>
        <p:nvSpPr>
          <p:cNvPr id="148" name="BCPST"/>
          <p:cNvSpPr txBox="1"/>
          <p:nvPr/>
        </p:nvSpPr>
        <p:spPr>
          <a:xfrm>
            <a:off x="7999094" y="6378575"/>
            <a:ext cx="849949"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t>BCPST</a:t>
            </a:r>
          </a:p>
        </p:txBody>
      </p:sp>
      <p:sp>
        <p:nvSpPr>
          <p:cNvPr id="149" name="Chaque année, environ 2000 places sont ouvertes…"/>
          <p:cNvSpPr txBox="1"/>
          <p:nvPr/>
        </p:nvSpPr>
        <p:spPr>
          <a:xfrm>
            <a:off x="752571" y="6001659"/>
            <a:ext cx="6912611"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800" b="0">
                <a:solidFill>
                  <a:srgbClr val="ABBEF5"/>
                </a:solidFill>
              </a:defRPr>
            </a:pPr>
            <a:r>
              <a:rPr dirty="0" err="1">
                <a:solidFill>
                  <a:schemeClr val="tx2">
                    <a:lumMod val="50000"/>
                    <a:lumOff val="50000"/>
                  </a:schemeClr>
                </a:solidFill>
              </a:rPr>
              <a:t>Chaque</a:t>
            </a:r>
            <a:r>
              <a:rPr dirty="0">
                <a:solidFill>
                  <a:schemeClr val="tx2">
                    <a:lumMod val="50000"/>
                    <a:lumOff val="50000"/>
                  </a:schemeClr>
                </a:solidFill>
              </a:rPr>
              <a:t> </a:t>
            </a:r>
            <a:r>
              <a:rPr dirty="0" err="1">
                <a:solidFill>
                  <a:schemeClr val="tx2">
                    <a:lumMod val="50000"/>
                    <a:lumOff val="50000"/>
                  </a:schemeClr>
                </a:solidFill>
              </a:rPr>
              <a:t>année</a:t>
            </a:r>
            <a:r>
              <a:rPr dirty="0">
                <a:solidFill>
                  <a:schemeClr val="tx2">
                    <a:lumMod val="50000"/>
                    <a:lumOff val="50000"/>
                  </a:schemeClr>
                </a:solidFill>
              </a:rPr>
              <a:t>, environ 2000 places </a:t>
            </a:r>
            <a:r>
              <a:rPr dirty="0" err="1">
                <a:solidFill>
                  <a:schemeClr val="tx2">
                    <a:lumMod val="50000"/>
                    <a:lumOff val="50000"/>
                  </a:schemeClr>
                </a:solidFill>
              </a:rPr>
              <a:t>sont</a:t>
            </a:r>
            <a:r>
              <a:rPr dirty="0">
                <a:solidFill>
                  <a:schemeClr val="tx2">
                    <a:lumMod val="50000"/>
                    <a:lumOff val="50000"/>
                  </a:schemeClr>
                </a:solidFill>
              </a:rPr>
              <a:t> ouvertes </a:t>
            </a:r>
          </a:p>
          <a:p>
            <a:pPr>
              <a:defRPr sz="1800" b="0">
                <a:solidFill>
                  <a:srgbClr val="ABBEF5"/>
                </a:solidFill>
              </a:defRPr>
            </a:pPr>
            <a:r>
              <a:rPr dirty="0">
                <a:solidFill>
                  <a:schemeClr val="tx2">
                    <a:lumMod val="50000"/>
                    <a:lumOff val="50000"/>
                  </a:schemeClr>
                </a:solidFill>
              </a:rPr>
              <a:t>aux concours pour 2700 </a:t>
            </a:r>
            <a:r>
              <a:rPr dirty="0" err="1">
                <a:solidFill>
                  <a:schemeClr val="tx2">
                    <a:lumMod val="50000"/>
                    <a:lumOff val="50000"/>
                  </a:schemeClr>
                </a:solidFill>
              </a:rPr>
              <a:t>candidats</a:t>
            </a:r>
            <a:r>
              <a:rPr dirty="0">
                <a:solidFill>
                  <a:schemeClr val="tx2">
                    <a:lumMod val="50000"/>
                    <a:lumOff val="50000"/>
                  </a:schemeClr>
                </a:solidFill>
              </a:rPr>
              <a:t> </a:t>
            </a:r>
            <a:r>
              <a:rPr dirty="0" err="1">
                <a:solidFill>
                  <a:schemeClr val="tx2">
                    <a:lumMod val="50000"/>
                    <a:lumOff val="50000"/>
                  </a:schemeClr>
                </a:solidFill>
              </a:rPr>
              <a:t>en</a:t>
            </a:r>
            <a:r>
              <a:rPr dirty="0">
                <a:solidFill>
                  <a:schemeClr val="tx2">
                    <a:lumMod val="50000"/>
                    <a:lumOff val="50000"/>
                  </a:schemeClr>
                </a:solidFill>
              </a:rPr>
              <a:t> BCPST.</a:t>
            </a:r>
          </a:p>
        </p:txBody>
      </p:sp>
      <p:pic>
        <p:nvPicPr>
          <p:cNvPr id="3" name="Picture 4" descr="Journée Portes Ouvertes 2023 CPGE BCPST PCSI et PSI du Lycée Roland Garros  – Lycée Roland Garros">
            <a:extLst>
              <a:ext uri="{FF2B5EF4-FFF2-40B4-BE49-F238E27FC236}">
                <a16:creationId xmlns:a16="http://schemas.microsoft.com/office/drawing/2014/main" id="{79CA0BC0-A7EA-6B4F-79CF-2DB4636993E6}"/>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75352" y="78419"/>
            <a:ext cx="1489261" cy="1518606"/>
          </a:xfrm>
          <a:prstGeom prst="rect">
            <a:avLst/>
          </a:prstGeom>
          <a:noFill/>
          <a:extLst>
            <a:ext uri="{909E8E84-426E-40DD-AFC4-6F175D3DCCD1}">
              <a14:hiddenFill xmlns:a14="http://schemas.microsoft.com/office/drawing/2010/main">
                <a:solidFill>
                  <a:srgbClr val="FFFFFF"/>
                </a:solidFill>
              </a14:hiddenFill>
            </a:ext>
          </a:extLst>
        </p:spPr>
      </p:pic>
      <p:sp>
        <p:nvSpPr>
          <p:cNvPr id="4" name="Concours et débouchés…">
            <a:extLst>
              <a:ext uri="{FF2B5EF4-FFF2-40B4-BE49-F238E27FC236}">
                <a16:creationId xmlns:a16="http://schemas.microsoft.com/office/drawing/2014/main" id="{07F11158-4558-9861-6744-E7DD578CAE2F}"/>
              </a:ext>
            </a:extLst>
          </p:cNvPr>
          <p:cNvSpPr txBox="1"/>
          <p:nvPr/>
        </p:nvSpPr>
        <p:spPr>
          <a:xfrm>
            <a:off x="474970" y="251115"/>
            <a:ext cx="7416700" cy="1259319"/>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Concours et </a:t>
            </a:r>
            <a:r>
              <a:rPr sz="3000" dirty="0" err="1">
                <a:solidFill>
                  <a:sysClr val="windowText" lastClr="000000"/>
                </a:solidFill>
                <a:latin typeface="Helvetica" panose="020B0604020202020204" pitchFamily="34" charset="0"/>
                <a:cs typeface="Helvetica" panose="020B0604020202020204" pitchFamily="34" charset="0"/>
              </a:rPr>
              <a:t>débouchés</a:t>
            </a:r>
            <a:r>
              <a:rPr sz="3000"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après la </a:t>
            </a:r>
            <a:r>
              <a:rPr lang="fr-RE" sz="3000" dirty="0">
                <a:solidFill>
                  <a:sysClr val="windowText" lastClr="000000"/>
                </a:solidFill>
                <a:latin typeface="Helvetica" panose="020B0604020202020204" pitchFamily="34" charset="0"/>
                <a:cs typeface="Helvetica" panose="020B0604020202020204" pitchFamily="34" charset="0"/>
              </a:rPr>
              <a:t>BCPST</a:t>
            </a:r>
            <a:r>
              <a:rPr sz="3000" dirty="0">
                <a:solidFill>
                  <a:sysClr val="windowText" lastClr="000000"/>
                </a:solidFill>
                <a:latin typeface="Helvetica" panose="020B0604020202020204" pitchFamily="34" charset="0"/>
                <a:cs typeface="Helvetica" panose="020B0604020202020204" pitchFamily="34" charset="0"/>
              </a:rPr>
              <a:t> du Lycée Roland Garros</a:t>
            </a:r>
          </a:p>
        </p:txBody>
      </p:sp>
    </p:spTree>
  </p:cSld>
  <p:clrMapOvr>
    <a:masterClrMapping/>
  </p:clrMapOvr>
  <mc:AlternateContent xmlns:mc="http://schemas.openxmlformats.org/markup-compatibility/2006" xmlns:p14="http://schemas.microsoft.com/office/powerpoint/2010/main">
    <mc:Choice Requires="p14">
      <p:transition advClick="0" advTm="6000">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147">
                                            <p:bg/>
                                          </p:spTgt>
                                        </p:tgtEl>
                                        <p:attrNameLst>
                                          <p:attrName>style.visibility</p:attrName>
                                        </p:attrNameLst>
                                      </p:cBhvr>
                                      <p:to>
                                        <p:strVal val="visible"/>
                                      </p:to>
                                    </p:set>
                                    <p:anim calcmode="lin" valueType="num">
                                      <p:cBhvr>
                                        <p:cTn id="7" dur="500" fill="hold"/>
                                        <p:tgtEl>
                                          <p:spTgt spid="147">
                                            <p:bg/>
                                          </p:spTgt>
                                        </p:tgtEl>
                                        <p:attrNameLst>
                                          <p:attrName>ppt_x</p:attrName>
                                        </p:attrNameLst>
                                      </p:cBhvr>
                                      <p:tavLst>
                                        <p:tav tm="0">
                                          <p:val>
                                            <p:strVal val="0-#ppt_w/2"/>
                                          </p:val>
                                        </p:tav>
                                        <p:tav tm="100000">
                                          <p:val>
                                            <p:strVal val="#ppt_x"/>
                                          </p:val>
                                        </p:tav>
                                      </p:tavLst>
                                    </p:anim>
                                    <p:anim calcmode="lin" valueType="num">
                                      <p:cBhvr>
                                        <p:cTn id="8" dur="500" fill="hold"/>
                                        <p:tgtEl>
                                          <p:spTgt spid="147">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p:tmAbs val="0"/>
                                  </p:iterate>
                                  <p:childTnLst>
                                    <p:set>
                                      <p:cBhvr>
                                        <p:cTn id="10" fill="hold"/>
                                        <p:tgtEl>
                                          <p:spTgt spid="147">
                                            <p:txEl>
                                              <p:pRg st="0" end="0"/>
                                            </p:txEl>
                                          </p:spTgt>
                                        </p:tgtEl>
                                        <p:attrNameLst>
                                          <p:attrName>style.visibility</p:attrName>
                                        </p:attrNameLst>
                                      </p:cBhvr>
                                      <p:to>
                                        <p:strVal val="visible"/>
                                      </p:to>
                                    </p:set>
                                    <p:anim calcmode="lin" valueType="num">
                                      <p:cBhvr>
                                        <p:cTn id="11" dur="500" fill="hold"/>
                                        <p:tgtEl>
                                          <p:spTgt spid="147">
                                            <p:txEl>
                                              <p:pRg st="0" end="0"/>
                                            </p:txEl>
                                          </p:spTgt>
                                        </p:tgtEl>
                                        <p:attrNameLst>
                                          <p:attrName>ppt_x</p:attrName>
                                        </p:attrNameLst>
                                      </p:cBhvr>
                                      <p:tavLst>
                                        <p:tav tm="0">
                                          <p:val>
                                            <p:strVal val="0-#ppt_w/2"/>
                                          </p:val>
                                        </p:tav>
                                        <p:tav tm="100000">
                                          <p:val>
                                            <p:strVal val="#ppt_x"/>
                                          </p:val>
                                        </p:tav>
                                      </p:tavLst>
                                    </p:anim>
                                    <p:anim calcmode="lin" valueType="num">
                                      <p:cBhvr>
                                        <p:cTn id="12" dur="500" fill="hold"/>
                                        <p:tgtEl>
                                          <p:spTgt spid="147">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grpId="0" nodeType="afterEffect">
                                  <p:stCondLst>
                                    <p:cond delay="0"/>
                                  </p:stCondLst>
                                  <p:iterate>
                                    <p:tmAbs val="0"/>
                                  </p:iterate>
                                  <p:childTnLst>
                                    <p:set>
                                      <p:cBhvr>
                                        <p:cTn id="15" fill="hold"/>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0-#ppt_w/2"/>
                                          </p:val>
                                        </p:tav>
                                        <p:tav tm="100000">
                                          <p:val>
                                            <p:strVal val="#ppt_x"/>
                                          </p:val>
                                        </p:tav>
                                      </p:tavLst>
                                    </p:anim>
                                    <p:anim calcmode="lin" valueType="num">
                                      <p:cBhvr>
                                        <p:cTn id="17"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iterate>
                                    <p:tmAbs val="0"/>
                                  </p:iterate>
                                  <p:childTnLst>
                                    <p:set>
                                      <p:cBhvr>
                                        <p:cTn id="21" fill="hold"/>
                                        <p:tgtEl>
                                          <p:spTgt spid="147">
                                            <p:txEl>
                                              <p:pRg st="1" end="1"/>
                                            </p:txEl>
                                          </p:spTgt>
                                        </p:tgtEl>
                                        <p:attrNameLst>
                                          <p:attrName>style.visibility</p:attrName>
                                        </p:attrNameLst>
                                      </p:cBhvr>
                                      <p:to>
                                        <p:strVal val="visible"/>
                                      </p:to>
                                    </p:set>
                                    <p:anim calcmode="lin" valueType="num">
                                      <p:cBhvr>
                                        <p:cTn id="22" dur="500" fill="hold"/>
                                        <p:tgtEl>
                                          <p:spTgt spid="147">
                                            <p:txEl>
                                              <p:pRg st="1" end="1"/>
                                            </p:txEl>
                                          </p:spTgt>
                                        </p:tgtEl>
                                        <p:attrNameLst>
                                          <p:attrName>ppt_x</p:attrName>
                                        </p:attrNameLst>
                                      </p:cBhvr>
                                      <p:tavLst>
                                        <p:tav tm="0">
                                          <p:val>
                                            <p:strVal val="0-#ppt_w/2"/>
                                          </p:val>
                                        </p:tav>
                                        <p:tav tm="100000">
                                          <p:val>
                                            <p:strVal val="#ppt_x"/>
                                          </p:val>
                                        </p:tav>
                                      </p:tavLst>
                                    </p:anim>
                                    <p:anim calcmode="lin" valueType="num">
                                      <p:cBhvr>
                                        <p:cTn id="23" dur="500" fill="hold"/>
                                        <p:tgtEl>
                                          <p:spTgt spid="1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iterate>
                                    <p:tmAbs val="0"/>
                                  </p:iterate>
                                  <p:childTnLst>
                                    <p:set>
                                      <p:cBhvr>
                                        <p:cTn id="27" fill="hold"/>
                                        <p:tgtEl>
                                          <p:spTgt spid="147">
                                            <p:txEl>
                                              <p:pRg st="2" end="2"/>
                                            </p:txEl>
                                          </p:spTgt>
                                        </p:tgtEl>
                                        <p:attrNameLst>
                                          <p:attrName>style.visibility</p:attrName>
                                        </p:attrNameLst>
                                      </p:cBhvr>
                                      <p:to>
                                        <p:strVal val="visible"/>
                                      </p:to>
                                    </p:set>
                                    <p:anim calcmode="lin" valueType="num">
                                      <p:cBhvr>
                                        <p:cTn id="28" dur="500" fill="hold"/>
                                        <p:tgtEl>
                                          <p:spTgt spid="147">
                                            <p:txEl>
                                              <p:pRg st="2" end="2"/>
                                            </p:txEl>
                                          </p:spTgt>
                                        </p:tgtEl>
                                        <p:attrNameLst>
                                          <p:attrName>ppt_x</p:attrName>
                                        </p:attrNameLst>
                                      </p:cBhvr>
                                      <p:tavLst>
                                        <p:tav tm="0">
                                          <p:val>
                                            <p:strVal val="0-#ppt_w/2"/>
                                          </p:val>
                                        </p:tav>
                                        <p:tav tm="100000">
                                          <p:val>
                                            <p:strVal val="#ppt_x"/>
                                          </p:val>
                                        </p:tav>
                                      </p:tavLst>
                                    </p:anim>
                                    <p:anim calcmode="lin" valueType="num">
                                      <p:cBhvr>
                                        <p:cTn id="29" dur="500" fill="hold"/>
                                        <p:tgtEl>
                                          <p:spTgt spid="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iterate>
                                    <p:tmAbs val="0"/>
                                  </p:iterate>
                                  <p:childTnLst>
                                    <p:set>
                                      <p:cBhvr>
                                        <p:cTn id="33" fill="hold"/>
                                        <p:tgtEl>
                                          <p:spTgt spid="147">
                                            <p:txEl>
                                              <p:pRg st="3" end="3"/>
                                            </p:txEl>
                                          </p:spTgt>
                                        </p:tgtEl>
                                        <p:attrNameLst>
                                          <p:attrName>style.visibility</p:attrName>
                                        </p:attrNameLst>
                                      </p:cBhvr>
                                      <p:to>
                                        <p:strVal val="visible"/>
                                      </p:to>
                                    </p:set>
                                    <p:anim calcmode="lin" valueType="num">
                                      <p:cBhvr>
                                        <p:cTn id="34" dur="500" fill="hold"/>
                                        <p:tgtEl>
                                          <p:spTgt spid="147">
                                            <p:txEl>
                                              <p:pRg st="3" end="3"/>
                                            </p:txEl>
                                          </p:spTgt>
                                        </p:tgtEl>
                                        <p:attrNameLst>
                                          <p:attrName>ppt_x</p:attrName>
                                        </p:attrNameLst>
                                      </p:cBhvr>
                                      <p:tavLst>
                                        <p:tav tm="0">
                                          <p:val>
                                            <p:strVal val="0-#ppt_w/2"/>
                                          </p:val>
                                        </p:tav>
                                        <p:tav tm="100000">
                                          <p:val>
                                            <p:strVal val="#ppt_x"/>
                                          </p:val>
                                        </p:tav>
                                      </p:tavLst>
                                    </p:anim>
                                    <p:anim calcmode="lin" valueType="num">
                                      <p:cBhvr>
                                        <p:cTn id="35" dur="500" fill="hold"/>
                                        <p:tgtEl>
                                          <p:spTgt spid="1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iterate>
                                    <p:tmAbs val="0"/>
                                  </p:iterate>
                                  <p:childTnLst>
                                    <p:set>
                                      <p:cBhvr>
                                        <p:cTn id="39" fill="hold"/>
                                        <p:tgtEl>
                                          <p:spTgt spid="147">
                                            <p:txEl>
                                              <p:pRg st="4" end="4"/>
                                            </p:txEl>
                                          </p:spTgt>
                                        </p:tgtEl>
                                        <p:attrNameLst>
                                          <p:attrName>style.visibility</p:attrName>
                                        </p:attrNameLst>
                                      </p:cBhvr>
                                      <p:to>
                                        <p:strVal val="visible"/>
                                      </p:to>
                                    </p:set>
                                    <p:anim calcmode="lin" valueType="num">
                                      <p:cBhvr>
                                        <p:cTn id="40" dur="500" fill="hold"/>
                                        <p:tgtEl>
                                          <p:spTgt spid="147">
                                            <p:txEl>
                                              <p:pRg st="4" end="4"/>
                                            </p:txEl>
                                          </p:spTgt>
                                        </p:tgtEl>
                                        <p:attrNameLst>
                                          <p:attrName>ppt_x</p:attrName>
                                        </p:attrNameLst>
                                      </p:cBhvr>
                                      <p:tavLst>
                                        <p:tav tm="0">
                                          <p:val>
                                            <p:strVal val="0-#ppt_w/2"/>
                                          </p:val>
                                        </p:tav>
                                        <p:tav tm="100000">
                                          <p:val>
                                            <p:strVal val="#ppt_x"/>
                                          </p:val>
                                        </p:tav>
                                      </p:tavLst>
                                    </p:anim>
                                    <p:anim calcmode="lin" valueType="num">
                                      <p:cBhvr>
                                        <p:cTn id="41" dur="500" fill="hold"/>
                                        <p:tgtEl>
                                          <p:spTgt spid="1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iterate>
                                    <p:tmAbs val="0"/>
                                  </p:iterate>
                                  <p:childTnLst>
                                    <p:set>
                                      <p:cBhvr>
                                        <p:cTn id="45" fill="hold"/>
                                        <p:tgtEl>
                                          <p:spTgt spid="147">
                                            <p:txEl>
                                              <p:pRg st="5" end="5"/>
                                            </p:txEl>
                                          </p:spTgt>
                                        </p:tgtEl>
                                        <p:attrNameLst>
                                          <p:attrName>style.visibility</p:attrName>
                                        </p:attrNameLst>
                                      </p:cBhvr>
                                      <p:to>
                                        <p:strVal val="visible"/>
                                      </p:to>
                                    </p:set>
                                    <p:anim calcmode="lin" valueType="num">
                                      <p:cBhvr>
                                        <p:cTn id="46" dur="500" fill="hold"/>
                                        <p:tgtEl>
                                          <p:spTgt spid="147">
                                            <p:txEl>
                                              <p:pRg st="5" end="5"/>
                                            </p:txEl>
                                          </p:spTgt>
                                        </p:tgtEl>
                                        <p:attrNameLst>
                                          <p:attrName>ppt_x</p:attrName>
                                        </p:attrNameLst>
                                      </p:cBhvr>
                                      <p:tavLst>
                                        <p:tav tm="0">
                                          <p:val>
                                            <p:strVal val="0-#ppt_w/2"/>
                                          </p:val>
                                        </p:tav>
                                        <p:tav tm="100000">
                                          <p:val>
                                            <p:strVal val="#ppt_x"/>
                                          </p:val>
                                        </p:tav>
                                      </p:tavLst>
                                    </p:anim>
                                    <p:anim calcmode="lin" valueType="num">
                                      <p:cBhvr>
                                        <p:cTn id="47" dur="500" fill="hold"/>
                                        <p:tgtEl>
                                          <p:spTgt spid="1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iterate>
                                    <p:tmAbs val="0"/>
                                  </p:iterate>
                                  <p:childTnLst>
                                    <p:set>
                                      <p:cBhvr>
                                        <p:cTn id="51" fill="hold"/>
                                        <p:tgtEl>
                                          <p:spTgt spid="147">
                                            <p:txEl>
                                              <p:pRg st="6" end="6"/>
                                            </p:txEl>
                                          </p:spTgt>
                                        </p:tgtEl>
                                        <p:attrNameLst>
                                          <p:attrName>style.visibility</p:attrName>
                                        </p:attrNameLst>
                                      </p:cBhvr>
                                      <p:to>
                                        <p:strVal val="visible"/>
                                      </p:to>
                                    </p:set>
                                    <p:anim calcmode="lin" valueType="num">
                                      <p:cBhvr>
                                        <p:cTn id="52" dur="500" fill="hold"/>
                                        <p:tgtEl>
                                          <p:spTgt spid="147">
                                            <p:txEl>
                                              <p:pRg st="6" end="6"/>
                                            </p:txEl>
                                          </p:spTgt>
                                        </p:tgtEl>
                                        <p:attrNameLst>
                                          <p:attrName>ppt_x</p:attrName>
                                        </p:attrNameLst>
                                      </p:cBhvr>
                                      <p:tavLst>
                                        <p:tav tm="0">
                                          <p:val>
                                            <p:strVal val="0-#ppt_w/2"/>
                                          </p:val>
                                        </p:tav>
                                        <p:tav tm="100000">
                                          <p:val>
                                            <p:strVal val="#ppt_x"/>
                                          </p:val>
                                        </p:tav>
                                      </p:tavLst>
                                    </p:anim>
                                    <p:anim calcmode="lin" valueType="num">
                                      <p:cBhvr>
                                        <p:cTn id="53" dur="500" fill="hold"/>
                                        <p:tgtEl>
                                          <p:spTgt spid="1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iterate>
                                    <p:tmAbs val="0"/>
                                  </p:iterate>
                                  <p:childTnLst>
                                    <p:set>
                                      <p:cBhvr>
                                        <p:cTn id="57" fill="hold"/>
                                        <p:tgtEl>
                                          <p:spTgt spid="147">
                                            <p:txEl>
                                              <p:pRg st="7" end="7"/>
                                            </p:txEl>
                                          </p:spTgt>
                                        </p:tgtEl>
                                        <p:attrNameLst>
                                          <p:attrName>style.visibility</p:attrName>
                                        </p:attrNameLst>
                                      </p:cBhvr>
                                      <p:to>
                                        <p:strVal val="visible"/>
                                      </p:to>
                                    </p:set>
                                    <p:anim calcmode="lin" valueType="num">
                                      <p:cBhvr>
                                        <p:cTn id="58" dur="500" fill="hold"/>
                                        <p:tgtEl>
                                          <p:spTgt spid="147">
                                            <p:txEl>
                                              <p:pRg st="7" end="7"/>
                                            </p:txEl>
                                          </p:spTgt>
                                        </p:tgtEl>
                                        <p:attrNameLst>
                                          <p:attrName>ppt_x</p:attrName>
                                        </p:attrNameLst>
                                      </p:cBhvr>
                                      <p:tavLst>
                                        <p:tav tm="0">
                                          <p:val>
                                            <p:strVal val="0-#ppt_w/2"/>
                                          </p:val>
                                        </p:tav>
                                        <p:tav tm="100000">
                                          <p:val>
                                            <p:strVal val="#ppt_x"/>
                                          </p:val>
                                        </p:tav>
                                      </p:tavLst>
                                    </p:anim>
                                    <p:anim calcmode="lin" valueType="num">
                                      <p:cBhvr>
                                        <p:cTn id="59" dur="500" fill="hold"/>
                                        <p:tgtEl>
                                          <p:spTgt spid="14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iterate>
                                    <p:tmAbs val="0"/>
                                  </p:iterate>
                                  <p:childTnLst>
                                    <p:set>
                                      <p:cBhvr>
                                        <p:cTn id="63" fill="hold"/>
                                        <p:tgtEl>
                                          <p:spTgt spid="147">
                                            <p:txEl>
                                              <p:pRg st="8" end="8"/>
                                            </p:txEl>
                                          </p:spTgt>
                                        </p:tgtEl>
                                        <p:attrNameLst>
                                          <p:attrName>style.visibility</p:attrName>
                                        </p:attrNameLst>
                                      </p:cBhvr>
                                      <p:to>
                                        <p:strVal val="visible"/>
                                      </p:to>
                                    </p:set>
                                    <p:anim calcmode="lin" valueType="num">
                                      <p:cBhvr>
                                        <p:cTn id="64" dur="500" fill="hold"/>
                                        <p:tgtEl>
                                          <p:spTgt spid="147">
                                            <p:txEl>
                                              <p:pRg st="8" end="8"/>
                                            </p:txEl>
                                          </p:spTgt>
                                        </p:tgtEl>
                                        <p:attrNameLst>
                                          <p:attrName>ppt_x</p:attrName>
                                        </p:attrNameLst>
                                      </p:cBhvr>
                                      <p:tavLst>
                                        <p:tav tm="0">
                                          <p:val>
                                            <p:strVal val="0-#ppt_w/2"/>
                                          </p:val>
                                        </p:tav>
                                        <p:tav tm="100000">
                                          <p:val>
                                            <p:strVal val="#ppt_x"/>
                                          </p:val>
                                        </p:tav>
                                      </p:tavLst>
                                    </p:anim>
                                    <p:anim calcmode="lin" valueType="num">
                                      <p:cBhvr>
                                        <p:cTn id="65" dur="500" fill="hold"/>
                                        <p:tgtEl>
                                          <p:spTgt spid="14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iterate>
                                    <p:tmAbs val="0"/>
                                  </p:iterate>
                                  <p:childTnLst>
                                    <p:set>
                                      <p:cBhvr>
                                        <p:cTn id="69" fill="hold"/>
                                        <p:tgtEl>
                                          <p:spTgt spid="147">
                                            <p:txEl>
                                              <p:pRg st="9" end="9"/>
                                            </p:txEl>
                                          </p:spTgt>
                                        </p:tgtEl>
                                        <p:attrNameLst>
                                          <p:attrName>style.visibility</p:attrName>
                                        </p:attrNameLst>
                                      </p:cBhvr>
                                      <p:to>
                                        <p:strVal val="visible"/>
                                      </p:to>
                                    </p:set>
                                    <p:anim calcmode="lin" valueType="num">
                                      <p:cBhvr>
                                        <p:cTn id="70" dur="500" fill="hold"/>
                                        <p:tgtEl>
                                          <p:spTgt spid="147">
                                            <p:txEl>
                                              <p:pRg st="9" end="9"/>
                                            </p:txEl>
                                          </p:spTgt>
                                        </p:tgtEl>
                                        <p:attrNameLst>
                                          <p:attrName>ppt_x</p:attrName>
                                        </p:attrNameLst>
                                      </p:cBhvr>
                                      <p:tavLst>
                                        <p:tav tm="0">
                                          <p:val>
                                            <p:strVal val="0-#ppt_w/2"/>
                                          </p:val>
                                        </p:tav>
                                        <p:tav tm="100000">
                                          <p:val>
                                            <p:strVal val="#ppt_x"/>
                                          </p:val>
                                        </p:tav>
                                      </p:tavLst>
                                    </p:anim>
                                    <p:anim calcmode="lin" valueType="num">
                                      <p:cBhvr>
                                        <p:cTn id="71" dur="500" fill="hold"/>
                                        <p:tgtEl>
                                          <p:spTgt spid="147">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fill="hold" grpId="0" nodeType="clickEffect">
                                  <p:stCondLst>
                                    <p:cond delay="0"/>
                                  </p:stCondLst>
                                  <p:iterate>
                                    <p:tmAbs val="0"/>
                                  </p:iterate>
                                  <p:childTnLst>
                                    <p:set>
                                      <p:cBhvr>
                                        <p:cTn id="75" fill="hold"/>
                                        <p:tgtEl>
                                          <p:spTgt spid="149"/>
                                        </p:tgtEl>
                                        <p:attrNameLst>
                                          <p:attrName>style.visibility</p:attrName>
                                        </p:attrNameLst>
                                      </p:cBhvr>
                                      <p:to>
                                        <p:strVal val="visible"/>
                                      </p:to>
                                    </p:set>
                                    <p:animEffect transition="in" filter="fade">
                                      <p:cBhvr>
                                        <p:cTn id="76"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uiExpand="1" build="p" bldLvl="5" animBg="1" advAuto="0"/>
      <p:bldP spid="149" grpId="0" animBg="1" advAuto="0"/>
      <p:bldP spid="4"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Agronomie et Agroalimentaire : Postes à responsabilités dans les industries et la haute administration dans des secteurs variés : industrie agro-alimentaire, bio-informatique, aquaculture, aide aux pays en voie de développement, travail en milieu marin, "/>
          <p:cNvSpPr txBox="1">
            <a:spLocks noGrp="1"/>
          </p:cNvSpPr>
          <p:nvPr>
            <p:ph type="body" sz="half" idx="4294967295"/>
          </p:nvPr>
        </p:nvSpPr>
        <p:spPr>
          <a:xfrm>
            <a:off x="795130" y="1915403"/>
            <a:ext cx="6013173" cy="2000802"/>
          </a:xfrm>
          <a:prstGeom prst="rect">
            <a:avLst/>
          </a:prstGeom>
        </p:spPr>
        <p:txBody>
          <a:bodyPr>
            <a:noAutofit/>
          </a:bodyPr>
          <a:lstStyle/>
          <a:p>
            <a:pPr marL="0" indent="0" algn="just">
              <a:lnSpc>
                <a:spcPct val="80000"/>
              </a:lnSpc>
              <a:buSzTx/>
              <a:buFont typeface="Wingdings"/>
              <a:buNone/>
              <a:defRPr sz="2400" b="1" i="1">
                <a:solidFill>
                  <a:srgbClr val="99FF66"/>
                </a:solidFill>
              </a:defRPr>
            </a:pPr>
            <a:r>
              <a:rPr sz="1800" dirty="0" err="1">
                <a:solidFill>
                  <a:srgbClr val="00B050"/>
                </a:solidFill>
              </a:rPr>
              <a:t>Agronomie</a:t>
            </a:r>
            <a:r>
              <a:rPr sz="1800" dirty="0">
                <a:solidFill>
                  <a:srgbClr val="00B050"/>
                </a:solidFill>
              </a:rPr>
              <a:t> et </a:t>
            </a:r>
            <a:r>
              <a:rPr sz="1800" dirty="0" err="1">
                <a:solidFill>
                  <a:srgbClr val="00B050"/>
                </a:solidFill>
              </a:rPr>
              <a:t>Agroalimentaire</a:t>
            </a:r>
            <a:r>
              <a:rPr sz="1800" dirty="0">
                <a:solidFill>
                  <a:srgbClr val="00B050"/>
                </a:solidFill>
              </a:rPr>
              <a:t> </a:t>
            </a:r>
            <a:r>
              <a:rPr sz="1800" b="0" dirty="0">
                <a:solidFill>
                  <a:srgbClr val="00B050"/>
                </a:solidFill>
              </a:rPr>
              <a:t>:</a:t>
            </a:r>
            <a:r>
              <a:rPr sz="1800" b="0" i="0" dirty="0">
                <a:solidFill>
                  <a:srgbClr val="FFFFFF"/>
                </a:solidFill>
              </a:rPr>
              <a:t> </a:t>
            </a:r>
            <a:r>
              <a:rPr sz="1800" b="0" i="1" dirty="0" err="1">
                <a:solidFill>
                  <a:schemeClr val="tx1"/>
                </a:solidFill>
              </a:rPr>
              <a:t>Postes</a:t>
            </a:r>
            <a:r>
              <a:rPr sz="1800" b="0" i="1" dirty="0">
                <a:solidFill>
                  <a:schemeClr val="tx1"/>
                </a:solidFill>
              </a:rPr>
              <a:t> à </a:t>
            </a:r>
            <a:r>
              <a:rPr sz="1800" b="0" i="1" dirty="0" err="1">
                <a:solidFill>
                  <a:schemeClr val="tx1"/>
                </a:solidFill>
              </a:rPr>
              <a:t>responsabilités</a:t>
            </a:r>
            <a:r>
              <a:rPr sz="1800" b="0" i="1" dirty="0">
                <a:solidFill>
                  <a:schemeClr val="tx1"/>
                </a:solidFill>
              </a:rPr>
              <a:t> dans les industries et la haute administration dans des </a:t>
            </a:r>
            <a:r>
              <a:rPr sz="1800" b="0" i="1" dirty="0" err="1">
                <a:solidFill>
                  <a:schemeClr val="tx1"/>
                </a:solidFill>
              </a:rPr>
              <a:t>secteurs</a:t>
            </a:r>
            <a:r>
              <a:rPr sz="1800" b="0" i="1" dirty="0">
                <a:solidFill>
                  <a:schemeClr val="tx1"/>
                </a:solidFill>
              </a:rPr>
              <a:t> </a:t>
            </a:r>
            <a:r>
              <a:rPr sz="1800" b="0" i="1" dirty="0" err="1">
                <a:solidFill>
                  <a:schemeClr val="tx1"/>
                </a:solidFill>
              </a:rPr>
              <a:t>variés</a:t>
            </a:r>
            <a:r>
              <a:rPr sz="1800" b="0" i="1" dirty="0">
                <a:solidFill>
                  <a:schemeClr val="tx1"/>
                </a:solidFill>
              </a:rPr>
              <a:t> : </a:t>
            </a:r>
            <a:r>
              <a:rPr sz="1800" b="0" i="1" dirty="0" err="1">
                <a:solidFill>
                  <a:schemeClr val="tx1"/>
                </a:solidFill>
              </a:rPr>
              <a:t>industrie</a:t>
            </a:r>
            <a:r>
              <a:rPr sz="1800" b="0" i="1" dirty="0">
                <a:solidFill>
                  <a:schemeClr val="tx1"/>
                </a:solidFill>
              </a:rPr>
              <a:t> </a:t>
            </a:r>
            <a:r>
              <a:rPr sz="1800" b="0" i="1" dirty="0" err="1">
                <a:solidFill>
                  <a:schemeClr val="tx1"/>
                </a:solidFill>
              </a:rPr>
              <a:t>agro-alimentaire</a:t>
            </a:r>
            <a:r>
              <a:rPr sz="1800" b="0" i="1" dirty="0">
                <a:solidFill>
                  <a:schemeClr val="tx1"/>
                </a:solidFill>
              </a:rPr>
              <a:t>, bio-</a:t>
            </a:r>
            <a:r>
              <a:rPr sz="1800" b="0" i="1" dirty="0" err="1">
                <a:solidFill>
                  <a:schemeClr val="tx1"/>
                </a:solidFill>
              </a:rPr>
              <a:t>informatique</a:t>
            </a:r>
            <a:r>
              <a:rPr sz="1800" b="0" i="1" dirty="0">
                <a:solidFill>
                  <a:schemeClr val="tx1"/>
                </a:solidFill>
              </a:rPr>
              <a:t>, aquaculture, aide aux pays </a:t>
            </a:r>
            <a:r>
              <a:rPr sz="1800" b="0" i="1" dirty="0" err="1">
                <a:solidFill>
                  <a:schemeClr val="tx1"/>
                </a:solidFill>
              </a:rPr>
              <a:t>en</a:t>
            </a:r>
            <a:r>
              <a:rPr sz="1800" b="0" i="1" dirty="0">
                <a:solidFill>
                  <a:schemeClr val="tx1"/>
                </a:solidFill>
              </a:rPr>
              <a:t> </a:t>
            </a:r>
            <a:r>
              <a:rPr sz="1800" b="0" i="1" dirty="0" err="1">
                <a:solidFill>
                  <a:schemeClr val="tx1"/>
                </a:solidFill>
              </a:rPr>
              <a:t>voie</a:t>
            </a:r>
            <a:r>
              <a:rPr sz="1800" b="0" i="1" dirty="0">
                <a:solidFill>
                  <a:schemeClr val="tx1"/>
                </a:solidFill>
              </a:rPr>
              <a:t> de </a:t>
            </a:r>
            <a:r>
              <a:rPr sz="1800" b="0" i="1" dirty="0" err="1">
                <a:solidFill>
                  <a:schemeClr val="tx1"/>
                </a:solidFill>
              </a:rPr>
              <a:t>développement</a:t>
            </a:r>
            <a:r>
              <a:rPr sz="1800" b="0" i="1" dirty="0">
                <a:solidFill>
                  <a:schemeClr val="tx1"/>
                </a:solidFill>
              </a:rPr>
              <a:t>, travail </a:t>
            </a:r>
            <a:r>
              <a:rPr sz="1800" b="0" i="1" dirty="0" err="1">
                <a:solidFill>
                  <a:schemeClr val="tx1"/>
                </a:solidFill>
              </a:rPr>
              <a:t>en</a:t>
            </a:r>
            <a:r>
              <a:rPr sz="1800" b="0" i="1" dirty="0">
                <a:solidFill>
                  <a:schemeClr val="tx1"/>
                </a:solidFill>
              </a:rPr>
              <a:t> milieu </a:t>
            </a:r>
            <a:r>
              <a:rPr sz="1800" b="0" i="1" dirty="0" err="1">
                <a:solidFill>
                  <a:schemeClr val="tx1"/>
                </a:solidFill>
              </a:rPr>
              <a:t>marin</a:t>
            </a:r>
            <a:r>
              <a:rPr sz="1800" b="0" i="1" dirty="0">
                <a:solidFill>
                  <a:schemeClr val="tx1"/>
                </a:solidFill>
              </a:rPr>
              <a:t>, management </a:t>
            </a:r>
            <a:r>
              <a:rPr sz="1800" b="0" i="1" dirty="0" err="1">
                <a:solidFill>
                  <a:schemeClr val="tx1"/>
                </a:solidFill>
              </a:rPr>
              <a:t>agro-industriel</a:t>
            </a:r>
            <a:r>
              <a:rPr sz="1800" b="0" i="1" dirty="0">
                <a:solidFill>
                  <a:schemeClr val="tx1"/>
                </a:solidFill>
              </a:rPr>
              <a:t>, </a:t>
            </a:r>
            <a:r>
              <a:rPr sz="1800" b="0" i="1" dirty="0" err="1">
                <a:solidFill>
                  <a:schemeClr val="tx1"/>
                </a:solidFill>
              </a:rPr>
              <a:t>cosmétologie</a:t>
            </a:r>
            <a:r>
              <a:rPr sz="1800" b="0" i="1" dirty="0">
                <a:solidFill>
                  <a:schemeClr val="tx1"/>
                </a:solidFill>
              </a:rPr>
              <a:t>, productions </a:t>
            </a:r>
            <a:r>
              <a:rPr sz="1800" b="0" i="1" dirty="0" err="1">
                <a:solidFill>
                  <a:schemeClr val="tx1"/>
                </a:solidFill>
              </a:rPr>
              <a:t>agricoles</a:t>
            </a:r>
            <a:r>
              <a:rPr sz="1800" b="0" i="1" dirty="0">
                <a:solidFill>
                  <a:schemeClr val="tx1"/>
                </a:solidFill>
              </a:rPr>
              <a:t>, </a:t>
            </a:r>
            <a:r>
              <a:rPr sz="1800" b="0" i="1" dirty="0" err="1">
                <a:solidFill>
                  <a:schemeClr val="tx1"/>
                </a:solidFill>
              </a:rPr>
              <a:t>horticoles</a:t>
            </a:r>
            <a:r>
              <a:rPr sz="1800" b="0" i="1" dirty="0">
                <a:solidFill>
                  <a:schemeClr val="tx1"/>
                </a:solidFill>
              </a:rPr>
              <a:t>, </a:t>
            </a:r>
            <a:r>
              <a:rPr sz="1800" b="0" i="1" dirty="0" err="1">
                <a:solidFill>
                  <a:schemeClr val="tx1"/>
                </a:solidFill>
              </a:rPr>
              <a:t>forestières</a:t>
            </a:r>
            <a:r>
              <a:rPr sz="1800" b="0" i="1" dirty="0">
                <a:solidFill>
                  <a:schemeClr val="tx1"/>
                </a:solidFill>
              </a:rPr>
              <a:t>, biotechnologies, protection des </a:t>
            </a:r>
            <a:r>
              <a:rPr sz="1800" b="0" i="1" dirty="0" err="1">
                <a:solidFill>
                  <a:schemeClr val="tx1"/>
                </a:solidFill>
              </a:rPr>
              <a:t>végétaux</a:t>
            </a:r>
            <a:r>
              <a:rPr sz="1800" b="0" i="1" dirty="0">
                <a:solidFill>
                  <a:schemeClr val="tx1"/>
                </a:solidFill>
              </a:rPr>
              <a:t>…</a:t>
            </a:r>
          </a:p>
        </p:txBody>
      </p:sp>
      <p:sp>
        <p:nvSpPr>
          <p:cNvPr id="155" name="BCPST"/>
          <p:cNvSpPr txBox="1"/>
          <p:nvPr/>
        </p:nvSpPr>
        <p:spPr>
          <a:xfrm>
            <a:off x="7999094" y="6378575"/>
            <a:ext cx="849949"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t>BCPST</a:t>
            </a:r>
          </a:p>
        </p:txBody>
      </p:sp>
      <p:sp>
        <p:nvSpPr>
          <p:cNvPr id="2" name="Agronomie et Agroalimentaire : Postes à responsabilités dans les industries et la haute administration dans des secteurs variés : industrie agro-alimentaire, bio-informatique, aquaculture, aide aux pays en voie de développement, travail en milieu marin, ">
            <a:extLst>
              <a:ext uri="{FF2B5EF4-FFF2-40B4-BE49-F238E27FC236}">
                <a16:creationId xmlns:a16="http://schemas.microsoft.com/office/drawing/2014/main" id="{6D2DD773-4400-4EEE-B574-FDFA496BC66B}"/>
              </a:ext>
            </a:extLst>
          </p:cNvPr>
          <p:cNvSpPr txBox="1">
            <a:spLocks/>
          </p:cNvSpPr>
          <p:nvPr/>
        </p:nvSpPr>
        <p:spPr>
          <a:xfrm>
            <a:off x="250506" y="3732152"/>
            <a:ext cx="6557797" cy="2071688"/>
          </a:xfrm>
          <a:prstGeom prst="rect">
            <a:avLst/>
          </a:prstGeom>
        </p:spPr>
        <p:txBody>
          <a:bodyPr vert="horz" lIns="91440" tIns="45720" rIns="91440" bIns="45720" rtlCol="0">
            <a:noAutofit/>
          </a:bodyPr>
          <a:lst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533400" indent="-533400" algn="just">
              <a:lnSpc>
                <a:spcPct val="80000"/>
              </a:lnSpc>
              <a:defRPr i="1">
                <a:solidFill>
                  <a:srgbClr val="99CCFF"/>
                </a:solidFill>
              </a:defRPr>
            </a:pPr>
            <a:r>
              <a:rPr lang="fr-FR" sz="1800" dirty="0">
                <a:solidFill>
                  <a:schemeClr val="tx2">
                    <a:lumMod val="50000"/>
                    <a:lumOff val="50000"/>
                  </a:schemeClr>
                </a:solidFill>
              </a:rPr>
              <a:t>Environnement</a:t>
            </a:r>
            <a:r>
              <a:rPr lang="fr-FR" sz="1800" dirty="0"/>
              <a:t>, </a:t>
            </a:r>
            <a:r>
              <a:rPr lang="fr-FR" sz="1800" dirty="0">
                <a:ln w="0"/>
                <a:solidFill>
                  <a:schemeClr val="tx1"/>
                </a:solidFill>
              </a:rPr>
              <a:t>Eau et Forêt : gestion des eaux, prise en compte de la biodiversité, développement durable, aménagement des forêts, exploitation du bois, océanographie, climatologie,…</a:t>
            </a:r>
            <a:endParaRPr lang="fr-FR" sz="1800" dirty="0">
              <a:solidFill>
                <a:schemeClr val="tx1"/>
              </a:solidFill>
            </a:endParaRPr>
          </a:p>
        </p:txBody>
      </p:sp>
      <p:sp>
        <p:nvSpPr>
          <p:cNvPr id="3" name="Agronomie et Agroalimentaire : Postes à responsabilités dans les industries et la haute administration dans des secteurs variés : industrie agro-alimentaire, bio-informatique, aquaculture, aide aux pays en voie de développement, travail en milieu marin, ">
            <a:extLst>
              <a:ext uri="{FF2B5EF4-FFF2-40B4-BE49-F238E27FC236}">
                <a16:creationId xmlns:a16="http://schemas.microsoft.com/office/drawing/2014/main" id="{121C7CBD-1B5F-59F8-EBCF-64FCDF8A2D84}"/>
              </a:ext>
            </a:extLst>
          </p:cNvPr>
          <p:cNvSpPr txBox="1">
            <a:spLocks/>
          </p:cNvSpPr>
          <p:nvPr/>
        </p:nvSpPr>
        <p:spPr>
          <a:xfrm>
            <a:off x="250506" y="5158680"/>
            <a:ext cx="6557797" cy="2071688"/>
          </a:xfrm>
          <a:prstGeom prst="rect">
            <a:avLst/>
          </a:prstGeom>
        </p:spPr>
        <p:txBody>
          <a:bodyPr vert="horz" lIns="91440" tIns="45720" rIns="91440" bIns="45720" rtlCol="0">
            <a:noAutofit/>
          </a:bodyPr>
          <a:lst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533400" indent="-533400" algn="just">
              <a:lnSpc>
                <a:spcPct val="80000"/>
              </a:lnSpc>
              <a:defRPr i="1">
                <a:solidFill>
                  <a:srgbClr val="99CCFF"/>
                </a:solidFill>
              </a:defRPr>
            </a:pPr>
            <a:r>
              <a:rPr lang="fr-FR" sz="1800" dirty="0">
                <a:solidFill>
                  <a:schemeClr val="accent5"/>
                </a:solidFill>
              </a:rPr>
              <a:t>Sciences Vétérinaires : </a:t>
            </a:r>
            <a:r>
              <a:rPr lang="fr-FR" sz="1800" dirty="0">
                <a:solidFill>
                  <a:schemeClr val="tx1"/>
                </a:solidFill>
              </a:rPr>
              <a:t>Quatre Ecoles Nationales Vétérinaires forment les futurs vétérinaires et des spécialistes pour la qualité et la sécurité alimentaires, l’industrie du médicament, la nutrition animale, le conseil en élevage</a:t>
            </a:r>
          </a:p>
        </p:txBody>
      </p:sp>
      <p:pic>
        <p:nvPicPr>
          <p:cNvPr id="5" name="Picture 4" descr="Journée Portes Ouvertes 2023 CPGE BCPST PCSI et PSI du Lycée Roland Garros  – Lycée Roland Garros">
            <a:extLst>
              <a:ext uri="{FF2B5EF4-FFF2-40B4-BE49-F238E27FC236}">
                <a16:creationId xmlns:a16="http://schemas.microsoft.com/office/drawing/2014/main" id="{7C95A1FF-45C7-152F-A582-5852A0B0BC98}"/>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75352" y="78419"/>
            <a:ext cx="1489261" cy="1518606"/>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L'agroalimentaire, on vous dit tout ! | EHEB">
            <a:extLst>
              <a:ext uri="{FF2B5EF4-FFF2-40B4-BE49-F238E27FC236}">
                <a16:creationId xmlns:a16="http://schemas.microsoft.com/office/drawing/2014/main" id="{E900D286-A5D1-9A15-D502-05E2F1234B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1983" y="1607079"/>
            <a:ext cx="2030259" cy="115929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48" name="Picture 4" descr="Quels sont les métiers recherchés dans l'Agroalimentaire ? | Ouest-France  Emploi">
            <a:extLst>
              <a:ext uri="{FF2B5EF4-FFF2-40B4-BE49-F238E27FC236}">
                <a16:creationId xmlns:a16="http://schemas.microsoft.com/office/drawing/2014/main" id="{F1DD6C79-2CC5-1D69-57C3-E2D784AC5D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6902631" y="2756913"/>
            <a:ext cx="2061982" cy="115929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50" name="Picture 6" descr="Rapport des jeunes à l'environnement - étude du Centre de Recherche pour  l'Etude et l'Observation des Conditions de vie (CREDOC) - APPA">
            <a:extLst>
              <a:ext uri="{FF2B5EF4-FFF2-40B4-BE49-F238E27FC236}">
                <a16:creationId xmlns:a16="http://schemas.microsoft.com/office/drawing/2014/main" id="{B600F3D4-0AA5-709F-2E5F-72E3660B16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8746" y="3892642"/>
            <a:ext cx="1719469" cy="128960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52" name="Picture 8" descr="Comment devenir vétérinaire ? Fiche métier, formation, salaire">
            <a:extLst>
              <a:ext uri="{FF2B5EF4-FFF2-40B4-BE49-F238E27FC236}">
                <a16:creationId xmlns:a16="http://schemas.microsoft.com/office/drawing/2014/main" id="{0114E327-ED3C-4D70-CF81-6F92A1BC91D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13936" y="5250921"/>
            <a:ext cx="1862925" cy="114641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Concours et débouchés…">
            <a:extLst>
              <a:ext uri="{FF2B5EF4-FFF2-40B4-BE49-F238E27FC236}">
                <a16:creationId xmlns:a16="http://schemas.microsoft.com/office/drawing/2014/main" id="{05CDF27E-90AC-DD02-7D43-F2325B5D1F13}"/>
              </a:ext>
            </a:extLst>
          </p:cNvPr>
          <p:cNvSpPr txBox="1"/>
          <p:nvPr/>
        </p:nvSpPr>
        <p:spPr>
          <a:xfrm>
            <a:off x="474970" y="251115"/>
            <a:ext cx="7416700" cy="1259319"/>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Concours et </a:t>
            </a:r>
            <a:r>
              <a:rPr sz="3000" dirty="0" err="1">
                <a:solidFill>
                  <a:sysClr val="windowText" lastClr="000000"/>
                </a:solidFill>
                <a:latin typeface="Helvetica" panose="020B0604020202020204" pitchFamily="34" charset="0"/>
                <a:cs typeface="Helvetica" panose="020B0604020202020204" pitchFamily="34" charset="0"/>
              </a:rPr>
              <a:t>débouchés</a:t>
            </a:r>
            <a:r>
              <a:rPr sz="3000"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après la </a:t>
            </a:r>
            <a:r>
              <a:rPr lang="fr-RE" sz="3000" dirty="0">
                <a:solidFill>
                  <a:sysClr val="windowText" lastClr="000000"/>
                </a:solidFill>
                <a:latin typeface="Helvetica" panose="020B0604020202020204" pitchFamily="34" charset="0"/>
                <a:cs typeface="Helvetica" panose="020B0604020202020204" pitchFamily="34" charset="0"/>
              </a:rPr>
              <a:t>BCPST</a:t>
            </a:r>
            <a:r>
              <a:rPr sz="3000" dirty="0">
                <a:solidFill>
                  <a:sysClr val="windowText" lastClr="000000"/>
                </a:solidFill>
                <a:latin typeface="Helvetica" panose="020B0604020202020204" pitchFamily="34" charset="0"/>
                <a:cs typeface="Helvetica" panose="020B0604020202020204" pitchFamily="34" charset="0"/>
              </a:rPr>
              <a:t> du Lycée Roland Garros</a:t>
            </a:r>
          </a:p>
        </p:txBody>
      </p:sp>
    </p:spTree>
  </p:cSld>
  <p:clrMapOvr>
    <a:masterClrMapping/>
  </p:clrMapOvr>
  <mc:AlternateContent xmlns:mc="http://schemas.openxmlformats.org/markup-compatibility/2006" xmlns:p14="http://schemas.microsoft.com/office/powerpoint/2010/main">
    <mc:Choice Requires="p14">
      <p:transition advClick="0" advTm="6000">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0-#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dvAuto="0"/>
      <p:bldP spid="2" grpId="0" advAuto="0"/>
      <p:bldP spid="3" grpId="0" advAuto="0"/>
      <p:bldP spid="6"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himie et Biochimie :  Quatre grandes écoles de chimie…"/>
          <p:cNvSpPr txBox="1">
            <a:spLocks noGrp="1"/>
          </p:cNvSpPr>
          <p:nvPr>
            <p:ph type="body" sz="quarter" idx="4294967295"/>
          </p:nvPr>
        </p:nvSpPr>
        <p:spPr>
          <a:xfrm>
            <a:off x="904545" y="1625586"/>
            <a:ext cx="6400800" cy="390097"/>
          </a:xfrm>
          <a:prstGeom prst="rect">
            <a:avLst/>
          </a:prstGeom>
        </p:spPr>
        <p:txBody>
          <a:bodyPr>
            <a:normAutofit/>
          </a:bodyPr>
          <a:lstStyle/>
          <a:p>
            <a:pPr marL="0" indent="0">
              <a:lnSpc>
                <a:spcPct val="80000"/>
              </a:lnSpc>
              <a:spcBef>
                <a:spcPts val="500"/>
              </a:spcBef>
              <a:buSzTx/>
              <a:buFont typeface="Wingdings"/>
              <a:buNone/>
              <a:defRPr sz="2400" b="1" i="1">
                <a:solidFill>
                  <a:srgbClr val="FF6600"/>
                </a:solidFill>
              </a:defRPr>
            </a:pPr>
            <a:r>
              <a:rPr dirty="0" err="1"/>
              <a:t>Chimie</a:t>
            </a:r>
            <a:r>
              <a:rPr dirty="0"/>
              <a:t> et </a:t>
            </a:r>
            <a:r>
              <a:rPr dirty="0" err="1"/>
              <a:t>Biochimie</a:t>
            </a:r>
            <a:r>
              <a:rPr dirty="0"/>
              <a:t> :</a:t>
            </a:r>
            <a:r>
              <a:rPr lang="fr-RE" dirty="0"/>
              <a:t> </a:t>
            </a:r>
            <a:endParaRPr dirty="0">
              <a:solidFill>
                <a:schemeClr val="tx1"/>
              </a:solidFill>
            </a:endParaRPr>
          </a:p>
        </p:txBody>
      </p:sp>
      <p:sp>
        <p:nvSpPr>
          <p:cNvPr id="159" name="Recherche et Enseignement :  Après l’ENS ou une école d’ingénieur d’agronomie (concours Agro) ou de géologie (concours G2E), possibilité de se diriger vers la recherche (biologie, génétique, biochimie, océanographie, géologie, climatologie,…) dans les gr"/>
          <p:cNvSpPr txBox="1"/>
          <p:nvPr/>
        </p:nvSpPr>
        <p:spPr>
          <a:xfrm>
            <a:off x="914442" y="3242223"/>
            <a:ext cx="807061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80000"/>
              </a:lnSpc>
              <a:spcBef>
                <a:spcPts val="500"/>
              </a:spcBef>
              <a:defRPr i="1">
                <a:solidFill>
                  <a:srgbClr val="FF3399"/>
                </a:solidFill>
              </a:defRPr>
            </a:pPr>
            <a:r>
              <a:rPr sz="2000" b="1" dirty="0"/>
              <a:t>Recherche et </a:t>
            </a:r>
            <a:r>
              <a:rPr sz="2000" b="1" dirty="0" err="1"/>
              <a:t>Enseignement</a:t>
            </a:r>
            <a:r>
              <a:rPr sz="2000" b="1" dirty="0"/>
              <a:t> </a:t>
            </a:r>
            <a:r>
              <a:rPr dirty="0"/>
              <a:t>:</a:t>
            </a:r>
            <a:endParaRPr b="0" i="0" dirty="0"/>
          </a:p>
        </p:txBody>
      </p:sp>
      <p:sp>
        <p:nvSpPr>
          <p:cNvPr id="160" name="Sciences de la Terre : Les écoles de géologie (concours G2E) forment des ingénieurs spécialistes de l’exploitation et l’aménagement des ressources de la planète, la gestion du sol et du sous-sol ; géologie, industrie et prospection pétrolière, volcanolog"/>
          <p:cNvSpPr txBox="1"/>
          <p:nvPr/>
        </p:nvSpPr>
        <p:spPr>
          <a:xfrm>
            <a:off x="914442" y="4866471"/>
            <a:ext cx="610095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80000"/>
              </a:lnSpc>
              <a:spcBef>
                <a:spcPts val="500"/>
              </a:spcBef>
              <a:defRPr i="1">
                <a:solidFill>
                  <a:srgbClr val="CC9900"/>
                </a:solidFill>
              </a:defRPr>
            </a:pPr>
            <a:r>
              <a:rPr sz="2000" b="1" dirty="0"/>
              <a:t>Sciences de la Terre :</a:t>
            </a:r>
            <a:endParaRPr sz="2000" b="1" i="0" dirty="0"/>
          </a:p>
        </p:txBody>
      </p:sp>
      <p:sp>
        <p:nvSpPr>
          <p:cNvPr id="161" name="BCPST"/>
          <p:cNvSpPr txBox="1"/>
          <p:nvPr/>
        </p:nvSpPr>
        <p:spPr>
          <a:xfrm>
            <a:off x="7999094" y="6378575"/>
            <a:ext cx="849949" cy="311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FF7C80"/>
                </a:solidFill>
              </a:defRPr>
            </a:lvl1pPr>
          </a:lstStyle>
          <a:p>
            <a:r>
              <a:t>BCPST</a:t>
            </a:r>
          </a:p>
        </p:txBody>
      </p:sp>
      <p:sp>
        <p:nvSpPr>
          <p:cNvPr id="4" name="ZoneTexte 3">
            <a:extLst>
              <a:ext uri="{FF2B5EF4-FFF2-40B4-BE49-F238E27FC236}">
                <a16:creationId xmlns:a16="http://schemas.microsoft.com/office/drawing/2014/main" id="{3DE3FEB8-D482-716C-7719-21AEB5AD035A}"/>
              </a:ext>
            </a:extLst>
          </p:cNvPr>
          <p:cNvSpPr txBox="1"/>
          <p:nvPr/>
        </p:nvSpPr>
        <p:spPr>
          <a:xfrm>
            <a:off x="859735" y="3561709"/>
            <a:ext cx="7369824" cy="1200329"/>
          </a:xfrm>
          <a:prstGeom prst="rect">
            <a:avLst/>
          </a:prstGeom>
          <a:noFill/>
        </p:spPr>
        <p:txBody>
          <a:bodyPr wrap="square">
            <a:spAutoFit/>
          </a:bodyPr>
          <a:lstStyle/>
          <a:p>
            <a:pPr algn="just"/>
            <a:r>
              <a:rPr lang="fr-FR" b="0" i="0" dirty="0"/>
              <a:t>Après l’ENS ou une école d’ingénieur d’agronomie (concours Agro) ou de géologie (concours G2E), possibilité de se diriger vers la recherche (biologie, génétique, biochimie, océanographie, géologie, climatologie,…) dans les grands organismes publics (CNRS, INRA, Universités…) ou en entreprise.</a:t>
            </a:r>
            <a:endParaRPr lang="fr-FR" dirty="0"/>
          </a:p>
        </p:txBody>
      </p:sp>
      <p:sp>
        <p:nvSpPr>
          <p:cNvPr id="6" name="ZoneTexte 5">
            <a:extLst>
              <a:ext uri="{FF2B5EF4-FFF2-40B4-BE49-F238E27FC236}">
                <a16:creationId xmlns:a16="http://schemas.microsoft.com/office/drawing/2014/main" id="{47EF2908-CD0A-8E64-4F8C-8F94CB0A199C}"/>
              </a:ext>
            </a:extLst>
          </p:cNvPr>
          <p:cNvSpPr txBox="1"/>
          <p:nvPr/>
        </p:nvSpPr>
        <p:spPr>
          <a:xfrm>
            <a:off x="904546" y="2085666"/>
            <a:ext cx="6400800" cy="1141338"/>
          </a:xfrm>
          <a:prstGeom prst="rect">
            <a:avLst/>
          </a:prstGeom>
          <a:noFill/>
        </p:spPr>
        <p:txBody>
          <a:bodyPr wrap="square">
            <a:spAutoFit/>
          </a:bodyPr>
          <a:lstStyle/>
          <a:p>
            <a:pPr marL="0" indent="0">
              <a:lnSpc>
                <a:spcPct val="80000"/>
              </a:lnSpc>
              <a:spcBef>
                <a:spcPts val="500"/>
              </a:spcBef>
              <a:buSzTx/>
              <a:buFont typeface="Wingdings"/>
              <a:buNone/>
              <a:defRPr sz="2400" b="1" i="1">
                <a:solidFill>
                  <a:srgbClr val="FF6600"/>
                </a:solidFill>
              </a:defRPr>
            </a:pPr>
            <a:r>
              <a:rPr lang="fr-FR" sz="2000" b="0" i="0" dirty="0">
                <a:solidFill>
                  <a:schemeClr val="tx1"/>
                </a:solidFill>
              </a:rPr>
              <a:t>Quatre grandes écoles de chimie </a:t>
            </a:r>
            <a:r>
              <a:rPr lang="fr-FR" sz="2000" dirty="0">
                <a:solidFill>
                  <a:schemeClr val="tx1"/>
                </a:solidFill>
              </a:rPr>
              <a:t>accessibles par le concours Agro et six écoles accessibles par le concours Polytech forment des ingénieurs en biotechnologies, </a:t>
            </a:r>
          </a:p>
          <a:p>
            <a:pPr marL="0" indent="0">
              <a:lnSpc>
                <a:spcPct val="80000"/>
              </a:lnSpc>
              <a:spcBef>
                <a:spcPts val="500"/>
              </a:spcBef>
              <a:buSzTx/>
              <a:buFont typeface="Wingdings"/>
              <a:buNone/>
              <a:defRPr sz="2400"/>
            </a:pPr>
            <a:r>
              <a:rPr lang="fr-FR" sz="2000" dirty="0">
                <a:solidFill>
                  <a:schemeClr val="tx1"/>
                </a:solidFill>
              </a:rPr>
              <a:t>chimie, biochimie et technologies médicales.  </a:t>
            </a:r>
          </a:p>
        </p:txBody>
      </p:sp>
      <p:sp>
        <p:nvSpPr>
          <p:cNvPr id="8" name="ZoneTexte 7">
            <a:extLst>
              <a:ext uri="{FF2B5EF4-FFF2-40B4-BE49-F238E27FC236}">
                <a16:creationId xmlns:a16="http://schemas.microsoft.com/office/drawing/2014/main" id="{CA2F8A3C-C655-E53B-A258-AD3CB0D3950B}"/>
              </a:ext>
            </a:extLst>
          </p:cNvPr>
          <p:cNvSpPr txBox="1"/>
          <p:nvPr/>
        </p:nvSpPr>
        <p:spPr>
          <a:xfrm>
            <a:off x="859735" y="5119720"/>
            <a:ext cx="6614491" cy="1477328"/>
          </a:xfrm>
          <a:prstGeom prst="rect">
            <a:avLst/>
          </a:prstGeom>
          <a:noFill/>
        </p:spPr>
        <p:txBody>
          <a:bodyPr wrap="square">
            <a:spAutoFit/>
          </a:bodyPr>
          <a:lstStyle/>
          <a:p>
            <a:pPr algn="just"/>
            <a:r>
              <a:rPr lang="fr-FR" b="0" i="0" dirty="0"/>
              <a:t>Les écoles de géologie (concours G2E) forment des ingénieurs spécialistes de l’exploitation et l’aménagement des ressources de la planète, la gestion du sol et du sous-sol ; géologie, industrie et prospection pétrolière, volcanologie, ressources énergétiques, génie civil, …</a:t>
            </a:r>
            <a:endParaRPr lang="fr-FR" dirty="0"/>
          </a:p>
        </p:txBody>
      </p:sp>
      <p:pic>
        <p:nvPicPr>
          <p:cNvPr id="13318" name="Picture 6" descr="Biochimie | Emsey Hospital">
            <a:extLst>
              <a:ext uri="{FF2B5EF4-FFF2-40B4-BE49-F238E27FC236}">
                <a16:creationId xmlns:a16="http://schemas.microsoft.com/office/drawing/2014/main" id="{973B20DF-CEC5-1314-8FC4-27081A0493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1146"/>
          <a:stretch/>
        </p:blipFill>
        <p:spPr bwMode="auto">
          <a:xfrm>
            <a:off x="7475980" y="2305039"/>
            <a:ext cx="1609166" cy="11430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1" name="Picture 4" descr="Journée Portes Ouvertes 2023 CPGE BCPST PCSI et PSI du Lycée Roland Garros  – Lycée Roland Garros">
            <a:extLst>
              <a:ext uri="{FF2B5EF4-FFF2-40B4-BE49-F238E27FC236}">
                <a16:creationId xmlns:a16="http://schemas.microsoft.com/office/drawing/2014/main" id="{438722D9-9373-F08B-36C4-FE634D105754}"/>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75352" y="78419"/>
            <a:ext cx="1489261" cy="1518606"/>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Définition de géologie - Concept et Sens">
            <a:extLst>
              <a:ext uri="{FF2B5EF4-FFF2-40B4-BE49-F238E27FC236}">
                <a16:creationId xmlns:a16="http://schemas.microsoft.com/office/drawing/2014/main" id="{A872C778-73C5-0E6E-0741-5797180F84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61" y="4613607"/>
            <a:ext cx="1594914" cy="120545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Concours et débouchés…">
            <a:extLst>
              <a:ext uri="{FF2B5EF4-FFF2-40B4-BE49-F238E27FC236}">
                <a16:creationId xmlns:a16="http://schemas.microsoft.com/office/drawing/2014/main" id="{77D1A86A-1D85-2672-53D7-AC1E6CEDFE66}"/>
              </a:ext>
            </a:extLst>
          </p:cNvPr>
          <p:cNvSpPr txBox="1"/>
          <p:nvPr/>
        </p:nvSpPr>
        <p:spPr>
          <a:xfrm>
            <a:off x="474970" y="251115"/>
            <a:ext cx="7416700" cy="1259319"/>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Concours et </a:t>
            </a:r>
            <a:r>
              <a:rPr sz="3000" dirty="0" err="1">
                <a:solidFill>
                  <a:sysClr val="windowText" lastClr="000000"/>
                </a:solidFill>
                <a:latin typeface="Helvetica" panose="020B0604020202020204" pitchFamily="34" charset="0"/>
                <a:cs typeface="Helvetica" panose="020B0604020202020204" pitchFamily="34" charset="0"/>
              </a:rPr>
              <a:t>débouchés</a:t>
            </a:r>
            <a:r>
              <a:rPr sz="3000" dirty="0">
                <a:solidFill>
                  <a:sysClr val="windowText" lastClr="000000"/>
                </a:solidFill>
                <a:latin typeface="Helvetica" panose="020B0604020202020204" pitchFamily="34" charset="0"/>
                <a:cs typeface="Helvetica" panose="020B0604020202020204" pitchFamily="34" charset="0"/>
              </a:rPr>
              <a:t> </a:t>
            </a:r>
          </a:p>
          <a:p>
            <a:pPr algn="ctr">
              <a:spcBef>
                <a:spcPts val="1900"/>
              </a:spcBef>
              <a:defRPr sz="3200">
                <a:solidFill>
                  <a:srgbClr val="FFFFFF"/>
                </a:solidFill>
              </a:defRPr>
            </a:pPr>
            <a:r>
              <a:rPr sz="3000" dirty="0">
                <a:solidFill>
                  <a:sysClr val="windowText" lastClr="000000"/>
                </a:solidFill>
                <a:latin typeface="Helvetica" panose="020B0604020202020204" pitchFamily="34" charset="0"/>
                <a:cs typeface="Helvetica" panose="020B0604020202020204" pitchFamily="34" charset="0"/>
              </a:rPr>
              <a:t>après la </a:t>
            </a:r>
            <a:r>
              <a:rPr lang="fr-RE" sz="3000" dirty="0">
                <a:solidFill>
                  <a:sysClr val="windowText" lastClr="000000"/>
                </a:solidFill>
                <a:latin typeface="Helvetica" panose="020B0604020202020204" pitchFamily="34" charset="0"/>
                <a:cs typeface="Helvetica" panose="020B0604020202020204" pitchFamily="34" charset="0"/>
              </a:rPr>
              <a:t>BCPST</a:t>
            </a:r>
            <a:r>
              <a:rPr sz="3000" dirty="0">
                <a:solidFill>
                  <a:sysClr val="windowText" lastClr="000000"/>
                </a:solidFill>
                <a:latin typeface="Helvetica" panose="020B0604020202020204" pitchFamily="34" charset="0"/>
                <a:cs typeface="Helvetica" panose="020B0604020202020204" pitchFamily="34" charset="0"/>
              </a:rPr>
              <a:t> du Lycée Roland Garros</a:t>
            </a:r>
          </a:p>
        </p:txBody>
      </p:sp>
    </p:spTree>
  </p:cSld>
  <p:clrMapOvr>
    <a:masterClrMapping/>
  </p:clrMapOvr>
  <mc:AlternateContent xmlns:mc="http://schemas.openxmlformats.org/markup-compatibility/2006" xmlns:p14="http://schemas.microsoft.com/office/powerpoint/2010/main">
    <mc:Choice Requires="p14">
      <p:transition advClick="0" advTm="2000">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0-#ppt_w/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5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iterate>
                                    <p:tmAbs val="0"/>
                                  </p:iterate>
                                  <p:childTnLst>
                                    <p:set>
                                      <p:cBhvr>
                                        <p:cTn id="20" fill="hold"/>
                                        <p:tgtEl>
                                          <p:spTgt spid="159"/>
                                        </p:tgtEl>
                                        <p:attrNameLst>
                                          <p:attrName>style.visibility</p:attrName>
                                        </p:attrNameLst>
                                      </p:cBhvr>
                                      <p:to>
                                        <p:strVal val="visible"/>
                                      </p:to>
                                    </p:set>
                                    <p:anim calcmode="lin" valueType="num">
                                      <p:cBhvr>
                                        <p:cTn id="21" dur="500" fill="hold"/>
                                        <p:tgtEl>
                                          <p:spTgt spid="159"/>
                                        </p:tgtEl>
                                        <p:attrNameLst>
                                          <p:attrName>ppt_x</p:attrName>
                                        </p:attrNameLst>
                                      </p:cBhvr>
                                      <p:tavLst>
                                        <p:tav tm="0">
                                          <p:val>
                                            <p:strVal val="0-#ppt_w/2"/>
                                          </p:val>
                                        </p:tav>
                                        <p:tav tm="100000">
                                          <p:val>
                                            <p:strVal val="#ppt_x"/>
                                          </p:val>
                                        </p:tav>
                                      </p:tavLst>
                                    </p:anim>
                                    <p:anim calcmode="lin" valueType="num">
                                      <p:cBhvr>
                                        <p:cTn id="22" dur="500" fill="hold"/>
                                        <p:tgtEl>
                                          <p:spTgt spid="15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uiExpand="1" build="p" advAuto="0"/>
      <p:bldP spid="159" grpId="0" uiExpand="1" animBg="1" advAuto="0"/>
      <p:bldP spid="160" grpId="0" uiExpand="1" animBg="1" advAuto="0"/>
      <p:bldP spid="4" grpId="0"/>
      <p:bldP spid="6" grpId="0"/>
      <p:bldP spid="8" grpId="0"/>
      <p:bldP spid="3"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Ingénieur à l’ONF  Réunion spécialisée en génie civil et risques naturels ;…"/>
          <p:cNvSpPr txBox="1"/>
          <p:nvPr/>
        </p:nvSpPr>
        <p:spPr>
          <a:xfrm>
            <a:off x="834887" y="1115159"/>
            <a:ext cx="8191955"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defRPr sz="2000" b="0">
                <a:solidFill>
                  <a:srgbClr val="99FF66"/>
                </a:solidFill>
                <a:latin typeface="Modern No. 20"/>
                <a:ea typeface="Modern No. 20"/>
                <a:cs typeface="Modern No. 20"/>
                <a:sym typeface="Modern No. 20"/>
              </a:defRPr>
            </a:pPr>
            <a:r>
              <a:rPr dirty="0" err="1">
                <a:solidFill>
                  <a:schemeClr val="accent2">
                    <a:lumMod val="75000"/>
                  </a:schemeClr>
                </a:solidFill>
              </a:rPr>
              <a:t>Ingénieur</a:t>
            </a:r>
            <a:r>
              <a:rPr dirty="0">
                <a:solidFill>
                  <a:schemeClr val="accent2">
                    <a:lumMod val="75000"/>
                  </a:schemeClr>
                </a:solidFill>
              </a:rPr>
              <a:t> à </a:t>
            </a:r>
            <a:r>
              <a:rPr dirty="0" err="1">
                <a:solidFill>
                  <a:schemeClr val="accent2">
                    <a:lumMod val="75000"/>
                  </a:schemeClr>
                </a:solidFill>
              </a:rPr>
              <a:t>l’ONF</a:t>
            </a:r>
            <a:r>
              <a:rPr dirty="0">
                <a:solidFill>
                  <a:schemeClr val="accent2">
                    <a:lumMod val="75000"/>
                  </a:schemeClr>
                </a:solidFill>
              </a:rPr>
              <a:t>  Réunion </a:t>
            </a:r>
            <a:r>
              <a:rPr dirty="0" err="1">
                <a:solidFill>
                  <a:schemeClr val="accent2">
                    <a:lumMod val="75000"/>
                  </a:schemeClr>
                </a:solidFill>
              </a:rPr>
              <a:t>spécialisée</a:t>
            </a:r>
            <a:r>
              <a:rPr dirty="0">
                <a:solidFill>
                  <a:schemeClr val="accent2">
                    <a:lumMod val="75000"/>
                  </a:schemeClr>
                </a:solidFill>
              </a:rPr>
              <a:t> </a:t>
            </a:r>
            <a:r>
              <a:rPr dirty="0" err="1">
                <a:solidFill>
                  <a:schemeClr val="accent2">
                    <a:lumMod val="75000"/>
                  </a:schemeClr>
                </a:solidFill>
              </a:rPr>
              <a:t>en</a:t>
            </a:r>
            <a:r>
              <a:rPr dirty="0">
                <a:solidFill>
                  <a:schemeClr val="accent2">
                    <a:lumMod val="75000"/>
                  </a:schemeClr>
                </a:solidFill>
              </a:rPr>
              <a:t> </a:t>
            </a:r>
            <a:r>
              <a:rPr dirty="0" err="1">
                <a:solidFill>
                  <a:schemeClr val="accent2">
                    <a:lumMod val="75000"/>
                  </a:schemeClr>
                </a:solidFill>
              </a:rPr>
              <a:t>génie</a:t>
            </a:r>
            <a:r>
              <a:rPr dirty="0">
                <a:solidFill>
                  <a:schemeClr val="accent2">
                    <a:lumMod val="75000"/>
                  </a:schemeClr>
                </a:solidFill>
              </a:rPr>
              <a:t> civil et </a:t>
            </a:r>
            <a:r>
              <a:rPr dirty="0" err="1">
                <a:solidFill>
                  <a:schemeClr val="accent2">
                    <a:lumMod val="75000"/>
                  </a:schemeClr>
                </a:solidFill>
              </a:rPr>
              <a:t>risques</a:t>
            </a:r>
            <a:r>
              <a:rPr dirty="0">
                <a:solidFill>
                  <a:schemeClr val="accent2">
                    <a:lumMod val="75000"/>
                  </a:schemeClr>
                </a:solidFill>
              </a:rPr>
              <a:t> </a:t>
            </a:r>
            <a:r>
              <a:rPr dirty="0" err="1">
                <a:solidFill>
                  <a:schemeClr val="accent2">
                    <a:lumMod val="75000"/>
                  </a:schemeClr>
                </a:solidFill>
              </a:rPr>
              <a:t>naturels</a:t>
            </a:r>
            <a:r>
              <a:rPr dirty="0">
                <a:solidFill>
                  <a:schemeClr val="accent2">
                    <a:lumMod val="75000"/>
                  </a:schemeClr>
                </a:solidFill>
              </a:rPr>
              <a:t> </a:t>
            </a:r>
            <a:r>
              <a:rPr dirty="0">
                <a:solidFill>
                  <a:srgbClr val="9999FF"/>
                </a:solidFill>
              </a:rPr>
              <a:t>; </a:t>
            </a:r>
          </a:p>
          <a:p>
            <a:pPr>
              <a:defRPr sz="2000" b="0">
                <a:solidFill>
                  <a:srgbClr val="FF0000"/>
                </a:solidFill>
                <a:latin typeface="Modern No. 20"/>
                <a:ea typeface="Modern No. 20"/>
                <a:cs typeface="Modern No. 20"/>
                <a:sym typeface="Modern No. 20"/>
              </a:defRPr>
            </a:pPr>
            <a:r>
              <a:rPr dirty="0" err="1"/>
              <a:t>Ingénieur</a:t>
            </a:r>
            <a:r>
              <a:rPr lang="fr-RE" dirty="0"/>
              <a:t>e</a:t>
            </a:r>
            <a:r>
              <a:rPr dirty="0"/>
              <a:t> </a:t>
            </a:r>
            <a:r>
              <a:rPr dirty="0" err="1"/>
              <a:t>spécialisée</a:t>
            </a:r>
            <a:r>
              <a:rPr dirty="0"/>
              <a:t> </a:t>
            </a:r>
            <a:r>
              <a:rPr dirty="0" err="1"/>
              <a:t>en</a:t>
            </a:r>
            <a:r>
              <a:rPr dirty="0"/>
              <a:t> biotechnologies à Lyon dans un </a:t>
            </a:r>
            <a:r>
              <a:rPr dirty="0" err="1"/>
              <a:t>laboratoire</a:t>
            </a:r>
            <a:r>
              <a:rPr dirty="0"/>
              <a:t> </a:t>
            </a:r>
            <a:r>
              <a:rPr dirty="0" err="1"/>
              <a:t>pharmaceutique</a:t>
            </a:r>
            <a:r>
              <a:rPr dirty="0"/>
              <a:t> </a:t>
            </a:r>
            <a:r>
              <a:rPr dirty="0">
                <a:solidFill>
                  <a:srgbClr val="9999FF"/>
                </a:solidFill>
              </a:rPr>
              <a:t>; </a:t>
            </a:r>
            <a:r>
              <a:rPr dirty="0" err="1">
                <a:solidFill>
                  <a:schemeClr val="tx2">
                    <a:lumMod val="75000"/>
                    <a:lumOff val="25000"/>
                  </a:schemeClr>
                </a:solidFill>
              </a:rPr>
              <a:t>Vétérinaire</a:t>
            </a:r>
            <a:r>
              <a:rPr dirty="0">
                <a:solidFill>
                  <a:schemeClr val="tx2">
                    <a:lumMod val="75000"/>
                    <a:lumOff val="25000"/>
                  </a:schemeClr>
                </a:solidFill>
              </a:rPr>
              <a:t> </a:t>
            </a:r>
            <a:r>
              <a:rPr dirty="0" err="1">
                <a:solidFill>
                  <a:schemeClr val="tx2">
                    <a:lumMod val="75000"/>
                    <a:lumOff val="25000"/>
                  </a:schemeClr>
                </a:solidFill>
              </a:rPr>
              <a:t>en</a:t>
            </a:r>
            <a:r>
              <a:rPr dirty="0">
                <a:solidFill>
                  <a:schemeClr val="tx2">
                    <a:lumMod val="75000"/>
                    <a:lumOff val="25000"/>
                  </a:schemeClr>
                </a:solidFill>
              </a:rPr>
              <a:t> </a:t>
            </a:r>
            <a:r>
              <a:rPr dirty="0" err="1">
                <a:solidFill>
                  <a:schemeClr val="tx2">
                    <a:lumMod val="75000"/>
                    <a:lumOff val="25000"/>
                  </a:schemeClr>
                </a:solidFill>
              </a:rPr>
              <a:t>clinique</a:t>
            </a:r>
            <a:r>
              <a:rPr dirty="0">
                <a:solidFill>
                  <a:schemeClr val="tx2">
                    <a:lumMod val="75000"/>
                    <a:lumOff val="25000"/>
                  </a:schemeClr>
                </a:solidFill>
              </a:rPr>
              <a:t> à la Réunion </a:t>
            </a:r>
            <a:r>
              <a:rPr dirty="0">
                <a:solidFill>
                  <a:srgbClr val="9999FF"/>
                </a:solidFill>
              </a:rPr>
              <a:t>; </a:t>
            </a:r>
            <a:r>
              <a:rPr dirty="0" err="1">
                <a:solidFill>
                  <a:srgbClr val="FF6699"/>
                </a:solidFill>
              </a:rPr>
              <a:t>Chercheu</a:t>
            </a:r>
            <a:r>
              <a:rPr lang="fr-RE" dirty="0">
                <a:solidFill>
                  <a:srgbClr val="FF6699"/>
                </a:solidFill>
              </a:rPr>
              <a:t>se</a:t>
            </a:r>
            <a:r>
              <a:rPr dirty="0">
                <a:solidFill>
                  <a:srgbClr val="FF6699"/>
                </a:solidFill>
              </a:rPr>
              <a:t> </a:t>
            </a:r>
            <a:r>
              <a:rPr dirty="0" err="1">
                <a:solidFill>
                  <a:srgbClr val="FF6699"/>
                </a:solidFill>
              </a:rPr>
              <a:t>en</a:t>
            </a:r>
            <a:r>
              <a:rPr dirty="0">
                <a:solidFill>
                  <a:srgbClr val="FF6699"/>
                </a:solidFill>
              </a:rPr>
              <a:t> </a:t>
            </a:r>
            <a:r>
              <a:rPr dirty="0" err="1">
                <a:solidFill>
                  <a:srgbClr val="FF6699"/>
                </a:solidFill>
              </a:rPr>
              <a:t>épidémiologie</a:t>
            </a:r>
            <a:r>
              <a:rPr dirty="0">
                <a:solidFill>
                  <a:srgbClr val="FF6699"/>
                </a:solidFill>
              </a:rPr>
              <a:t> au </a:t>
            </a:r>
            <a:r>
              <a:rPr dirty="0" err="1">
                <a:solidFill>
                  <a:srgbClr val="FF6699"/>
                </a:solidFill>
              </a:rPr>
              <a:t>centre</a:t>
            </a:r>
            <a:r>
              <a:rPr dirty="0">
                <a:solidFill>
                  <a:srgbClr val="FF6699"/>
                </a:solidFill>
              </a:rPr>
              <a:t> international de recherche sur le cancer à Lyon </a:t>
            </a:r>
            <a:r>
              <a:rPr dirty="0">
                <a:solidFill>
                  <a:srgbClr val="9999FF"/>
                </a:solidFill>
              </a:rPr>
              <a:t>; </a:t>
            </a:r>
            <a:r>
              <a:rPr dirty="0" err="1">
                <a:solidFill>
                  <a:srgbClr val="FF9933"/>
                </a:solidFill>
              </a:rPr>
              <a:t>Ingénieur</a:t>
            </a:r>
            <a:r>
              <a:rPr dirty="0">
                <a:solidFill>
                  <a:srgbClr val="FF9933"/>
                </a:solidFill>
              </a:rPr>
              <a:t> </a:t>
            </a:r>
            <a:r>
              <a:rPr dirty="0" err="1">
                <a:solidFill>
                  <a:srgbClr val="FF9933"/>
                </a:solidFill>
              </a:rPr>
              <a:t>agronome</a:t>
            </a:r>
            <a:r>
              <a:rPr dirty="0">
                <a:solidFill>
                  <a:srgbClr val="FF9933"/>
                </a:solidFill>
              </a:rPr>
              <a:t> au CIRAD </a:t>
            </a:r>
            <a:r>
              <a:rPr dirty="0">
                <a:solidFill>
                  <a:srgbClr val="9999FF"/>
                </a:solidFill>
              </a:rPr>
              <a:t>; </a:t>
            </a:r>
          </a:p>
        </p:txBody>
      </p:sp>
      <p:sp>
        <p:nvSpPr>
          <p:cNvPr id="165" name="Ingénieur à l’Office de l’Eau Réunion, spécialisé en gestion de l’eau ; Inspectrice de l’Environnement à Paris pour la direction régionale de l’Environnement et de l’Energie ; Maître de conférences en Biologie à l’Université de la Réunion ; Ingénieur che"/>
          <p:cNvSpPr txBox="1"/>
          <p:nvPr/>
        </p:nvSpPr>
        <p:spPr>
          <a:xfrm>
            <a:off x="834887" y="2681287"/>
            <a:ext cx="8026856" cy="1450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defRPr sz="1800" b="0">
                <a:solidFill>
                  <a:srgbClr val="9999FF"/>
                </a:solidFill>
                <a:latin typeface="Modern No. 20"/>
                <a:ea typeface="Modern No. 20"/>
                <a:cs typeface="Modern No. 20"/>
                <a:sym typeface="Modern No. 20"/>
              </a:defRPr>
            </a:pPr>
            <a:r>
              <a:rPr dirty="0" err="1"/>
              <a:t>Ingénieur</a:t>
            </a:r>
            <a:r>
              <a:rPr lang="fr-RE" dirty="0"/>
              <a:t>e</a:t>
            </a:r>
            <a:r>
              <a:rPr dirty="0"/>
              <a:t> à </a:t>
            </a:r>
            <a:r>
              <a:rPr dirty="0" err="1"/>
              <a:t>l’Office</a:t>
            </a:r>
            <a:r>
              <a:rPr dirty="0"/>
              <a:t> de </a:t>
            </a:r>
            <a:r>
              <a:rPr dirty="0" err="1"/>
              <a:t>l’Eau</a:t>
            </a:r>
            <a:r>
              <a:rPr dirty="0"/>
              <a:t> Réunion, </a:t>
            </a:r>
            <a:r>
              <a:rPr dirty="0" err="1"/>
              <a:t>spécialisé</a:t>
            </a:r>
            <a:r>
              <a:rPr lang="fr-RE" dirty="0"/>
              <a:t>e</a:t>
            </a:r>
            <a:r>
              <a:rPr dirty="0"/>
              <a:t> </a:t>
            </a:r>
            <a:r>
              <a:rPr dirty="0" err="1"/>
              <a:t>en</a:t>
            </a:r>
            <a:r>
              <a:rPr dirty="0"/>
              <a:t> gestion de </a:t>
            </a:r>
            <a:r>
              <a:rPr dirty="0" err="1"/>
              <a:t>l’eau</a:t>
            </a:r>
            <a:r>
              <a:rPr dirty="0"/>
              <a:t> ; </a:t>
            </a:r>
            <a:r>
              <a:rPr dirty="0" err="1">
                <a:solidFill>
                  <a:srgbClr val="00B050"/>
                </a:solidFill>
              </a:rPr>
              <a:t>Inspectrice</a:t>
            </a:r>
            <a:r>
              <a:rPr dirty="0">
                <a:solidFill>
                  <a:srgbClr val="00B050"/>
                </a:solidFill>
              </a:rPr>
              <a:t> de </a:t>
            </a:r>
            <a:r>
              <a:rPr dirty="0" err="1">
                <a:solidFill>
                  <a:srgbClr val="00B050"/>
                </a:solidFill>
              </a:rPr>
              <a:t>l’Environnement</a:t>
            </a:r>
            <a:r>
              <a:rPr dirty="0">
                <a:solidFill>
                  <a:srgbClr val="00B050"/>
                </a:solidFill>
              </a:rPr>
              <a:t> à Paris pour la direction </a:t>
            </a:r>
            <a:r>
              <a:rPr dirty="0" err="1">
                <a:solidFill>
                  <a:srgbClr val="00B050"/>
                </a:solidFill>
              </a:rPr>
              <a:t>régionale</a:t>
            </a:r>
            <a:r>
              <a:rPr dirty="0">
                <a:solidFill>
                  <a:srgbClr val="00B050"/>
                </a:solidFill>
              </a:rPr>
              <a:t> de </a:t>
            </a:r>
            <a:r>
              <a:rPr dirty="0" err="1">
                <a:solidFill>
                  <a:srgbClr val="00B050"/>
                </a:solidFill>
              </a:rPr>
              <a:t>l’Environnement</a:t>
            </a:r>
            <a:r>
              <a:rPr dirty="0">
                <a:solidFill>
                  <a:srgbClr val="00B050"/>
                </a:solidFill>
              </a:rPr>
              <a:t> et de </a:t>
            </a:r>
            <a:r>
              <a:rPr dirty="0" err="1">
                <a:solidFill>
                  <a:srgbClr val="00B050"/>
                </a:solidFill>
              </a:rPr>
              <a:t>l’Energie</a:t>
            </a:r>
            <a:r>
              <a:rPr dirty="0">
                <a:solidFill>
                  <a:srgbClr val="00B050"/>
                </a:solidFill>
              </a:rPr>
              <a:t> </a:t>
            </a:r>
            <a:r>
              <a:rPr dirty="0"/>
              <a:t>; </a:t>
            </a:r>
            <a:r>
              <a:rPr dirty="0">
                <a:solidFill>
                  <a:srgbClr val="0000D5"/>
                </a:solidFill>
              </a:rPr>
              <a:t>Maître de </a:t>
            </a:r>
            <a:r>
              <a:rPr dirty="0" err="1">
                <a:solidFill>
                  <a:srgbClr val="0000D5"/>
                </a:solidFill>
              </a:rPr>
              <a:t>conférences</a:t>
            </a:r>
            <a:r>
              <a:rPr dirty="0">
                <a:solidFill>
                  <a:srgbClr val="0000D5"/>
                </a:solidFill>
              </a:rPr>
              <a:t> </a:t>
            </a:r>
            <a:r>
              <a:rPr dirty="0" err="1">
                <a:solidFill>
                  <a:srgbClr val="0000D5"/>
                </a:solidFill>
              </a:rPr>
              <a:t>en</a:t>
            </a:r>
            <a:r>
              <a:rPr dirty="0">
                <a:solidFill>
                  <a:srgbClr val="0000D5"/>
                </a:solidFill>
              </a:rPr>
              <a:t> </a:t>
            </a:r>
            <a:r>
              <a:rPr dirty="0" err="1">
                <a:solidFill>
                  <a:srgbClr val="0000D5"/>
                </a:solidFill>
              </a:rPr>
              <a:t>Biologie</a:t>
            </a:r>
            <a:r>
              <a:rPr dirty="0">
                <a:solidFill>
                  <a:srgbClr val="0000D5"/>
                </a:solidFill>
              </a:rPr>
              <a:t> à </a:t>
            </a:r>
            <a:r>
              <a:rPr dirty="0" err="1">
                <a:solidFill>
                  <a:srgbClr val="0000D5"/>
                </a:solidFill>
              </a:rPr>
              <a:t>l’Université</a:t>
            </a:r>
            <a:r>
              <a:rPr dirty="0">
                <a:solidFill>
                  <a:srgbClr val="0000D5"/>
                </a:solidFill>
              </a:rPr>
              <a:t> de la Réunion </a:t>
            </a:r>
            <a:r>
              <a:rPr dirty="0"/>
              <a:t>; </a:t>
            </a:r>
            <a:r>
              <a:rPr sz="1600" dirty="0" err="1"/>
              <a:t>Ingénieur</a:t>
            </a:r>
            <a:r>
              <a:rPr sz="1600" dirty="0"/>
              <a:t> chef de </a:t>
            </a:r>
            <a:r>
              <a:rPr sz="1600" dirty="0" err="1"/>
              <a:t>projet</a:t>
            </a:r>
            <a:r>
              <a:rPr sz="1600" dirty="0"/>
              <a:t> dans le </a:t>
            </a:r>
            <a:r>
              <a:rPr sz="1600" dirty="0" err="1"/>
              <a:t>domaine</a:t>
            </a:r>
            <a:r>
              <a:rPr sz="1600" dirty="0"/>
              <a:t> commercial international ; </a:t>
            </a:r>
            <a:r>
              <a:rPr sz="1600" dirty="0" err="1">
                <a:solidFill>
                  <a:srgbClr val="FF0000"/>
                </a:solidFill>
              </a:rPr>
              <a:t>Chercheur</a:t>
            </a:r>
            <a:r>
              <a:rPr sz="1600" dirty="0">
                <a:solidFill>
                  <a:srgbClr val="FF0000"/>
                </a:solidFill>
              </a:rPr>
              <a:t> au CNRS </a:t>
            </a:r>
            <a:r>
              <a:rPr sz="1600" dirty="0" err="1">
                <a:solidFill>
                  <a:srgbClr val="FF0000"/>
                </a:solidFill>
              </a:rPr>
              <a:t>spécialisée</a:t>
            </a:r>
            <a:r>
              <a:rPr sz="1600" dirty="0">
                <a:solidFill>
                  <a:srgbClr val="FF0000"/>
                </a:solidFill>
              </a:rPr>
              <a:t> </a:t>
            </a:r>
            <a:r>
              <a:rPr sz="1600" dirty="0" err="1">
                <a:solidFill>
                  <a:srgbClr val="FF0000"/>
                </a:solidFill>
              </a:rPr>
              <a:t>en</a:t>
            </a:r>
            <a:r>
              <a:rPr sz="1600" dirty="0">
                <a:solidFill>
                  <a:srgbClr val="FF0000"/>
                </a:solidFill>
              </a:rPr>
              <a:t> </a:t>
            </a:r>
            <a:r>
              <a:rPr sz="1600" dirty="0" err="1">
                <a:solidFill>
                  <a:srgbClr val="FF0000"/>
                </a:solidFill>
              </a:rPr>
              <a:t>chimie</a:t>
            </a:r>
            <a:r>
              <a:rPr sz="1600" dirty="0"/>
              <a:t> ; </a:t>
            </a:r>
            <a:r>
              <a:rPr sz="1600" dirty="0" err="1">
                <a:solidFill>
                  <a:schemeClr val="tx2">
                    <a:lumMod val="75000"/>
                    <a:lumOff val="25000"/>
                  </a:schemeClr>
                </a:solidFill>
              </a:rPr>
              <a:t>Vétérinaire</a:t>
            </a:r>
            <a:r>
              <a:rPr sz="1600" dirty="0">
                <a:solidFill>
                  <a:schemeClr val="tx2">
                    <a:lumMod val="75000"/>
                    <a:lumOff val="25000"/>
                  </a:schemeClr>
                </a:solidFill>
              </a:rPr>
              <a:t> </a:t>
            </a:r>
            <a:r>
              <a:rPr sz="1600" dirty="0" err="1">
                <a:solidFill>
                  <a:schemeClr val="tx2">
                    <a:lumMod val="75000"/>
                    <a:lumOff val="25000"/>
                  </a:schemeClr>
                </a:solidFill>
              </a:rPr>
              <a:t>en</a:t>
            </a:r>
            <a:r>
              <a:rPr sz="1600" dirty="0">
                <a:solidFill>
                  <a:schemeClr val="tx2">
                    <a:lumMod val="75000"/>
                    <a:lumOff val="25000"/>
                  </a:schemeClr>
                </a:solidFill>
              </a:rPr>
              <a:t> </a:t>
            </a:r>
            <a:r>
              <a:rPr sz="1600" dirty="0" err="1">
                <a:solidFill>
                  <a:schemeClr val="tx2">
                    <a:lumMod val="75000"/>
                    <a:lumOff val="25000"/>
                  </a:schemeClr>
                </a:solidFill>
              </a:rPr>
              <a:t>centre</a:t>
            </a:r>
            <a:r>
              <a:rPr sz="1600" dirty="0">
                <a:solidFill>
                  <a:schemeClr val="tx2">
                    <a:lumMod val="75000"/>
                    <a:lumOff val="25000"/>
                  </a:schemeClr>
                </a:solidFill>
              </a:rPr>
              <a:t> </a:t>
            </a:r>
            <a:r>
              <a:rPr sz="1600" dirty="0" err="1">
                <a:solidFill>
                  <a:schemeClr val="tx2">
                    <a:lumMod val="75000"/>
                    <a:lumOff val="25000"/>
                  </a:schemeClr>
                </a:solidFill>
              </a:rPr>
              <a:t>équin</a:t>
            </a:r>
            <a:r>
              <a:rPr sz="1600" dirty="0">
                <a:solidFill>
                  <a:schemeClr val="tx2">
                    <a:lumMod val="75000"/>
                    <a:lumOff val="25000"/>
                  </a:schemeClr>
                </a:solidFill>
              </a:rPr>
              <a:t> à </a:t>
            </a:r>
            <a:r>
              <a:rPr sz="1600" dirty="0" err="1">
                <a:solidFill>
                  <a:schemeClr val="tx2">
                    <a:lumMod val="75000"/>
                    <a:lumOff val="25000"/>
                  </a:schemeClr>
                </a:solidFill>
              </a:rPr>
              <a:t>Dubaï</a:t>
            </a:r>
            <a:r>
              <a:rPr sz="1600" dirty="0">
                <a:solidFill>
                  <a:schemeClr val="tx2">
                    <a:lumMod val="75000"/>
                    <a:lumOff val="25000"/>
                  </a:schemeClr>
                </a:solidFill>
              </a:rPr>
              <a:t> </a:t>
            </a:r>
            <a:r>
              <a:rPr sz="1600" dirty="0"/>
              <a:t>; </a:t>
            </a:r>
            <a:r>
              <a:rPr sz="1600" dirty="0" err="1">
                <a:solidFill>
                  <a:srgbClr val="00B050"/>
                </a:solidFill>
              </a:rPr>
              <a:t>Doctorant</a:t>
            </a:r>
            <a:r>
              <a:rPr sz="1600" dirty="0">
                <a:solidFill>
                  <a:srgbClr val="00B050"/>
                </a:solidFill>
              </a:rPr>
              <a:t> </a:t>
            </a:r>
            <a:r>
              <a:rPr sz="1600" dirty="0" err="1">
                <a:solidFill>
                  <a:srgbClr val="00B050"/>
                </a:solidFill>
              </a:rPr>
              <a:t>en</a:t>
            </a:r>
            <a:r>
              <a:rPr sz="1600" dirty="0">
                <a:solidFill>
                  <a:srgbClr val="00B050"/>
                </a:solidFill>
              </a:rPr>
              <a:t> </a:t>
            </a:r>
            <a:r>
              <a:rPr sz="1600" dirty="0" err="1">
                <a:solidFill>
                  <a:srgbClr val="00B050"/>
                </a:solidFill>
              </a:rPr>
              <a:t>biodiversité-écologie</a:t>
            </a:r>
            <a:r>
              <a:rPr sz="1600" dirty="0">
                <a:solidFill>
                  <a:srgbClr val="00B050"/>
                </a:solidFill>
              </a:rPr>
              <a:t> à Montpellier  ; </a:t>
            </a:r>
          </a:p>
        </p:txBody>
      </p:sp>
      <p:sp>
        <p:nvSpPr>
          <p:cNvPr id="166" name="Ingénieur en agroalimentaire responsable des ventes à Paris ; Ingénieur à Dassault spécialisé en Bio-Informatique ; Ingénieur responsable qualité pour une société agroalimentaire en Bretagne ; Post-doctorant normalien en géologie aux Etats-Unis ; Vétérin"/>
          <p:cNvSpPr txBox="1"/>
          <p:nvPr/>
        </p:nvSpPr>
        <p:spPr>
          <a:xfrm>
            <a:off x="834886" y="4050843"/>
            <a:ext cx="8026857" cy="2246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defRPr sz="1600" b="0">
                <a:solidFill>
                  <a:srgbClr val="9999FF"/>
                </a:solidFill>
                <a:latin typeface="Modern No. 20"/>
                <a:ea typeface="Modern No. 20"/>
                <a:cs typeface="Modern No. 20"/>
                <a:sym typeface="Modern No. 20"/>
              </a:defRPr>
            </a:pPr>
            <a:r>
              <a:rPr dirty="0" err="1"/>
              <a:t>Ingénieur</a:t>
            </a:r>
            <a:r>
              <a:rPr lang="fr-RE" dirty="0"/>
              <a:t>e</a:t>
            </a:r>
            <a:r>
              <a:rPr dirty="0"/>
              <a:t> </a:t>
            </a:r>
            <a:r>
              <a:rPr dirty="0" err="1"/>
              <a:t>en</a:t>
            </a:r>
            <a:r>
              <a:rPr dirty="0"/>
              <a:t> </a:t>
            </a:r>
            <a:r>
              <a:rPr dirty="0" err="1"/>
              <a:t>agroalimentaire</a:t>
            </a:r>
            <a:r>
              <a:rPr dirty="0"/>
              <a:t> </a:t>
            </a:r>
            <a:r>
              <a:rPr dirty="0" err="1"/>
              <a:t>responsable</a:t>
            </a:r>
            <a:r>
              <a:rPr dirty="0"/>
              <a:t> des ventes à Paris ; </a:t>
            </a:r>
            <a:r>
              <a:rPr dirty="0" err="1">
                <a:solidFill>
                  <a:srgbClr val="00002A"/>
                </a:solidFill>
              </a:rPr>
              <a:t>Ingénieur</a:t>
            </a:r>
            <a:r>
              <a:rPr dirty="0">
                <a:solidFill>
                  <a:srgbClr val="00002A"/>
                </a:solidFill>
              </a:rPr>
              <a:t> à Dassault </a:t>
            </a:r>
            <a:r>
              <a:rPr dirty="0" err="1">
                <a:solidFill>
                  <a:srgbClr val="00002A"/>
                </a:solidFill>
              </a:rPr>
              <a:t>spécialisé</a:t>
            </a:r>
            <a:r>
              <a:rPr dirty="0">
                <a:solidFill>
                  <a:srgbClr val="00002A"/>
                </a:solidFill>
              </a:rPr>
              <a:t> </a:t>
            </a:r>
            <a:r>
              <a:rPr dirty="0" err="1">
                <a:solidFill>
                  <a:srgbClr val="00002A"/>
                </a:solidFill>
              </a:rPr>
              <a:t>en</a:t>
            </a:r>
            <a:r>
              <a:rPr dirty="0">
                <a:solidFill>
                  <a:srgbClr val="00002A"/>
                </a:solidFill>
              </a:rPr>
              <a:t> Bio-Informatique </a:t>
            </a:r>
            <a:r>
              <a:rPr dirty="0"/>
              <a:t>; </a:t>
            </a:r>
            <a:r>
              <a:rPr dirty="0" err="1"/>
              <a:t>Ingénieur</a:t>
            </a:r>
            <a:r>
              <a:rPr dirty="0"/>
              <a:t> </a:t>
            </a:r>
            <a:r>
              <a:rPr dirty="0" err="1"/>
              <a:t>responsable</a:t>
            </a:r>
            <a:r>
              <a:rPr dirty="0"/>
              <a:t> </a:t>
            </a:r>
            <a:r>
              <a:rPr dirty="0" err="1"/>
              <a:t>qualité</a:t>
            </a:r>
            <a:r>
              <a:rPr dirty="0"/>
              <a:t> pour </a:t>
            </a:r>
            <a:r>
              <a:rPr dirty="0" err="1"/>
              <a:t>une</a:t>
            </a:r>
            <a:r>
              <a:rPr dirty="0"/>
              <a:t> société </a:t>
            </a:r>
            <a:r>
              <a:rPr dirty="0" err="1"/>
              <a:t>agroalimentaire</a:t>
            </a:r>
            <a:r>
              <a:rPr dirty="0"/>
              <a:t> </a:t>
            </a:r>
            <a:r>
              <a:rPr dirty="0" err="1"/>
              <a:t>en</a:t>
            </a:r>
            <a:r>
              <a:rPr dirty="0"/>
              <a:t> Bretagne ; </a:t>
            </a:r>
            <a:r>
              <a:rPr dirty="0">
                <a:solidFill>
                  <a:srgbClr val="FF6699"/>
                </a:solidFill>
              </a:rPr>
              <a:t>Post-</a:t>
            </a:r>
            <a:r>
              <a:rPr dirty="0" err="1">
                <a:solidFill>
                  <a:srgbClr val="FF6699"/>
                </a:solidFill>
              </a:rPr>
              <a:t>doctorant</a:t>
            </a:r>
            <a:r>
              <a:rPr dirty="0">
                <a:solidFill>
                  <a:srgbClr val="FF6699"/>
                </a:solidFill>
              </a:rPr>
              <a:t> </a:t>
            </a:r>
            <a:r>
              <a:rPr dirty="0" err="1">
                <a:solidFill>
                  <a:srgbClr val="FF6699"/>
                </a:solidFill>
              </a:rPr>
              <a:t>normalien</a:t>
            </a:r>
            <a:r>
              <a:rPr dirty="0">
                <a:solidFill>
                  <a:srgbClr val="FF6699"/>
                </a:solidFill>
              </a:rPr>
              <a:t> </a:t>
            </a:r>
            <a:r>
              <a:rPr dirty="0" err="1">
                <a:solidFill>
                  <a:srgbClr val="FF6699"/>
                </a:solidFill>
              </a:rPr>
              <a:t>en</a:t>
            </a:r>
            <a:r>
              <a:rPr dirty="0">
                <a:solidFill>
                  <a:srgbClr val="FF6699"/>
                </a:solidFill>
              </a:rPr>
              <a:t> </a:t>
            </a:r>
            <a:r>
              <a:rPr dirty="0" err="1">
                <a:solidFill>
                  <a:srgbClr val="FF6699"/>
                </a:solidFill>
              </a:rPr>
              <a:t>géologie</a:t>
            </a:r>
            <a:r>
              <a:rPr dirty="0">
                <a:solidFill>
                  <a:srgbClr val="FF6699"/>
                </a:solidFill>
              </a:rPr>
              <a:t> aux </a:t>
            </a:r>
            <a:r>
              <a:rPr dirty="0" err="1">
                <a:solidFill>
                  <a:srgbClr val="FF6699"/>
                </a:solidFill>
              </a:rPr>
              <a:t>Etats</a:t>
            </a:r>
            <a:r>
              <a:rPr dirty="0">
                <a:solidFill>
                  <a:srgbClr val="FF6699"/>
                </a:solidFill>
              </a:rPr>
              <a:t>-Unis </a:t>
            </a:r>
            <a:r>
              <a:rPr dirty="0"/>
              <a:t>; </a:t>
            </a:r>
            <a:r>
              <a:rPr dirty="0" err="1">
                <a:solidFill>
                  <a:schemeClr val="tx2">
                    <a:lumMod val="75000"/>
                    <a:lumOff val="25000"/>
                  </a:schemeClr>
                </a:solidFill>
              </a:rPr>
              <a:t>Vétérinaire</a:t>
            </a:r>
            <a:r>
              <a:rPr dirty="0">
                <a:solidFill>
                  <a:schemeClr val="tx2">
                    <a:lumMod val="75000"/>
                    <a:lumOff val="25000"/>
                  </a:schemeClr>
                </a:solidFill>
              </a:rPr>
              <a:t> </a:t>
            </a:r>
            <a:r>
              <a:rPr dirty="0" err="1">
                <a:solidFill>
                  <a:schemeClr val="tx2">
                    <a:lumMod val="75000"/>
                    <a:lumOff val="25000"/>
                  </a:schemeClr>
                </a:solidFill>
              </a:rPr>
              <a:t>collaboratrice</a:t>
            </a:r>
            <a:r>
              <a:rPr dirty="0">
                <a:solidFill>
                  <a:schemeClr val="tx2">
                    <a:lumMod val="75000"/>
                    <a:lumOff val="25000"/>
                  </a:schemeClr>
                </a:solidFill>
              </a:rPr>
              <a:t> </a:t>
            </a:r>
            <a:r>
              <a:rPr dirty="0" err="1">
                <a:solidFill>
                  <a:schemeClr val="tx2">
                    <a:lumMod val="75000"/>
                    <a:lumOff val="25000"/>
                  </a:schemeClr>
                </a:solidFill>
              </a:rPr>
              <a:t>en</a:t>
            </a:r>
            <a:r>
              <a:rPr dirty="0">
                <a:solidFill>
                  <a:schemeClr val="tx2">
                    <a:lumMod val="75000"/>
                    <a:lumOff val="25000"/>
                  </a:schemeClr>
                </a:solidFill>
              </a:rPr>
              <a:t> </a:t>
            </a:r>
            <a:r>
              <a:rPr dirty="0" err="1">
                <a:solidFill>
                  <a:schemeClr val="tx2">
                    <a:lumMod val="75000"/>
                    <a:lumOff val="25000"/>
                  </a:schemeClr>
                </a:solidFill>
              </a:rPr>
              <a:t>clinique</a:t>
            </a:r>
            <a:r>
              <a:rPr dirty="0">
                <a:solidFill>
                  <a:schemeClr val="tx2">
                    <a:lumMod val="75000"/>
                    <a:lumOff val="25000"/>
                  </a:schemeClr>
                </a:solidFill>
              </a:rPr>
              <a:t> </a:t>
            </a:r>
            <a:r>
              <a:rPr dirty="0" err="1">
                <a:solidFill>
                  <a:schemeClr val="tx2">
                    <a:lumMod val="75000"/>
                    <a:lumOff val="25000"/>
                  </a:schemeClr>
                </a:solidFill>
              </a:rPr>
              <a:t>libérale</a:t>
            </a:r>
            <a:r>
              <a:rPr dirty="0">
                <a:solidFill>
                  <a:schemeClr val="tx2">
                    <a:lumMod val="75000"/>
                    <a:lumOff val="25000"/>
                  </a:schemeClr>
                </a:solidFill>
              </a:rPr>
              <a:t> à Paris</a:t>
            </a:r>
            <a:r>
              <a:rPr dirty="0"/>
              <a:t> ; </a:t>
            </a:r>
            <a:r>
              <a:rPr sz="1400" dirty="0" err="1">
                <a:solidFill>
                  <a:srgbClr val="FF0000"/>
                </a:solidFill>
              </a:rPr>
              <a:t>Responsable</a:t>
            </a:r>
            <a:r>
              <a:rPr sz="1400" dirty="0">
                <a:solidFill>
                  <a:srgbClr val="FF0000"/>
                </a:solidFill>
              </a:rPr>
              <a:t> du </a:t>
            </a:r>
            <a:r>
              <a:rPr sz="1400" dirty="0" err="1">
                <a:solidFill>
                  <a:srgbClr val="FF0000"/>
                </a:solidFill>
              </a:rPr>
              <a:t>laboratoire</a:t>
            </a:r>
            <a:r>
              <a:rPr sz="1400" dirty="0">
                <a:solidFill>
                  <a:srgbClr val="FF0000"/>
                </a:solidFill>
              </a:rPr>
              <a:t> </a:t>
            </a:r>
            <a:r>
              <a:rPr sz="1400" dirty="0" err="1">
                <a:solidFill>
                  <a:srgbClr val="FF0000"/>
                </a:solidFill>
              </a:rPr>
              <a:t>technologique</a:t>
            </a:r>
            <a:r>
              <a:rPr sz="1400" dirty="0">
                <a:solidFill>
                  <a:srgbClr val="FF0000"/>
                </a:solidFill>
              </a:rPr>
              <a:t> dans </a:t>
            </a:r>
            <a:r>
              <a:rPr sz="1400" dirty="0" err="1">
                <a:solidFill>
                  <a:srgbClr val="FF0000"/>
                </a:solidFill>
              </a:rPr>
              <a:t>une</a:t>
            </a:r>
            <a:r>
              <a:rPr sz="1400" dirty="0">
                <a:solidFill>
                  <a:srgbClr val="FF0000"/>
                </a:solidFill>
              </a:rPr>
              <a:t> biotech </a:t>
            </a:r>
            <a:r>
              <a:rPr sz="1400" dirty="0"/>
              <a:t>; </a:t>
            </a:r>
            <a:r>
              <a:rPr sz="1400" dirty="0" err="1"/>
              <a:t>Ingénieur</a:t>
            </a:r>
            <a:r>
              <a:rPr lang="fr-RE" sz="1400" dirty="0"/>
              <a:t>e</a:t>
            </a:r>
            <a:r>
              <a:rPr sz="1400" dirty="0"/>
              <a:t> Recherche et Développement dans </a:t>
            </a:r>
            <a:r>
              <a:rPr sz="1400" dirty="0" err="1"/>
              <a:t>l’industrie</a:t>
            </a:r>
            <a:r>
              <a:rPr sz="1400" dirty="0"/>
              <a:t> du </a:t>
            </a:r>
            <a:r>
              <a:rPr sz="1400" dirty="0" err="1"/>
              <a:t>bois</a:t>
            </a:r>
            <a:r>
              <a:rPr sz="1400" dirty="0"/>
              <a:t> à Nancy ;  </a:t>
            </a:r>
            <a:r>
              <a:rPr sz="1400" dirty="0" err="1">
                <a:solidFill>
                  <a:srgbClr val="00002A"/>
                </a:solidFill>
              </a:rPr>
              <a:t>Ingénieur</a:t>
            </a:r>
            <a:r>
              <a:rPr sz="1400" dirty="0">
                <a:solidFill>
                  <a:srgbClr val="00002A"/>
                </a:solidFill>
              </a:rPr>
              <a:t> </a:t>
            </a:r>
            <a:r>
              <a:rPr sz="1400" dirty="0" err="1">
                <a:solidFill>
                  <a:srgbClr val="00002A"/>
                </a:solidFill>
              </a:rPr>
              <a:t>spécialisé</a:t>
            </a:r>
            <a:r>
              <a:rPr sz="1400" dirty="0">
                <a:solidFill>
                  <a:srgbClr val="00002A"/>
                </a:solidFill>
              </a:rPr>
              <a:t> dans les </a:t>
            </a:r>
            <a:r>
              <a:rPr sz="1400" dirty="0" err="1">
                <a:solidFill>
                  <a:srgbClr val="00002A"/>
                </a:solidFill>
              </a:rPr>
              <a:t>nouvelles</a:t>
            </a:r>
            <a:r>
              <a:rPr sz="1400" dirty="0">
                <a:solidFill>
                  <a:srgbClr val="00002A"/>
                </a:solidFill>
              </a:rPr>
              <a:t> technologies </a:t>
            </a:r>
            <a:r>
              <a:rPr sz="1400" dirty="0" err="1">
                <a:solidFill>
                  <a:srgbClr val="00002A"/>
                </a:solidFill>
              </a:rPr>
              <a:t>appliquées</a:t>
            </a:r>
            <a:r>
              <a:rPr sz="1400" dirty="0">
                <a:solidFill>
                  <a:srgbClr val="00002A"/>
                </a:solidFill>
              </a:rPr>
              <a:t> à </a:t>
            </a:r>
            <a:r>
              <a:rPr sz="1400" dirty="0" err="1">
                <a:solidFill>
                  <a:srgbClr val="00002A"/>
                </a:solidFill>
              </a:rPr>
              <a:t>l’agriculture</a:t>
            </a:r>
            <a:r>
              <a:rPr sz="1400" dirty="0"/>
              <a:t> ; </a:t>
            </a:r>
            <a:r>
              <a:rPr sz="1400" dirty="0" err="1"/>
              <a:t>Ingénieur</a:t>
            </a:r>
            <a:r>
              <a:rPr sz="1400" dirty="0"/>
              <a:t> </a:t>
            </a:r>
            <a:r>
              <a:rPr sz="1400" dirty="0" err="1"/>
              <a:t>spécialisée</a:t>
            </a:r>
            <a:r>
              <a:rPr sz="1400" dirty="0"/>
              <a:t> dans le marketing et </a:t>
            </a:r>
            <a:r>
              <a:rPr sz="1400" dirty="0" err="1"/>
              <a:t>l’administration</a:t>
            </a:r>
            <a:r>
              <a:rPr sz="1400" dirty="0"/>
              <a:t> des </a:t>
            </a:r>
            <a:r>
              <a:rPr sz="1400" dirty="0" err="1"/>
              <a:t>entreprises</a:t>
            </a:r>
            <a:r>
              <a:rPr sz="1400" dirty="0"/>
              <a:t> </a:t>
            </a:r>
            <a:r>
              <a:rPr sz="1200" dirty="0"/>
              <a:t>; </a:t>
            </a:r>
            <a:r>
              <a:rPr sz="1200" dirty="0" err="1">
                <a:solidFill>
                  <a:srgbClr val="00B050"/>
                </a:solidFill>
              </a:rPr>
              <a:t>Ingénieur</a:t>
            </a:r>
            <a:r>
              <a:rPr sz="1200" dirty="0">
                <a:solidFill>
                  <a:srgbClr val="00B050"/>
                </a:solidFill>
              </a:rPr>
              <a:t> </a:t>
            </a:r>
            <a:r>
              <a:rPr sz="1200" dirty="0" err="1">
                <a:solidFill>
                  <a:srgbClr val="00B050"/>
                </a:solidFill>
              </a:rPr>
              <a:t>coordinateur</a:t>
            </a:r>
            <a:r>
              <a:rPr sz="1200" dirty="0">
                <a:solidFill>
                  <a:srgbClr val="00B050"/>
                </a:solidFill>
              </a:rPr>
              <a:t> </a:t>
            </a:r>
            <a:r>
              <a:rPr sz="1200" dirty="0" err="1">
                <a:solidFill>
                  <a:srgbClr val="00B050"/>
                </a:solidFill>
              </a:rPr>
              <a:t>d’opérations</a:t>
            </a:r>
            <a:r>
              <a:rPr sz="1200" dirty="0">
                <a:solidFill>
                  <a:srgbClr val="00B050"/>
                </a:solidFill>
              </a:rPr>
              <a:t> dans le </a:t>
            </a:r>
            <a:r>
              <a:rPr sz="1200" dirty="0" err="1">
                <a:solidFill>
                  <a:srgbClr val="00B050"/>
                </a:solidFill>
              </a:rPr>
              <a:t>domaine</a:t>
            </a:r>
            <a:r>
              <a:rPr sz="1200" dirty="0">
                <a:solidFill>
                  <a:srgbClr val="00B050"/>
                </a:solidFill>
              </a:rPr>
              <a:t> eau/</a:t>
            </a:r>
            <a:r>
              <a:rPr sz="1200" dirty="0" err="1">
                <a:solidFill>
                  <a:srgbClr val="00B050"/>
                </a:solidFill>
              </a:rPr>
              <a:t>environnement</a:t>
            </a:r>
            <a:r>
              <a:rPr sz="1200" dirty="0">
                <a:solidFill>
                  <a:srgbClr val="00B050"/>
                </a:solidFill>
              </a:rPr>
              <a:t> à Nouméa </a:t>
            </a:r>
            <a:r>
              <a:rPr sz="1200" dirty="0"/>
              <a:t>; </a:t>
            </a:r>
            <a:r>
              <a:rPr sz="1200" dirty="0" err="1">
                <a:solidFill>
                  <a:srgbClr val="FF6699"/>
                </a:solidFill>
              </a:rPr>
              <a:t>Enseignante</a:t>
            </a:r>
            <a:r>
              <a:rPr sz="1200" dirty="0">
                <a:solidFill>
                  <a:srgbClr val="FF6699"/>
                </a:solidFill>
              </a:rPr>
              <a:t> </a:t>
            </a:r>
            <a:r>
              <a:rPr sz="1200" dirty="0" err="1">
                <a:solidFill>
                  <a:srgbClr val="FF6699"/>
                </a:solidFill>
              </a:rPr>
              <a:t>agrégée</a:t>
            </a:r>
            <a:r>
              <a:rPr sz="1200" dirty="0">
                <a:solidFill>
                  <a:srgbClr val="FF6699"/>
                </a:solidFill>
              </a:rPr>
              <a:t> de SVT  </a:t>
            </a:r>
            <a:r>
              <a:rPr sz="1200" dirty="0"/>
              <a:t>; </a:t>
            </a:r>
            <a:r>
              <a:rPr sz="1200" dirty="0" err="1">
                <a:solidFill>
                  <a:srgbClr val="00002A"/>
                </a:solidFill>
              </a:rPr>
              <a:t>Ingénieur</a:t>
            </a:r>
            <a:r>
              <a:rPr sz="1200" dirty="0">
                <a:solidFill>
                  <a:srgbClr val="00002A"/>
                </a:solidFill>
              </a:rPr>
              <a:t> </a:t>
            </a:r>
            <a:r>
              <a:rPr sz="1200" dirty="0" err="1">
                <a:solidFill>
                  <a:srgbClr val="00002A"/>
                </a:solidFill>
              </a:rPr>
              <a:t>développeur</a:t>
            </a:r>
            <a:r>
              <a:rPr sz="1200" dirty="0">
                <a:solidFill>
                  <a:srgbClr val="00002A"/>
                </a:solidFill>
              </a:rPr>
              <a:t> Informatique chez Bouygues Telecom </a:t>
            </a:r>
            <a:r>
              <a:rPr sz="1200" dirty="0"/>
              <a:t>; </a:t>
            </a:r>
            <a:r>
              <a:rPr sz="1200" dirty="0" err="1">
                <a:solidFill>
                  <a:schemeClr val="tx2">
                    <a:lumMod val="75000"/>
                    <a:lumOff val="25000"/>
                  </a:schemeClr>
                </a:solidFill>
              </a:rPr>
              <a:t>Vétérinaire</a:t>
            </a:r>
            <a:r>
              <a:rPr sz="1200" dirty="0">
                <a:solidFill>
                  <a:schemeClr val="tx2">
                    <a:lumMod val="75000"/>
                    <a:lumOff val="25000"/>
                  </a:schemeClr>
                </a:solidFill>
              </a:rPr>
              <a:t> </a:t>
            </a:r>
            <a:r>
              <a:rPr sz="1200" dirty="0" err="1">
                <a:solidFill>
                  <a:schemeClr val="tx2">
                    <a:lumMod val="75000"/>
                    <a:lumOff val="25000"/>
                  </a:schemeClr>
                </a:solidFill>
              </a:rPr>
              <a:t>en</a:t>
            </a:r>
            <a:r>
              <a:rPr sz="1200" dirty="0">
                <a:solidFill>
                  <a:schemeClr val="tx2">
                    <a:lumMod val="75000"/>
                    <a:lumOff val="25000"/>
                  </a:schemeClr>
                </a:solidFill>
              </a:rPr>
              <a:t> </a:t>
            </a:r>
            <a:r>
              <a:rPr sz="1200" dirty="0" err="1">
                <a:solidFill>
                  <a:schemeClr val="tx2">
                    <a:lumMod val="75000"/>
                    <a:lumOff val="25000"/>
                  </a:schemeClr>
                </a:solidFill>
              </a:rPr>
              <a:t>doctorat</a:t>
            </a:r>
            <a:r>
              <a:rPr sz="1200" dirty="0">
                <a:solidFill>
                  <a:schemeClr val="tx2">
                    <a:lumMod val="75000"/>
                    <a:lumOff val="25000"/>
                  </a:schemeClr>
                </a:solidFill>
              </a:rPr>
              <a:t> à </a:t>
            </a:r>
            <a:r>
              <a:rPr sz="1200" dirty="0" err="1">
                <a:solidFill>
                  <a:schemeClr val="tx2">
                    <a:lumMod val="75000"/>
                    <a:lumOff val="25000"/>
                  </a:schemeClr>
                </a:solidFill>
              </a:rPr>
              <a:t>l’Institut</a:t>
            </a:r>
            <a:r>
              <a:rPr sz="1200" dirty="0">
                <a:solidFill>
                  <a:schemeClr val="tx2">
                    <a:lumMod val="75000"/>
                    <a:lumOff val="25000"/>
                  </a:schemeClr>
                </a:solidFill>
              </a:rPr>
              <a:t> Pasteur </a:t>
            </a:r>
            <a:r>
              <a:rPr sz="1200" dirty="0"/>
              <a:t>; </a:t>
            </a:r>
            <a:r>
              <a:rPr sz="1200" dirty="0">
                <a:solidFill>
                  <a:srgbClr val="FF0000"/>
                </a:solidFill>
              </a:rPr>
              <a:t>Manager Production </a:t>
            </a:r>
            <a:r>
              <a:rPr sz="1200" dirty="0" err="1">
                <a:solidFill>
                  <a:srgbClr val="FF0000"/>
                </a:solidFill>
              </a:rPr>
              <a:t>en</a:t>
            </a:r>
            <a:r>
              <a:rPr sz="1200" dirty="0">
                <a:solidFill>
                  <a:srgbClr val="FF0000"/>
                </a:solidFill>
              </a:rPr>
              <a:t> </a:t>
            </a:r>
            <a:r>
              <a:rPr sz="1200" dirty="0" err="1">
                <a:solidFill>
                  <a:srgbClr val="FF0000"/>
                </a:solidFill>
              </a:rPr>
              <a:t>industrie</a:t>
            </a:r>
            <a:r>
              <a:rPr sz="1200" dirty="0">
                <a:solidFill>
                  <a:srgbClr val="FF0000"/>
                </a:solidFill>
              </a:rPr>
              <a:t> </a:t>
            </a:r>
            <a:r>
              <a:rPr sz="1200" dirty="0" err="1">
                <a:solidFill>
                  <a:srgbClr val="FF0000"/>
                </a:solidFill>
              </a:rPr>
              <a:t>pharmaceutique</a:t>
            </a:r>
            <a:r>
              <a:rPr sz="1200" dirty="0">
                <a:solidFill>
                  <a:srgbClr val="FF0000"/>
                </a:solidFill>
              </a:rPr>
              <a:t> à Bordeaux </a:t>
            </a:r>
            <a:r>
              <a:rPr sz="1200" dirty="0"/>
              <a:t>; </a:t>
            </a:r>
            <a:r>
              <a:rPr sz="1200" dirty="0" err="1"/>
              <a:t>Responsable</a:t>
            </a:r>
            <a:r>
              <a:rPr sz="1200" dirty="0"/>
              <a:t> des ventes </a:t>
            </a:r>
            <a:r>
              <a:rPr sz="1200" dirty="0" err="1"/>
              <a:t>en</a:t>
            </a:r>
            <a:r>
              <a:rPr sz="1200" dirty="0"/>
              <a:t> </a:t>
            </a:r>
            <a:r>
              <a:rPr sz="1200" dirty="0" err="1"/>
              <a:t>vins</a:t>
            </a:r>
            <a:r>
              <a:rPr sz="1200" dirty="0"/>
              <a:t>, </a:t>
            </a:r>
            <a:r>
              <a:rPr sz="1200" dirty="0" err="1"/>
              <a:t>secteur</a:t>
            </a:r>
            <a:r>
              <a:rPr sz="1200" dirty="0"/>
              <a:t> Europe de </a:t>
            </a:r>
            <a:r>
              <a:rPr sz="1200" dirty="0" err="1"/>
              <a:t>l’Est</a:t>
            </a:r>
            <a:r>
              <a:rPr sz="1200" dirty="0"/>
              <a:t> ; </a:t>
            </a:r>
            <a:r>
              <a:rPr sz="1200" dirty="0" err="1">
                <a:solidFill>
                  <a:srgbClr val="F99F45"/>
                </a:solidFill>
              </a:rPr>
              <a:t>Ingénieur</a:t>
            </a:r>
            <a:r>
              <a:rPr sz="1200" dirty="0">
                <a:solidFill>
                  <a:srgbClr val="F99F45"/>
                </a:solidFill>
              </a:rPr>
              <a:t> travaux chez GTOI </a:t>
            </a:r>
            <a:r>
              <a:rPr sz="1200" dirty="0"/>
              <a:t>; </a:t>
            </a:r>
            <a:r>
              <a:rPr sz="1200" dirty="0" err="1">
                <a:solidFill>
                  <a:srgbClr val="00006A"/>
                </a:solidFill>
              </a:rPr>
              <a:t>Ingénieur</a:t>
            </a:r>
            <a:r>
              <a:rPr lang="fr-RE" sz="1200" dirty="0">
                <a:solidFill>
                  <a:srgbClr val="00006A"/>
                </a:solidFill>
              </a:rPr>
              <a:t>e</a:t>
            </a:r>
            <a:r>
              <a:rPr sz="1200" dirty="0">
                <a:solidFill>
                  <a:srgbClr val="00006A"/>
                </a:solidFill>
              </a:rPr>
              <a:t> </a:t>
            </a:r>
            <a:r>
              <a:rPr sz="1200" dirty="0" err="1">
                <a:solidFill>
                  <a:srgbClr val="00006A"/>
                </a:solidFill>
              </a:rPr>
              <a:t>chargée</a:t>
            </a:r>
            <a:r>
              <a:rPr sz="1200" dirty="0">
                <a:solidFill>
                  <a:srgbClr val="00006A"/>
                </a:solidFill>
              </a:rPr>
              <a:t> d’affaires </a:t>
            </a:r>
            <a:r>
              <a:rPr sz="1200" dirty="0" err="1">
                <a:solidFill>
                  <a:srgbClr val="00006A"/>
                </a:solidFill>
              </a:rPr>
              <a:t>en</a:t>
            </a:r>
            <a:r>
              <a:rPr sz="1200" dirty="0">
                <a:solidFill>
                  <a:srgbClr val="00006A"/>
                </a:solidFill>
              </a:rPr>
              <a:t> </a:t>
            </a:r>
            <a:r>
              <a:rPr sz="1200" dirty="0" err="1">
                <a:solidFill>
                  <a:srgbClr val="00006A"/>
                </a:solidFill>
              </a:rPr>
              <a:t>Géotechnique</a:t>
            </a:r>
            <a:r>
              <a:rPr sz="1200" dirty="0">
                <a:solidFill>
                  <a:srgbClr val="00006A"/>
                </a:solidFill>
              </a:rPr>
              <a:t> chez Ginger à Marseille </a:t>
            </a:r>
            <a:r>
              <a:rPr sz="1200" dirty="0"/>
              <a:t>; </a:t>
            </a:r>
            <a:r>
              <a:rPr sz="1200" dirty="0" err="1">
                <a:solidFill>
                  <a:schemeClr val="tx2">
                    <a:lumMod val="75000"/>
                    <a:lumOff val="25000"/>
                  </a:schemeClr>
                </a:solidFill>
              </a:rPr>
              <a:t>Vétérinaire</a:t>
            </a:r>
            <a:r>
              <a:rPr sz="1200" dirty="0">
                <a:solidFill>
                  <a:schemeClr val="tx2">
                    <a:lumMod val="75000"/>
                    <a:lumOff val="25000"/>
                  </a:schemeClr>
                </a:solidFill>
              </a:rPr>
              <a:t> </a:t>
            </a:r>
            <a:r>
              <a:rPr sz="1200" dirty="0" err="1">
                <a:solidFill>
                  <a:schemeClr val="tx2">
                    <a:lumMod val="75000"/>
                    <a:lumOff val="25000"/>
                  </a:schemeClr>
                </a:solidFill>
              </a:rPr>
              <a:t>technico</a:t>
            </a:r>
            <a:r>
              <a:rPr sz="1200" dirty="0">
                <a:solidFill>
                  <a:schemeClr val="tx2">
                    <a:lumMod val="75000"/>
                    <a:lumOff val="25000"/>
                  </a:schemeClr>
                </a:solidFill>
              </a:rPr>
              <a:t>-commercial export au Vietnam </a:t>
            </a:r>
            <a:r>
              <a:rPr sz="1200" dirty="0"/>
              <a:t>; </a:t>
            </a:r>
            <a:r>
              <a:rPr sz="1200" dirty="0" err="1"/>
              <a:t>etc</a:t>
            </a:r>
            <a:r>
              <a:rPr sz="1200" dirty="0"/>
              <a:t>…… </a:t>
            </a:r>
          </a:p>
        </p:txBody>
      </p:sp>
      <p:sp>
        <p:nvSpPr>
          <p:cNvPr id="167" name="Environ 500 anciens élèves maintenant ingénieurs, chercheurs, vétérinaires, enseignants"/>
          <p:cNvSpPr txBox="1"/>
          <p:nvPr/>
        </p:nvSpPr>
        <p:spPr>
          <a:xfrm>
            <a:off x="597729" y="6222484"/>
            <a:ext cx="8287619"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800" b="0">
                <a:solidFill>
                  <a:srgbClr val="F2F2F2"/>
                </a:solidFill>
                <a:latin typeface="Modern No. 20"/>
                <a:ea typeface="Modern No. 20"/>
                <a:cs typeface="Modern No. 20"/>
                <a:sym typeface="Modern No. 20"/>
              </a:defRPr>
            </a:lvl1pPr>
          </a:lstStyle>
          <a:p>
            <a:r>
              <a:rPr dirty="0">
                <a:solidFill>
                  <a:schemeClr val="tx1"/>
                </a:solidFill>
              </a:rPr>
              <a:t>Environ 500 </a:t>
            </a:r>
            <a:r>
              <a:rPr dirty="0" err="1">
                <a:solidFill>
                  <a:schemeClr val="tx1"/>
                </a:solidFill>
              </a:rPr>
              <a:t>anciens</a:t>
            </a:r>
            <a:r>
              <a:rPr dirty="0">
                <a:solidFill>
                  <a:schemeClr val="tx1"/>
                </a:solidFill>
              </a:rPr>
              <a:t> </a:t>
            </a:r>
            <a:r>
              <a:rPr dirty="0" err="1">
                <a:solidFill>
                  <a:schemeClr val="tx1"/>
                </a:solidFill>
              </a:rPr>
              <a:t>élèves</a:t>
            </a:r>
            <a:r>
              <a:rPr dirty="0">
                <a:solidFill>
                  <a:schemeClr val="tx1"/>
                </a:solidFill>
              </a:rPr>
              <a:t> </a:t>
            </a:r>
            <a:r>
              <a:rPr dirty="0" err="1">
                <a:solidFill>
                  <a:schemeClr val="tx1"/>
                </a:solidFill>
              </a:rPr>
              <a:t>maintenant</a:t>
            </a:r>
            <a:r>
              <a:rPr dirty="0">
                <a:solidFill>
                  <a:schemeClr val="tx1"/>
                </a:solidFill>
              </a:rPr>
              <a:t> </a:t>
            </a:r>
            <a:r>
              <a:rPr dirty="0" err="1">
                <a:solidFill>
                  <a:schemeClr val="tx1"/>
                </a:solidFill>
              </a:rPr>
              <a:t>ingénieurs</a:t>
            </a:r>
            <a:r>
              <a:rPr dirty="0">
                <a:solidFill>
                  <a:schemeClr val="tx1"/>
                </a:solidFill>
              </a:rPr>
              <a:t>, </a:t>
            </a:r>
            <a:r>
              <a:rPr dirty="0" err="1">
                <a:solidFill>
                  <a:schemeClr val="tx1"/>
                </a:solidFill>
              </a:rPr>
              <a:t>chercheurs</a:t>
            </a:r>
            <a:r>
              <a:rPr dirty="0">
                <a:solidFill>
                  <a:schemeClr val="tx1"/>
                </a:solidFill>
              </a:rPr>
              <a:t>, </a:t>
            </a:r>
            <a:r>
              <a:rPr dirty="0" err="1">
                <a:solidFill>
                  <a:schemeClr val="tx1"/>
                </a:solidFill>
              </a:rPr>
              <a:t>vétérinaires</a:t>
            </a:r>
            <a:r>
              <a:rPr dirty="0">
                <a:solidFill>
                  <a:schemeClr val="tx1"/>
                </a:solidFill>
              </a:rPr>
              <a:t>, </a:t>
            </a:r>
            <a:r>
              <a:rPr dirty="0" err="1">
                <a:solidFill>
                  <a:schemeClr val="tx1"/>
                </a:solidFill>
              </a:rPr>
              <a:t>enseignants</a:t>
            </a:r>
            <a:endParaRPr dirty="0">
              <a:solidFill>
                <a:schemeClr val="tx1"/>
              </a:solidFill>
            </a:endParaRPr>
          </a:p>
        </p:txBody>
      </p:sp>
      <p:sp>
        <p:nvSpPr>
          <p:cNvPr id="168" name="BCPST"/>
          <p:cNvSpPr txBox="1"/>
          <p:nvPr/>
        </p:nvSpPr>
        <p:spPr>
          <a:xfrm>
            <a:off x="8418194" y="6516687"/>
            <a:ext cx="711836" cy="287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i="1">
                <a:solidFill>
                  <a:srgbClr val="FF7C80"/>
                </a:solidFill>
              </a:defRPr>
            </a:lvl1pPr>
          </a:lstStyle>
          <a:p>
            <a:r>
              <a:t>BCPST</a:t>
            </a:r>
          </a:p>
        </p:txBody>
      </p:sp>
      <p:sp>
        <p:nvSpPr>
          <p:cNvPr id="2" name="Concours et débouchés…">
            <a:extLst>
              <a:ext uri="{FF2B5EF4-FFF2-40B4-BE49-F238E27FC236}">
                <a16:creationId xmlns:a16="http://schemas.microsoft.com/office/drawing/2014/main" id="{0D9A64B1-8ABF-D18D-5946-6EC846667CBD}"/>
              </a:ext>
            </a:extLst>
          </p:cNvPr>
          <p:cNvSpPr txBox="1"/>
          <p:nvPr/>
        </p:nvSpPr>
        <p:spPr>
          <a:xfrm>
            <a:off x="630237" y="256390"/>
            <a:ext cx="7883526" cy="9541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spcBef>
                <a:spcPts val="1600"/>
              </a:spcBef>
              <a:defRPr sz="2800">
                <a:solidFill>
                  <a:srgbClr val="FFFFFF"/>
                </a:solidFill>
              </a:defRPr>
            </a:pPr>
            <a:r>
              <a:rPr lang="fr-RE" dirty="0">
                <a:solidFill>
                  <a:sysClr val="windowText" lastClr="000000"/>
                </a:solidFill>
                <a:latin typeface="Helvetica" panose="020B0604020202020204" pitchFamily="34" charset="0"/>
                <a:cs typeface="Helvetica" panose="020B0604020202020204" pitchFamily="34" charset="0"/>
              </a:rPr>
              <a:t>Exemple de métiers exercés actuellement par les anciens élèves de la BCPST974</a:t>
            </a:r>
            <a:endParaRPr dirty="0">
              <a:solidFill>
                <a:sysClr val="windowText" lastClr="000000"/>
              </a:solidFill>
              <a:latin typeface="Helvetica" panose="020B0604020202020204" pitchFamily="34" charset="0"/>
              <a:cs typeface="Helvetica"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iterate>
                                    <p:tmAbs val="0"/>
                                  </p:iterate>
                                  <p:childTnLst>
                                    <p:set>
                                      <p:cBhvr>
                                        <p:cTn id="10" fill="hold"/>
                                        <p:tgtEl>
                                          <p:spTgt spid="164"/>
                                        </p:tgtEl>
                                        <p:attrNameLst>
                                          <p:attrName>style.visibility</p:attrName>
                                        </p:attrNameLst>
                                      </p:cBhvr>
                                      <p:to>
                                        <p:strVal val="visible"/>
                                      </p:to>
                                    </p:set>
                                    <p:anim calcmode="lin" valueType="num">
                                      <p:cBhvr>
                                        <p:cTn id="11" dur="500" fill="hold"/>
                                        <p:tgtEl>
                                          <p:spTgt spid="164"/>
                                        </p:tgtEl>
                                        <p:attrNameLst>
                                          <p:attrName>ppt_x</p:attrName>
                                        </p:attrNameLst>
                                      </p:cBhvr>
                                      <p:tavLst>
                                        <p:tav tm="0">
                                          <p:val>
                                            <p:strVal val="0-#ppt_w/2"/>
                                          </p:val>
                                        </p:tav>
                                        <p:tav tm="100000">
                                          <p:val>
                                            <p:strVal val="#ppt_x"/>
                                          </p:val>
                                        </p:tav>
                                      </p:tavLst>
                                    </p:anim>
                                    <p:anim calcmode="lin" valueType="num">
                                      <p:cBhvr>
                                        <p:cTn id="12" dur="500" fill="hold"/>
                                        <p:tgtEl>
                                          <p:spTgt spid="16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advAuto="0"/>
      <p:bldP spid="165" grpId="0" animBg="1" advAuto="0"/>
      <p:bldP spid="166" grpId="0" animBg="1" advAuto="0"/>
      <p:bldP spid="167" grpId="0" animBg="1" advAuto="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37182" y="950924"/>
            <a:ext cx="5815584" cy="2944823"/>
          </a:xfrm>
          <a:noFill/>
        </p:spPr>
        <p:txBody>
          <a:bodyPr>
            <a:noAutofit/>
          </a:bodyPr>
          <a:lstStyle/>
          <a:p>
            <a:pPr marL="457200" lvl="2" indent="0">
              <a:buNone/>
            </a:pPr>
            <a:endParaRPr lang="fr-FR" sz="2000" b="1" dirty="0">
              <a:solidFill>
                <a:srgbClr val="FF0000"/>
              </a:solidFill>
              <a:latin typeface="Helvetica"/>
              <a:cs typeface="Helvetica"/>
            </a:endParaRPr>
          </a:p>
          <a:p>
            <a:pPr lvl="2"/>
            <a:r>
              <a:rPr lang="fr-FR" sz="2000" b="1" dirty="0">
                <a:solidFill>
                  <a:srgbClr val="FF0000"/>
                </a:solidFill>
                <a:latin typeface="Helvetica"/>
                <a:cs typeface="Helvetica"/>
              </a:rPr>
              <a:t>Proximité de la famille</a:t>
            </a:r>
          </a:p>
          <a:p>
            <a:pPr lvl="3"/>
            <a:r>
              <a:rPr lang="fr-FR" sz="1800" b="1" dirty="0">
                <a:solidFill>
                  <a:schemeClr val="tx1"/>
                </a:solidFill>
                <a:latin typeface="Helvetica"/>
                <a:cs typeface="Helvetica"/>
              </a:rPr>
              <a:t>Même si logement à proximité du Lycée vivement conseillé </a:t>
            </a:r>
            <a:r>
              <a:rPr lang="fr-FR" sz="1800" b="1" dirty="0">
                <a:solidFill>
                  <a:schemeClr val="accent4"/>
                </a:solidFill>
                <a:latin typeface="Helvetica"/>
                <a:cs typeface="Helvetica"/>
              </a:rPr>
              <a:t>(internat)</a:t>
            </a:r>
          </a:p>
          <a:p>
            <a:pPr lvl="2"/>
            <a:r>
              <a:rPr lang="fr-FR" sz="2000" b="1" dirty="0">
                <a:solidFill>
                  <a:srgbClr val="FF0000"/>
                </a:solidFill>
                <a:latin typeface="Helvetica"/>
                <a:cs typeface="Helvetica"/>
              </a:rPr>
              <a:t>Temps de réflexion plus long</a:t>
            </a:r>
          </a:p>
          <a:p>
            <a:pPr lvl="3"/>
            <a:r>
              <a:rPr lang="fr-FR" sz="1800" b="1" dirty="0">
                <a:solidFill>
                  <a:schemeClr val="tx1"/>
                </a:solidFill>
                <a:latin typeface="Helvetica"/>
                <a:cs typeface="Helvetica"/>
              </a:rPr>
              <a:t>Le départ est décalé à années+2 ce qui permet d’anticiper toutes les contraintes (lieu d’étude, logement, frais...)</a:t>
            </a:r>
          </a:p>
        </p:txBody>
      </p:sp>
      <p:pic>
        <p:nvPicPr>
          <p:cNvPr id="2050" name="Picture 2" descr="StoryMapJS: Les Réunionnais en métropole">
            <a:extLst>
              <a:ext uri="{FF2B5EF4-FFF2-40B4-BE49-F238E27FC236}">
                <a16:creationId xmlns:a16="http://schemas.microsoft.com/office/drawing/2014/main" id="{AA454180-359E-4519-A147-B7FB73D01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402" y="1388221"/>
            <a:ext cx="2842641" cy="32316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Image 25">
            <a:extLst>
              <a:ext uri="{FF2B5EF4-FFF2-40B4-BE49-F238E27FC236}">
                <a16:creationId xmlns:a16="http://schemas.microsoft.com/office/drawing/2014/main" id="{0864621D-0B56-44CE-81E2-535051D10CA6}"/>
              </a:ext>
            </a:extLst>
          </p:cNvPr>
          <p:cNvPicPr>
            <a:picLocks noChangeAspect="1"/>
          </p:cNvPicPr>
          <p:nvPr/>
        </p:nvPicPr>
        <p:blipFill>
          <a:blip r:embed="rId3"/>
          <a:stretch>
            <a:fillRect/>
          </a:stretch>
        </p:blipFill>
        <p:spPr>
          <a:xfrm>
            <a:off x="1092859" y="4360671"/>
            <a:ext cx="2613811" cy="22343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8" name="ZoneTexte 27">
            <a:extLst>
              <a:ext uri="{FF2B5EF4-FFF2-40B4-BE49-F238E27FC236}">
                <a16:creationId xmlns:a16="http://schemas.microsoft.com/office/drawing/2014/main" id="{1E2C1540-2304-484D-97C4-4ABE3B827D0C}"/>
              </a:ext>
            </a:extLst>
          </p:cNvPr>
          <p:cNvSpPr txBox="1"/>
          <p:nvPr/>
        </p:nvSpPr>
        <p:spPr>
          <a:xfrm>
            <a:off x="3164888" y="4879039"/>
            <a:ext cx="5401818" cy="923330"/>
          </a:xfrm>
          <a:prstGeom prst="rect">
            <a:avLst/>
          </a:prstGeom>
          <a:noFill/>
        </p:spPr>
        <p:txBody>
          <a:bodyPr wrap="square">
            <a:spAutoFit/>
          </a:bodyPr>
          <a:lstStyle/>
          <a:p>
            <a:pPr marL="1200150" lvl="2" indent="-285750">
              <a:buFont typeface="Arial" panose="020B0604020202020204" pitchFamily="34" charset="0"/>
              <a:buChar char="•"/>
            </a:pPr>
            <a:r>
              <a:rPr lang="fr-FR" sz="1800" b="1" dirty="0">
                <a:solidFill>
                  <a:srgbClr val="FF0000"/>
                </a:solidFill>
                <a:latin typeface="Helvetica"/>
                <a:cs typeface="Helvetica"/>
              </a:rPr>
              <a:t>Toutes les filières présentes</a:t>
            </a:r>
          </a:p>
          <a:p>
            <a:pPr lvl="2"/>
            <a:endParaRPr lang="fr-FR" sz="1800" b="1" dirty="0">
              <a:solidFill>
                <a:srgbClr val="FF0000"/>
              </a:solidFill>
              <a:latin typeface="Helvetica"/>
              <a:cs typeface="Helvetica"/>
            </a:endParaRPr>
          </a:p>
          <a:p>
            <a:pPr marL="1200150" lvl="2" indent="-285750">
              <a:buFont typeface="Arial" panose="020B0604020202020204" pitchFamily="34" charset="0"/>
              <a:buChar char="•"/>
            </a:pPr>
            <a:r>
              <a:rPr lang="fr-FR" sz="1800" b="1" dirty="0">
                <a:solidFill>
                  <a:srgbClr val="FF0000"/>
                </a:solidFill>
                <a:latin typeface="Helvetica"/>
                <a:cs typeface="Helvetica"/>
              </a:rPr>
              <a:t>Taux de réussite proche de 100 %</a:t>
            </a:r>
          </a:p>
        </p:txBody>
      </p:sp>
      <p:sp>
        <p:nvSpPr>
          <p:cNvPr id="4" name="ZoneTexte 3">
            <a:extLst>
              <a:ext uri="{FF2B5EF4-FFF2-40B4-BE49-F238E27FC236}">
                <a16:creationId xmlns:a16="http://schemas.microsoft.com/office/drawing/2014/main" id="{A3E4D37A-DBA5-49E8-86D2-9719F91EA4BE}"/>
              </a:ext>
            </a:extLst>
          </p:cNvPr>
          <p:cNvSpPr txBox="1"/>
          <p:nvPr/>
        </p:nvSpPr>
        <p:spPr>
          <a:xfrm>
            <a:off x="735049" y="486000"/>
            <a:ext cx="7405099" cy="523220"/>
          </a:xfrm>
          <a:prstGeom prst="rect">
            <a:avLst/>
          </a:prstGeom>
          <a:noFill/>
        </p:spPr>
        <p:txBody>
          <a:bodyPr wrap="square">
            <a:spAutoFit/>
          </a:bodyPr>
          <a:lstStyle/>
          <a:p>
            <a:r>
              <a:rPr lang="fr-FR" sz="2800" dirty="0">
                <a:latin typeface="Helvetica" panose="020B0604020202020204" pitchFamily="34" charset="0"/>
                <a:cs typeface="Helvetica" panose="020B0604020202020204" pitchFamily="34" charset="0"/>
              </a:rPr>
              <a:t>Pourquoi choisir Le Lycée Roland Garros ?</a:t>
            </a:r>
          </a:p>
        </p:txBody>
      </p:sp>
      <p:pic>
        <p:nvPicPr>
          <p:cNvPr id="5" name="Picture 10" descr="Logo_LRG_2020.resized – Lycée Roland Garros">
            <a:extLst>
              <a:ext uri="{FF2B5EF4-FFF2-40B4-BE49-F238E27FC236}">
                <a16:creationId xmlns:a16="http://schemas.microsoft.com/office/drawing/2014/main" id="{5535CF43-2193-E616-5C12-A5DF04850BC0}"/>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3600" y="167253"/>
            <a:ext cx="794886" cy="1091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23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06854" y="1091831"/>
            <a:ext cx="3629266" cy="5626210"/>
          </a:xfrm>
          <a:noFill/>
        </p:spPr>
        <p:txBody>
          <a:bodyPr>
            <a:noAutofit/>
          </a:bodyPr>
          <a:lstStyle/>
          <a:p>
            <a:pPr lvl="1"/>
            <a:r>
              <a:rPr lang="fr-FR" sz="1800" b="1" dirty="0">
                <a:latin typeface="Helvetica"/>
                <a:cs typeface="Helvetica"/>
              </a:rPr>
              <a:t>Une formation rigoureuse  avec un socle mathématique fort</a:t>
            </a:r>
          </a:p>
          <a:p>
            <a:pPr marL="457200" lvl="1" indent="0">
              <a:buNone/>
            </a:pPr>
            <a:endParaRPr lang="fr-FR" sz="1800" b="1" dirty="0">
              <a:latin typeface="Helvetica"/>
              <a:cs typeface="Helvetica"/>
            </a:endParaRPr>
          </a:p>
          <a:p>
            <a:pPr lvl="1"/>
            <a:r>
              <a:rPr lang="fr-FR" sz="1800" b="1" dirty="0">
                <a:latin typeface="Helvetica"/>
                <a:cs typeface="Helvetica"/>
              </a:rPr>
              <a:t>Internat : ouverture du nouvel internat en 2026, avec chambres individuelles !</a:t>
            </a:r>
          </a:p>
          <a:p>
            <a:pPr marL="457200" lvl="1" indent="0">
              <a:buNone/>
            </a:pPr>
            <a:endParaRPr lang="fr-FR" sz="1800" b="1" dirty="0">
              <a:latin typeface="Helvetica"/>
              <a:cs typeface="Helvetica"/>
            </a:endParaRPr>
          </a:p>
          <a:p>
            <a:pPr lvl="1"/>
            <a:r>
              <a:rPr lang="fr-FR" sz="1800" b="1" dirty="0">
                <a:latin typeface="Helvetica"/>
                <a:cs typeface="Helvetica"/>
              </a:rPr>
              <a:t>Équipement récent et complet</a:t>
            </a:r>
          </a:p>
          <a:p>
            <a:pPr marL="457200" lvl="1" indent="0">
              <a:buNone/>
            </a:pPr>
            <a:endParaRPr lang="fr-FR" sz="1800" b="1" dirty="0">
              <a:latin typeface="Helvetica"/>
              <a:cs typeface="Helvetica"/>
            </a:endParaRPr>
          </a:p>
          <a:p>
            <a:pPr lvl="1"/>
            <a:r>
              <a:rPr lang="fr-FR" sz="1800" b="1" dirty="0">
                <a:latin typeface="Helvetica"/>
                <a:cs typeface="Helvetica"/>
              </a:rPr>
              <a:t>Pôle d’enseignement supérieur important : </a:t>
            </a:r>
          </a:p>
          <a:p>
            <a:pPr marL="457200" lvl="1" indent="0">
              <a:buNone/>
            </a:pPr>
            <a:r>
              <a:rPr lang="fr-FR" b="1" dirty="0">
                <a:latin typeface="Helvetica"/>
                <a:cs typeface="Helvetica"/>
              </a:rPr>
              <a:t>Prépas PCSI-PSI et BCPST,  </a:t>
            </a:r>
          </a:p>
          <a:p>
            <a:pPr marL="457200" lvl="1" indent="0">
              <a:buNone/>
            </a:pPr>
            <a:r>
              <a:rPr lang="fr-FR" sz="1800" b="1" dirty="0">
                <a:latin typeface="Helvetica"/>
                <a:cs typeface="Helvetica"/>
              </a:rPr>
              <a:t> ATS, BTS, …</a:t>
            </a:r>
            <a:endParaRPr lang="fr-FR" sz="2400" b="1" dirty="0">
              <a:latin typeface="Helvetica"/>
              <a:cs typeface="Helvetica"/>
            </a:endParaRPr>
          </a:p>
        </p:txBody>
      </p:sp>
      <p:sp>
        <p:nvSpPr>
          <p:cNvPr id="8" name="Rectangle 7">
            <a:extLst>
              <a:ext uri="{FF2B5EF4-FFF2-40B4-BE49-F238E27FC236}">
                <a16:creationId xmlns:a16="http://schemas.microsoft.com/office/drawing/2014/main" id="{3173030A-6F32-43AB-964E-8123DAC8B2A1}"/>
              </a:ext>
            </a:extLst>
          </p:cNvPr>
          <p:cNvSpPr/>
          <p:nvPr/>
        </p:nvSpPr>
        <p:spPr>
          <a:xfrm>
            <a:off x="3836120" y="2215766"/>
            <a:ext cx="2427268" cy="584775"/>
          </a:xfrm>
          <a:prstGeom prst="rect">
            <a:avLst/>
          </a:prstGeom>
          <a:noFill/>
        </p:spPr>
        <p:txBody>
          <a:bodyPr wrap="none" lIns="91440" tIns="45720" rIns="91440" bIns="45720">
            <a:spAutoFit/>
          </a:bodyPr>
          <a:lstStyle/>
          <a:p>
            <a:pPr algn="ctr"/>
            <a:r>
              <a:rPr lang="fr-FR" sz="32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Mais aussi :</a:t>
            </a:r>
          </a:p>
        </p:txBody>
      </p:sp>
      <p:sp>
        <p:nvSpPr>
          <p:cNvPr id="10" name="Rectangle 9">
            <a:extLst>
              <a:ext uri="{FF2B5EF4-FFF2-40B4-BE49-F238E27FC236}">
                <a16:creationId xmlns:a16="http://schemas.microsoft.com/office/drawing/2014/main" id="{C1A5BCAF-9D18-4CD9-9214-ECF90FA06004}"/>
              </a:ext>
            </a:extLst>
          </p:cNvPr>
          <p:cNvSpPr/>
          <p:nvPr/>
        </p:nvSpPr>
        <p:spPr>
          <a:xfrm>
            <a:off x="3570028" y="2901478"/>
            <a:ext cx="2693360" cy="954107"/>
          </a:xfrm>
          <a:prstGeom prst="rect">
            <a:avLst/>
          </a:prstGeom>
          <a:noFill/>
        </p:spPr>
        <p:txBody>
          <a:bodyPr wrap="square" lIns="91440" tIns="45720" rIns="91440" bIns="45720">
            <a:spAutoFit/>
          </a:bodyPr>
          <a:lstStyle/>
          <a:p>
            <a:pPr algn="ctr"/>
            <a:r>
              <a:rPr lang="fr-FR" sz="2800" b="1" cap="none" spc="0" dirty="0">
                <a:ln w="0"/>
                <a:solidFill>
                  <a:srgbClr val="0070C0"/>
                </a:solidFill>
                <a:effectLst>
                  <a:outerShdw blurRad="38100" dist="38100" dir="2700000" algn="tl">
                    <a:srgbClr val="000000">
                      <a:alpha val="43137"/>
                    </a:srgbClr>
                  </a:outerShdw>
                </a:effectLst>
              </a:rPr>
              <a:t>Des promos soudées</a:t>
            </a:r>
          </a:p>
        </p:txBody>
      </p:sp>
      <p:sp>
        <p:nvSpPr>
          <p:cNvPr id="13" name="Rectangle 12">
            <a:extLst>
              <a:ext uri="{FF2B5EF4-FFF2-40B4-BE49-F238E27FC236}">
                <a16:creationId xmlns:a16="http://schemas.microsoft.com/office/drawing/2014/main" id="{912E087A-1819-4006-A07C-28DFC08FF8B7}"/>
              </a:ext>
            </a:extLst>
          </p:cNvPr>
          <p:cNvSpPr/>
          <p:nvPr/>
        </p:nvSpPr>
        <p:spPr>
          <a:xfrm>
            <a:off x="6422504" y="5155366"/>
            <a:ext cx="2185214" cy="954107"/>
          </a:xfrm>
          <a:prstGeom prst="rect">
            <a:avLst/>
          </a:prstGeom>
          <a:noFill/>
        </p:spPr>
        <p:txBody>
          <a:bodyPr wrap="none" lIns="91440" tIns="45720" rIns="91440" bIns="45720">
            <a:spAutoFit/>
          </a:bodyPr>
          <a:lstStyle/>
          <a:p>
            <a:pPr algn="ctr"/>
            <a:r>
              <a:rPr lang="fr-FR" sz="2800" b="1" cap="none" spc="0" dirty="0">
                <a:ln w="0"/>
                <a:solidFill>
                  <a:srgbClr val="0070C0"/>
                </a:solidFill>
                <a:effectLst>
                  <a:outerShdw blurRad="38100" dist="38100" dir="2700000" algn="tl">
                    <a:srgbClr val="000000">
                      <a:alpha val="43137"/>
                    </a:srgbClr>
                  </a:outerShdw>
                </a:effectLst>
              </a:rPr>
              <a:t>Une bonne </a:t>
            </a:r>
          </a:p>
          <a:p>
            <a:pPr algn="ctr"/>
            <a:r>
              <a:rPr lang="fr-FR" sz="2800" b="1" cap="none" spc="0" dirty="0">
                <a:ln w="0"/>
                <a:solidFill>
                  <a:srgbClr val="0070C0"/>
                </a:solidFill>
                <a:effectLst>
                  <a:outerShdw blurRad="38100" dist="38100" dir="2700000" algn="tl">
                    <a:srgbClr val="000000">
                      <a:alpha val="43137"/>
                    </a:srgbClr>
                  </a:outerShdw>
                </a:effectLst>
              </a:rPr>
              <a:t>ambiance</a:t>
            </a:r>
          </a:p>
        </p:txBody>
      </p:sp>
      <p:pic>
        <p:nvPicPr>
          <p:cNvPr id="15" name="Image 14">
            <a:extLst>
              <a:ext uri="{FF2B5EF4-FFF2-40B4-BE49-F238E27FC236}">
                <a16:creationId xmlns:a16="http://schemas.microsoft.com/office/drawing/2014/main" id="{6FC7729E-27F9-43B9-8524-BBE470E41A87}"/>
              </a:ext>
            </a:extLst>
          </p:cNvPr>
          <p:cNvPicPr>
            <a:picLocks noChangeAspect="1"/>
          </p:cNvPicPr>
          <p:nvPr/>
        </p:nvPicPr>
        <p:blipFill>
          <a:blip r:embed="rId2"/>
          <a:stretch>
            <a:fillRect/>
          </a:stretch>
        </p:blipFill>
        <p:spPr>
          <a:xfrm>
            <a:off x="3972146" y="3956522"/>
            <a:ext cx="2591325" cy="2627925"/>
          </a:xfrm>
          <a:prstGeom prst="rect">
            <a:avLst/>
          </a:prstGeom>
          <a:ln>
            <a:noFill/>
          </a:ln>
          <a:effectLst>
            <a:softEdge rad="112500"/>
          </a:effectLst>
        </p:spPr>
      </p:pic>
      <p:pic>
        <p:nvPicPr>
          <p:cNvPr id="12" name="Image 11">
            <a:extLst>
              <a:ext uri="{FF2B5EF4-FFF2-40B4-BE49-F238E27FC236}">
                <a16:creationId xmlns:a16="http://schemas.microsoft.com/office/drawing/2014/main" id="{71FB591D-E931-4304-B282-144E7706B697}"/>
              </a:ext>
            </a:extLst>
          </p:cNvPr>
          <p:cNvPicPr>
            <a:picLocks noChangeAspect="1"/>
          </p:cNvPicPr>
          <p:nvPr/>
        </p:nvPicPr>
        <p:blipFill>
          <a:blip r:embed="rId3"/>
          <a:stretch>
            <a:fillRect/>
          </a:stretch>
        </p:blipFill>
        <p:spPr>
          <a:xfrm>
            <a:off x="6045186" y="2405528"/>
            <a:ext cx="2939850" cy="2046944"/>
          </a:xfrm>
          <a:prstGeom prst="rect">
            <a:avLst/>
          </a:prstGeom>
          <a:ln>
            <a:noFill/>
          </a:ln>
          <a:effectLst>
            <a:softEdge rad="112500"/>
          </a:effectLst>
        </p:spPr>
      </p:pic>
      <p:sp>
        <p:nvSpPr>
          <p:cNvPr id="2" name="ZoneTexte 1">
            <a:extLst>
              <a:ext uri="{FF2B5EF4-FFF2-40B4-BE49-F238E27FC236}">
                <a16:creationId xmlns:a16="http://schemas.microsoft.com/office/drawing/2014/main" id="{99022CCC-E6ED-DC1B-ADB2-0923663FC399}"/>
              </a:ext>
            </a:extLst>
          </p:cNvPr>
          <p:cNvSpPr txBox="1"/>
          <p:nvPr/>
        </p:nvSpPr>
        <p:spPr>
          <a:xfrm>
            <a:off x="735050" y="486000"/>
            <a:ext cx="7325584" cy="523220"/>
          </a:xfrm>
          <a:prstGeom prst="rect">
            <a:avLst/>
          </a:prstGeom>
          <a:noFill/>
        </p:spPr>
        <p:txBody>
          <a:bodyPr wrap="square">
            <a:spAutoFit/>
          </a:bodyPr>
          <a:lstStyle/>
          <a:p>
            <a:r>
              <a:rPr lang="fr-FR" sz="2800" b="1" dirty="0"/>
              <a:t>Pourquoi choisir Le Lycée Roland Garros ?</a:t>
            </a:r>
          </a:p>
        </p:txBody>
      </p:sp>
      <p:pic>
        <p:nvPicPr>
          <p:cNvPr id="4" name="Picture 10" descr="Logo_LRG_2020.resized – Lycée Roland Garros">
            <a:extLst>
              <a:ext uri="{FF2B5EF4-FFF2-40B4-BE49-F238E27FC236}">
                <a16:creationId xmlns:a16="http://schemas.microsoft.com/office/drawing/2014/main" id="{BBAE6180-8450-A8A0-1D41-5E1316BD7450}"/>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3600" y="167253"/>
            <a:ext cx="794886" cy="1091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75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wipe(left)">
                                      <p:cBhvr>
                                        <p:cTn id="23" dur="500"/>
                                        <p:tgtEl>
                                          <p:spTgt spid="3">
                                            <p:txEl>
                                              <p:pRg st="7" end="7"/>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left)">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C’est prouvé : les étudiants réunionnais réussissent mieux…"/>
          <p:cNvSpPr txBox="1"/>
          <p:nvPr/>
        </p:nvSpPr>
        <p:spPr>
          <a:xfrm>
            <a:off x="735050" y="1700212"/>
            <a:ext cx="8110776" cy="4331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lnSpc>
                <a:spcPct val="90000"/>
              </a:lnSpc>
              <a:spcBef>
                <a:spcPts val="600"/>
              </a:spcBef>
              <a:defRPr sz="2800" b="0">
                <a:solidFill>
                  <a:srgbClr val="009900"/>
                </a:solidFill>
                <a:latin typeface="Modern No. 20"/>
                <a:ea typeface="Modern No. 20"/>
                <a:cs typeface="Modern No. 20"/>
                <a:sym typeface="Modern No. 20"/>
              </a:defRPr>
            </a:pPr>
            <a:r>
              <a:rPr dirty="0" err="1"/>
              <a:t>C’est</a:t>
            </a:r>
            <a:r>
              <a:rPr dirty="0"/>
              <a:t> </a:t>
            </a:r>
            <a:r>
              <a:rPr dirty="0" err="1"/>
              <a:t>prouvé</a:t>
            </a:r>
            <a:r>
              <a:rPr dirty="0"/>
              <a:t> : les </a:t>
            </a:r>
            <a:r>
              <a:rPr dirty="0" err="1"/>
              <a:t>étudiants</a:t>
            </a:r>
            <a:r>
              <a:rPr dirty="0"/>
              <a:t> </a:t>
            </a:r>
            <a:r>
              <a:rPr dirty="0" err="1"/>
              <a:t>réunionnais</a:t>
            </a:r>
            <a:r>
              <a:rPr dirty="0"/>
              <a:t> </a:t>
            </a:r>
            <a:r>
              <a:rPr dirty="0" err="1"/>
              <a:t>réussissent</a:t>
            </a:r>
            <a:r>
              <a:rPr dirty="0"/>
              <a:t> </a:t>
            </a:r>
            <a:r>
              <a:rPr dirty="0" err="1"/>
              <a:t>mieux</a:t>
            </a:r>
            <a:r>
              <a:rPr lang="fr-RE" dirty="0"/>
              <a:t> </a:t>
            </a:r>
            <a:r>
              <a:rPr dirty="0" err="1"/>
              <a:t>en</a:t>
            </a:r>
            <a:r>
              <a:rPr dirty="0"/>
              <a:t> </a:t>
            </a:r>
            <a:r>
              <a:rPr dirty="0" err="1"/>
              <a:t>suivant</a:t>
            </a:r>
            <a:r>
              <a:rPr dirty="0"/>
              <a:t> </a:t>
            </a:r>
            <a:r>
              <a:rPr dirty="0" err="1"/>
              <a:t>leur</a:t>
            </a:r>
            <a:r>
              <a:rPr dirty="0"/>
              <a:t> </a:t>
            </a:r>
            <a:r>
              <a:rPr dirty="0" err="1"/>
              <a:t>prépa</a:t>
            </a:r>
            <a:r>
              <a:rPr dirty="0"/>
              <a:t> à la Réunion </a:t>
            </a:r>
          </a:p>
          <a:p>
            <a:pPr algn="ctr">
              <a:lnSpc>
                <a:spcPct val="90000"/>
              </a:lnSpc>
              <a:spcBef>
                <a:spcPts val="600"/>
              </a:spcBef>
              <a:defRPr sz="2800" b="0">
                <a:solidFill>
                  <a:srgbClr val="009900"/>
                </a:solidFill>
                <a:latin typeface="Modern No. 20"/>
                <a:ea typeface="Modern No. 20"/>
                <a:cs typeface="Modern No. 20"/>
                <a:sym typeface="Modern No. 20"/>
              </a:defRPr>
            </a:pPr>
            <a:r>
              <a:rPr dirty="0" err="1"/>
              <a:t>qu’en</a:t>
            </a:r>
            <a:r>
              <a:rPr dirty="0"/>
              <a:t> </a:t>
            </a:r>
            <a:r>
              <a:rPr dirty="0" err="1"/>
              <a:t>partant</a:t>
            </a:r>
            <a:r>
              <a:rPr dirty="0"/>
              <a:t> </a:t>
            </a:r>
            <a:r>
              <a:rPr dirty="0" err="1"/>
              <a:t>en</a:t>
            </a:r>
            <a:r>
              <a:rPr dirty="0"/>
              <a:t> </a:t>
            </a:r>
            <a:r>
              <a:rPr dirty="0" err="1"/>
              <a:t>métropole</a:t>
            </a:r>
            <a:r>
              <a:rPr dirty="0"/>
              <a:t> ! </a:t>
            </a:r>
          </a:p>
          <a:p>
            <a:pPr>
              <a:lnSpc>
                <a:spcPct val="90000"/>
              </a:lnSpc>
              <a:spcBef>
                <a:spcPts val="700"/>
              </a:spcBef>
              <a:defRPr sz="1600" b="0">
                <a:solidFill>
                  <a:srgbClr val="000000"/>
                </a:solidFill>
                <a:latin typeface="Modern No. 20"/>
                <a:ea typeface="Modern No. 20"/>
                <a:cs typeface="Modern No. 20"/>
                <a:sym typeface="Modern No. 20"/>
              </a:defRPr>
            </a:pPr>
            <a:endParaRPr dirty="0"/>
          </a:p>
          <a:p>
            <a:pPr>
              <a:lnSpc>
                <a:spcPct val="90000"/>
              </a:lnSpc>
              <a:spcBef>
                <a:spcPts val="500"/>
              </a:spcBef>
              <a:defRPr b="0">
                <a:solidFill>
                  <a:srgbClr val="000000"/>
                </a:solidFill>
              </a:defRPr>
            </a:pPr>
            <a:r>
              <a:rPr dirty="0"/>
              <a:t>De 2008 à 2018 (*) : </a:t>
            </a:r>
          </a:p>
          <a:p>
            <a:pPr>
              <a:lnSpc>
                <a:spcPct val="90000"/>
              </a:lnSpc>
              <a:spcBef>
                <a:spcPts val="700"/>
              </a:spcBef>
              <a:defRPr sz="900" b="0">
                <a:solidFill>
                  <a:srgbClr val="000000"/>
                </a:solidFill>
              </a:defRPr>
            </a:pPr>
            <a:endParaRPr dirty="0"/>
          </a:p>
          <a:p>
            <a:pPr>
              <a:lnSpc>
                <a:spcPct val="90000"/>
              </a:lnSpc>
              <a:spcBef>
                <a:spcPts val="500"/>
              </a:spcBef>
              <a:defRPr b="0">
                <a:solidFill>
                  <a:srgbClr val="000000"/>
                </a:solidFill>
              </a:defRPr>
            </a:pPr>
            <a:r>
              <a:rPr dirty="0"/>
              <a:t> - Pour les </a:t>
            </a:r>
            <a:r>
              <a:rPr dirty="0" err="1"/>
              <a:t>réunionnais</a:t>
            </a:r>
            <a:r>
              <a:rPr dirty="0"/>
              <a:t> </a:t>
            </a:r>
            <a:r>
              <a:rPr dirty="0" err="1"/>
              <a:t>en</a:t>
            </a:r>
            <a:r>
              <a:rPr dirty="0"/>
              <a:t> BCPST au Tampon : </a:t>
            </a:r>
            <a:r>
              <a:rPr dirty="0" err="1"/>
              <a:t>taux</a:t>
            </a:r>
            <a:r>
              <a:rPr dirty="0"/>
              <a:t> de </a:t>
            </a:r>
            <a:r>
              <a:rPr dirty="0" err="1"/>
              <a:t>réussite</a:t>
            </a:r>
            <a:r>
              <a:rPr dirty="0"/>
              <a:t> supérieur à 70% aux concours des </a:t>
            </a:r>
            <a:r>
              <a:rPr dirty="0" err="1"/>
              <a:t>grandes</a:t>
            </a:r>
            <a:r>
              <a:rPr dirty="0"/>
              <a:t> écoles.</a:t>
            </a:r>
          </a:p>
          <a:p>
            <a:pPr>
              <a:lnSpc>
                <a:spcPct val="90000"/>
              </a:lnSpc>
              <a:spcBef>
                <a:spcPts val="700"/>
              </a:spcBef>
              <a:defRPr sz="900" b="0">
                <a:solidFill>
                  <a:srgbClr val="000000"/>
                </a:solidFill>
              </a:defRPr>
            </a:pPr>
            <a:endParaRPr dirty="0"/>
          </a:p>
          <a:p>
            <a:pPr>
              <a:lnSpc>
                <a:spcPct val="90000"/>
              </a:lnSpc>
              <a:spcBef>
                <a:spcPts val="500"/>
              </a:spcBef>
              <a:defRPr b="0">
                <a:solidFill>
                  <a:srgbClr val="000000"/>
                </a:solidFill>
              </a:defRPr>
            </a:pPr>
            <a:r>
              <a:rPr dirty="0"/>
              <a:t>- Pour les </a:t>
            </a:r>
            <a:r>
              <a:rPr dirty="0" err="1"/>
              <a:t>réunionnais</a:t>
            </a:r>
            <a:r>
              <a:rPr dirty="0"/>
              <a:t> partis </a:t>
            </a:r>
            <a:r>
              <a:rPr dirty="0" err="1"/>
              <a:t>en</a:t>
            </a:r>
            <a:r>
              <a:rPr dirty="0"/>
              <a:t> BCPST </a:t>
            </a:r>
            <a:r>
              <a:rPr b="1" dirty="0" err="1"/>
              <a:t>en</a:t>
            </a:r>
            <a:r>
              <a:rPr b="1" dirty="0"/>
              <a:t> </a:t>
            </a:r>
            <a:r>
              <a:rPr b="1" dirty="0" err="1"/>
              <a:t>métropole</a:t>
            </a:r>
            <a:r>
              <a:rPr b="1" dirty="0"/>
              <a:t> </a:t>
            </a:r>
            <a:r>
              <a:rPr dirty="0"/>
              <a:t>(Lycées Fermat, Sainte-Geneviève, Le Parc, Joffre, Hoche, </a:t>
            </a:r>
            <a:r>
              <a:rPr dirty="0" err="1"/>
              <a:t>etc</a:t>
            </a:r>
            <a:r>
              <a:rPr dirty="0"/>
              <a:t>), </a:t>
            </a:r>
            <a:r>
              <a:rPr dirty="0" err="1"/>
              <a:t>taux</a:t>
            </a:r>
            <a:r>
              <a:rPr dirty="0"/>
              <a:t> de </a:t>
            </a:r>
            <a:r>
              <a:rPr dirty="0" err="1"/>
              <a:t>réussite</a:t>
            </a:r>
            <a:r>
              <a:rPr dirty="0"/>
              <a:t> </a:t>
            </a:r>
            <a:r>
              <a:rPr b="1" dirty="0"/>
              <a:t>de </a:t>
            </a:r>
            <a:r>
              <a:rPr b="1" dirty="0" err="1"/>
              <a:t>seulement</a:t>
            </a:r>
            <a:r>
              <a:rPr b="1" dirty="0"/>
              <a:t> 26%.</a:t>
            </a:r>
          </a:p>
          <a:p>
            <a:pPr>
              <a:lnSpc>
                <a:spcPct val="90000"/>
              </a:lnSpc>
              <a:spcBef>
                <a:spcPts val="700"/>
              </a:spcBef>
              <a:defRPr sz="900" b="0">
                <a:solidFill>
                  <a:srgbClr val="000000"/>
                </a:solidFill>
              </a:defRPr>
            </a:pPr>
            <a:endParaRPr b="1" dirty="0"/>
          </a:p>
          <a:p>
            <a:pPr>
              <a:lnSpc>
                <a:spcPct val="90000"/>
              </a:lnSpc>
              <a:spcBef>
                <a:spcPts val="400"/>
              </a:spcBef>
              <a:defRPr sz="2000" b="0" i="1">
                <a:solidFill>
                  <a:srgbClr val="000000"/>
                </a:solidFill>
              </a:defRPr>
            </a:pPr>
            <a:r>
              <a:rPr dirty="0"/>
              <a:t>* </a:t>
            </a:r>
            <a:r>
              <a:rPr dirty="0" err="1"/>
              <a:t>Depuis</a:t>
            </a:r>
            <a:r>
              <a:rPr dirty="0"/>
              <a:t> 2018 et </a:t>
            </a:r>
            <a:r>
              <a:rPr dirty="0" err="1"/>
              <a:t>Parcoursup</a:t>
            </a:r>
            <a:r>
              <a:rPr dirty="0"/>
              <a:t>, </a:t>
            </a:r>
            <a:r>
              <a:rPr dirty="0" err="1"/>
              <a:t>ce</a:t>
            </a:r>
            <a:r>
              <a:rPr dirty="0"/>
              <a:t> </a:t>
            </a:r>
            <a:r>
              <a:rPr dirty="0" err="1"/>
              <a:t>suivi</a:t>
            </a:r>
            <a:r>
              <a:rPr dirty="0"/>
              <a:t> </a:t>
            </a:r>
            <a:r>
              <a:rPr dirty="0" err="1"/>
              <a:t>n’est</a:t>
            </a:r>
            <a:r>
              <a:rPr dirty="0"/>
              <a:t> plus possible, </a:t>
            </a:r>
            <a:r>
              <a:rPr dirty="0" err="1"/>
              <a:t>donc</a:t>
            </a:r>
            <a:r>
              <a:rPr dirty="0"/>
              <a:t> </a:t>
            </a:r>
            <a:r>
              <a:rPr dirty="0" err="1"/>
              <a:t>statistiques</a:t>
            </a:r>
            <a:r>
              <a:rPr dirty="0"/>
              <a:t> </a:t>
            </a:r>
            <a:r>
              <a:rPr dirty="0" err="1"/>
              <a:t>disponibles</a:t>
            </a:r>
            <a:r>
              <a:rPr dirty="0"/>
              <a:t> </a:t>
            </a:r>
            <a:r>
              <a:rPr dirty="0" err="1"/>
              <a:t>seulement</a:t>
            </a:r>
            <a:r>
              <a:rPr dirty="0"/>
              <a:t> pour la BCPST. </a:t>
            </a:r>
          </a:p>
        </p:txBody>
      </p:sp>
      <p:sp>
        <p:nvSpPr>
          <p:cNvPr id="185" name="PCSI/PSI et BCPST"/>
          <p:cNvSpPr txBox="1"/>
          <p:nvPr/>
        </p:nvSpPr>
        <p:spPr>
          <a:xfrm>
            <a:off x="7025957" y="6421437"/>
            <a:ext cx="1967548"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000000"/>
                </a:solidFill>
              </a:defRPr>
            </a:lvl1pPr>
          </a:lstStyle>
          <a:p>
            <a:r>
              <a:t>PCSI/PSI et BCPST</a:t>
            </a:r>
          </a:p>
        </p:txBody>
      </p:sp>
      <p:sp>
        <p:nvSpPr>
          <p:cNvPr id="2" name="ZoneTexte 1">
            <a:extLst>
              <a:ext uri="{FF2B5EF4-FFF2-40B4-BE49-F238E27FC236}">
                <a16:creationId xmlns:a16="http://schemas.microsoft.com/office/drawing/2014/main" id="{49775707-E9A2-1078-9990-94A1E93CD1C2}"/>
              </a:ext>
            </a:extLst>
          </p:cNvPr>
          <p:cNvSpPr txBox="1"/>
          <p:nvPr/>
        </p:nvSpPr>
        <p:spPr>
          <a:xfrm>
            <a:off x="735050" y="486000"/>
            <a:ext cx="7325584" cy="523220"/>
          </a:xfrm>
          <a:prstGeom prst="rect">
            <a:avLst/>
          </a:prstGeom>
          <a:noFill/>
        </p:spPr>
        <p:txBody>
          <a:bodyPr wrap="square">
            <a:spAutoFit/>
          </a:bodyPr>
          <a:lstStyle/>
          <a:p>
            <a:r>
              <a:rPr lang="fr-FR" sz="2800" b="1" dirty="0"/>
              <a:t>Pourquoi choisir Le Lycée Roland Garros ?</a:t>
            </a:r>
          </a:p>
        </p:txBody>
      </p:sp>
      <p:pic>
        <p:nvPicPr>
          <p:cNvPr id="3" name="Picture 10" descr="Logo_LRG_2020.resized – Lycée Roland Garros">
            <a:extLst>
              <a:ext uri="{FF2B5EF4-FFF2-40B4-BE49-F238E27FC236}">
                <a16:creationId xmlns:a16="http://schemas.microsoft.com/office/drawing/2014/main" id="{5E02EBBD-BC1D-E707-BCA4-BA1AD6EF81A7}"/>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3600" y="167253"/>
            <a:ext cx="794886" cy="10913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184">
                                            <p:bg/>
                                          </p:spTgt>
                                        </p:tgtEl>
                                        <p:attrNameLst>
                                          <p:attrName>style.visibility</p:attrName>
                                        </p:attrNameLst>
                                      </p:cBhvr>
                                      <p:to>
                                        <p:strVal val="visible"/>
                                      </p:to>
                                    </p:set>
                                    <p:anim calcmode="lin" valueType="num">
                                      <p:cBhvr>
                                        <p:cTn id="7" dur="500" fill="hold"/>
                                        <p:tgtEl>
                                          <p:spTgt spid="184">
                                            <p:bg/>
                                          </p:spTgt>
                                        </p:tgtEl>
                                        <p:attrNameLst>
                                          <p:attrName>ppt_x</p:attrName>
                                        </p:attrNameLst>
                                      </p:cBhvr>
                                      <p:tavLst>
                                        <p:tav tm="0">
                                          <p:val>
                                            <p:strVal val="0-#ppt_w/2"/>
                                          </p:val>
                                        </p:tav>
                                        <p:tav tm="100000">
                                          <p:val>
                                            <p:strVal val="#ppt_x"/>
                                          </p:val>
                                        </p:tav>
                                      </p:tavLst>
                                    </p:anim>
                                    <p:anim calcmode="lin" valueType="num">
                                      <p:cBhvr>
                                        <p:cTn id="8" dur="500" fill="hold"/>
                                        <p:tgtEl>
                                          <p:spTgt spid="184">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p:tmAbs val="0"/>
                                  </p:iterate>
                                  <p:childTnLst>
                                    <p:set>
                                      <p:cBhvr>
                                        <p:cTn id="10" fill="hold"/>
                                        <p:tgtEl>
                                          <p:spTgt spid="184">
                                            <p:txEl>
                                              <p:pRg st="0" end="0"/>
                                            </p:txEl>
                                          </p:spTgt>
                                        </p:tgtEl>
                                        <p:attrNameLst>
                                          <p:attrName>style.visibility</p:attrName>
                                        </p:attrNameLst>
                                      </p:cBhvr>
                                      <p:to>
                                        <p:strVal val="visible"/>
                                      </p:to>
                                    </p:set>
                                    <p:anim calcmode="lin" valueType="num">
                                      <p:cBhvr>
                                        <p:cTn id="11" dur="500" fill="hold"/>
                                        <p:tgtEl>
                                          <p:spTgt spid="184">
                                            <p:txEl>
                                              <p:pRg st="0" end="0"/>
                                            </p:txEl>
                                          </p:spTgt>
                                        </p:tgtEl>
                                        <p:attrNameLst>
                                          <p:attrName>ppt_x</p:attrName>
                                        </p:attrNameLst>
                                      </p:cBhvr>
                                      <p:tavLst>
                                        <p:tav tm="0">
                                          <p:val>
                                            <p:strVal val="0-#ppt_w/2"/>
                                          </p:val>
                                        </p:tav>
                                        <p:tav tm="100000">
                                          <p:val>
                                            <p:strVal val="#ppt_x"/>
                                          </p:val>
                                        </p:tav>
                                      </p:tavLst>
                                    </p:anim>
                                    <p:anim calcmode="lin" valueType="num">
                                      <p:cBhvr>
                                        <p:cTn id="12" dur="500" fill="hold"/>
                                        <p:tgtEl>
                                          <p:spTgt spid="1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p:tmAbs val="0"/>
                                  </p:iterate>
                                  <p:childTnLst>
                                    <p:set>
                                      <p:cBhvr>
                                        <p:cTn id="16" fill="hold"/>
                                        <p:tgtEl>
                                          <p:spTgt spid="184">
                                            <p:txEl>
                                              <p:pRg st="1" end="1"/>
                                            </p:txEl>
                                          </p:spTgt>
                                        </p:tgtEl>
                                        <p:attrNameLst>
                                          <p:attrName>style.visibility</p:attrName>
                                        </p:attrNameLst>
                                      </p:cBhvr>
                                      <p:to>
                                        <p:strVal val="visible"/>
                                      </p:to>
                                    </p:set>
                                    <p:anim calcmode="lin" valueType="num">
                                      <p:cBhvr>
                                        <p:cTn id="17" dur="500" fill="hold"/>
                                        <p:tgtEl>
                                          <p:spTgt spid="184">
                                            <p:txEl>
                                              <p:pRg st="1" end="1"/>
                                            </p:txEl>
                                          </p:spTgt>
                                        </p:tgtEl>
                                        <p:attrNameLst>
                                          <p:attrName>ppt_x</p:attrName>
                                        </p:attrNameLst>
                                      </p:cBhvr>
                                      <p:tavLst>
                                        <p:tav tm="0">
                                          <p:val>
                                            <p:strVal val="0-#ppt_w/2"/>
                                          </p:val>
                                        </p:tav>
                                        <p:tav tm="100000">
                                          <p:val>
                                            <p:strVal val="#ppt_x"/>
                                          </p:val>
                                        </p:tav>
                                      </p:tavLst>
                                    </p:anim>
                                    <p:anim calcmode="lin" valueType="num">
                                      <p:cBhvr>
                                        <p:cTn id="18" dur="500" fill="hold"/>
                                        <p:tgtEl>
                                          <p:spTgt spid="1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p:tmAbs val="0"/>
                                  </p:iterate>
                                  <p:childTnLst>
                                    <p:set>
                                      <p:cBhvr>
                                        <p:cTn id="22" fill="hold"/>
                                        <p:tgtEl>
                                          <p:spTgt spid="184">
                                            <p:txEl>
                                              <p:pRg st="3" end="3"/>
                                            </p:txEl>
                                          </p:spTgt>
                                        </p:tgtEl>
                                        <p:attrNameLst>
                                          <p:attrName>style.visibility</p:attrName>
                                        </p:attrNameLst>
                                      </p:cBhvr>
                                      <p:to>
                                        <p:strVal val="visible"/>
                                      </p:to>
                                    </p:set>
                                    <p:anim calcmode="lin" valueType="num">
                                      <p:cBhvr>
                                        <p:cTn id="23" dur="500" fill="hold"/>
                                        <p:tgtEl>
                                          <p:spTgt spid="184">
                                            <p:txEl>
                                              <p:pRg st="3" end="3"/>
                                            </p:txEl>
                                          </p:spTgt>
                                        </p:tgtEl>
                                        <p:attrNameLst>
                                          <p:attrName>ppt_x</p:attrName>
                                        </p:attrNameLst>
                                      </p:cBhvr>
                                      <p:tavLst>
                                        <p:tav tm="0">
                                          <p:val>
                                            <p:strVal val="0-#ppt_w/2"/>
                                          </p:val>
                                        </p:tav>
                                        <p:tav tm="100000">
                                          <p:val>
                                            <p:strVal val="#ppt_x"/>
                                          </p:val>
                                        </p:tav>
                                      </p:tavLst>
                                    </p:anim>
                                    <p:anim calcmode="lin" valueType="num">
                                      <p:cBhvr>
                                        <p:cTn id="24" dur="500" fill="hold"/>
                                        <p:tgtEl>
                                          <p:spTgt spid="18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iterate>
                                    <p:tmAbs val="0"/>
                                  </p:iterate>
                                  <p:childTnLst>
                                    <p:set>
                                      <p:cBhvr>
                                        <p:cTn id="28" fill="hold"/>
                                        <p:tgtEl>
                                          <p:spTgt spid="184">
                                            <p:txEl>
                                              <p:pRg st="5" end="5"/>
                                            </p:txEl>
                                          </p:spTgt>
                                        </p:tgtEl>
                                        <p:attrNameLst>
                                          <p:attrName>style.visibility</p:attrName>
                                        </p:attrNameLst>
                                      </p:cBhvr>
                                      <p:to>
                                        <p:strVal val="visible"/>
                                      </p:to>
                                    </p:set>
                                    <p:anim calcmode="lin" valueType="num">
                                      <p:cBhvr>
                                        <p:cTn id="29" dur="500" fill="hold"/>
                                        <p:tgtEl>
                                          <p:spTgt spid="184">
                                            <p:txEl>
                                              <p:pRg st="5" end="5"/>
                                            </p:txEl>
                                          </p:spTgt>
                                        </p:tgtEl>
                                        <p:attrNameLst>
                                          <p:attrName>ppt_x</p:attrName>
                                        </p:attrNameLst>
                                      </p:cBhvr>
                                      <p:tavLst>
                                        <p:tav tm="0">
                                          <p:val>
                                            <p:strVal val="0-#ppt_w/2"/>
                                          </p:val>
                                        </p:tav>
                                        <p:tav tm="100000">
                                          <p:val>
                                            <p:strVal val="#ppt_x"/>
                                          </p:val>
                                        </p:tav>
                                      </p:tavLst>
                                    </p:anim>
                                    <p:anim calcmode="lin" valueType="num">
                                      <p:cBhvr>
                                        <p:cTn id="30" dur="500" fill="hold"/>
                                        <p:tgtEl>
                                          <p:spTgt spid="18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iterate>
                                    <p:tmAbs val="0"/>
                                  </p:iterate>
                                  <p:childTnLst>
                                    <p:set>
                                      <p:cBhvr>
                                        <p:cTn id="34" fill="hold"/>
                                        <p:tgtEl>
                                          <p:spTgt spid="184">
                                            <p:txEl>
                                              <p:pRg st="7" end="7"/>
                                            </p:txEl>
                                          </p:spTgt>
                                        </p:tgtEl>
                                        <p:attrNameLst>
                                          <p:attrName>style.visibility</p:attrName>
                                        </p:attrNameLst>
                                      </p:cBhvr>
                                      <p:to>
                                        <p:strVal val="visible"/>
                                      </p:to>
                                    </p:set>
                                    <p:anim calcmode="lin" valueType="num">
                                      <p:cBhvr>
                                        <p:cTn id="35" dur="500" fill="hold"/>
                                        <p:tgtEl>
                                          <p:spTgt spid="184">
                                            <p:txEl>
                                              <p:pRg st="7" end="7"/>
                                            </p:txEl>
                                          </p:spTgt>
                                        </p:tgtEl>
                                        <p:attrNameLst>
                                          <p:attrName>ppt_x</p:attrName>
                                        </p:attrNameLst>
                                      </p:cBhvr>
                                      <p:tavLst>
                                        <p:tav tm="0">
                                          <p:val>
                                            <p:strVal val="0-#ppt_w/2"/>
                                          </p:val>
                                        </p:tav>
                                        <p:tav tm="100000">
                                          <p:val>
                                            <p:strVal val="#ppt_x"/>
                                          </p:val>
                                        </p:tav>
                                      </p:tavLst>
                                    </p:anim>
                                    <p:anim calcmode="lin" valueType="num">
                                      <p:cBhvr>
                                        <p:cTn id="36" dur="500" fill="hold"/>
                                        <p:tgtEl>
                                          <p:spTgt spid="18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iterate>
                                    <p:tmAbs val="0"/>
                                  </p:iterate>
                                  <p:childTnLst>
                                    <p:set>
                                      <p:cBhvr>
                                        <p:cTn id="40" fill="hold"/>
                                        <p:tgtEl>
                                          <p:spTgt spid="184">
                                            <p:txEl>
                                              <p:pRg st="9" end="9"/>
                                            </p:txEl>
                                          </p:spTgt>
                                        </p:tgtEl>
                                        <p:attrNameLst>
                                          <p:attrName>style.visibility</p:attrName>
                                        </p:attrNameLst>
                                      </p:cBhvr>
                                      <p:to>
                                        <p:strVal val="visible"/>
                                      </p:to>
                                    </p:set>
                                    <p:anim calcmode="lin" valueType="num">
                                      <p:cBhvr>
                                        <p:cTn id="41" dur="500" fill="hold"/>
                                        <p:tgtEl>
                                          <p:spTgt spid="184">
                                            <p:txEl>
                                              <p:pRg st="9" end="9"/>
                                            </p:txEl>
                                          </p:spTgt>
                                        </p:tgtEl>
                                        <p:attrNameLst>
                                          <p:attrName>ppt_x</p:attrName>
                                        </p:attrNameLst>
                                      </p:cBhvr>
                                      <p:tavLst>
                                        <p:tav tm="0">
                                          <p:val>
                                            <p:strVal val="0-#ppt_w/2"/>
                                          </p:val>
                                        </p:tav>
                                        <p:tav tm="100000">
                                          <p:val>
                                            <p:strVal val="#ppt_x"/>
                                          </p:val>
                                        </p:tav>
                                      </p:tavLst>
                                    </p:anim>
                                    <p:anim calcmode="lin" valueType="num">
                                      <p:cBhvr>
                                        <p:cTn id="42" dur="500" fill="hold"/>
                                        <p:tgtEl>
                                          <p:spTgt spid="18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Et surtout de très bons résultats !…"/>
          <p:cNvSpPr txBox="1"/>
          <p:nvPr/>
        </p:nvSpPr>
        <p:spPr>
          <a:xfrm>
            <a:off x="685482" y="1773237"/>
            <a:ext cx="8180222" cy="43765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90000"/>
              </a:lnSpc>
              <a:spcBef>
                <a:spcPts val="600"/>
              </a:spcBef>
              <a:defRPr sz="2800" b="0">
                <a:solidFill>
                  <a:srgbClr val="009900"/>
                </a:solidFill>
                <a:latin typeface="Modern No. 20"/>
                <a:ea typeface="Modern No. 20"/>
                <a:cs typeface="Modern No. 20"/>
                <a:sym typeface="Modern No. 20"/>
              </a:defRPr>
            </a:pPr>
            <a:r>
              <a:rPr lang="fr-RE" sz="3600" dirty="0"/>
              <a:t>De </a:t>
            </a:r>
            <a:r>
              <a:rPr sz="3600" dirty="0"/>
              <a:t>très bons </a:t>
            </a:r>
            <a:r>
              <a:rPr sz="3600" dirty="0" err="1"/>
              <a:t>résultats</a:t>
            </a:r>
            <a:r>
              <a:rPr sz="3600" dirty="0"/>
              <a:t> !  </a:t>
            </a:r>
          </a:p>
          <a:p>
            <a:pPr>
              <a:lnSpc>
                <a:spcPct val="90000"/>
              </a:lnSpc>
              <a:spcBef>
                <a:spcPts val="700"/>
              </a:spcBef>
              <a:defRPr b="0">
                <a:solidFill>
                  <a:srgbClr val="000000"/>
                </a:solidFill>
                <a:latin typeface="Modern No. 20"/>
                <a:ea typeface="Modern No. 20"/>
                <a:cs typeface="Modern No. 20"/>
                <a:sym typeface="Modern No. 20"/>
              </a:defRPr>
            </a:pPr>
            <a:endParaRPr sz="2400" dirty="0"/>
          </a:p>
          <a:p>
            <a:pPr>
              <a:lnSpc>
                <a:spcPct val="90000"/>
              </a:lnSpc>
              <a:spcBef>
                <a:spcPts val="500"/>
              </a:spcBef>
              <a:defRPr b="0">
                <a:solidFill>
                  <a:srgbClr val="000000"/>
                </a:solidFill>
              </a:defRPr>
            </a:pPr>
            <a:r>
              <a:rPr sz="2400" dirty="0"/>
              <a:t> - Environ </a:t>
            </a:r>
            <a:r>
              <a:rPr lang="fr-RE" sz="2400" b="1" dirty="0">
                <a:solidFill>
                  <a:srgbClr val="FFC000"/>
                </a:solidFill>
              </a:rPr>
              <a:t>83</a:t>
            </a:r>
            <a:r>
              <a:rPr sz="2400" b="1" dirty="0">
                <a:solidFill>
                  <a:srgbClr val="FFC000"/>
                </a:solidFill>
              </a:rPr>
              <a:t>% de </a:t>
            </a:r>
            <a:r>
              <a:rPr sz="2400" b="1" dirty="0" err="1">
                <a:solidFill>
                  <a:srgbClr val="FFC000"/>
                </a:solidFill>
              </a:rPr>
              <a:t>reçus</a:t>
            </a:r>
            <a:r>
              <a:rPr sz="2400" b="1" dirty="0">
                <a:solidFill>
                  <a:srgbClr val="FFC000"/>
                </a:solidFill>
              </a:rPr>
              <a:t> aux </a:t>
            </a:r>
            <a:r>
              <a:rPr sz="2400" b="1" dirty="0" err="1">
                <a:solidFill>
                  <a:srgbClr val="FFC000"/>
                </a:solidFill>
              </a:rPr>
              <a:t>différents</a:t>
            </a:r>
            <a:r>
              <a:rPr sz="2400" b="1" dirty="0">
                <a:solidFill>
                  <a:srgbClr val="FFC000"/>
                </a:solidFill>
              </a:rPr>
              <a:t> concours </a:t>
            </a:r>
            <a:r>
              <a:rPr sz="2400" dirty="0"/>
              <a:t>(8</a:t>
            </a:r>
            <a:r>
              <a:rPr lang="fr-RE" sz="2400" dirty="0"/>
              <a:t>9</a:t>
            </a:r>
            <a:r>
              <a:rPr sz="2400" dirty="0"/>
              <a:t>% </a:t>
            </a:r>
            <a:r>
              <a:rPr sz="2400" dirty="0" err="1"/>
              <a:t>en</a:t>
            </a:r>
            <a:r>
              <a:rPr sz="2400" dirty="0"/>
              <a:t> </a:t>
            </a:r>
            <a:r>
              <a:rPr sz="2400" dirty="0" err="1"/>
              <a:t>comptant</a:t>
            </a:r>
            <a:r>
              <a:rPr sz="2400" dirty="0"/>
              <a:t> les écoles sur dossier, </a:t>
            </a:r>
            <a:r>
              <a:rPr sz="2400" b="1" dirty="0">
                <a:solidFill>
                  <a:schemeClr val="accent4"/>
                </a:solidFill>
              </a:rPr>
              <a:t>97% </a:t>
            </a:r>
            <a:r>
              <a:rPr sz="2400" b="1" dirty="0" err="1">
                <a:solidFill>
                  <a:schemeClr val="accent4"/>
                </a:solidFill>
              </a:rPr>
              <a:t>en</a:t>
            </a:r>
            <a:r>
              <a:rPr sz="2400" b="1" dirty="0">
                <a:solidFill>
                  <a:schemeClr val="accent4"/>
                </a:solidFill>
              </a:rPr>
              <a:t> </a:t>
            </a:r>
            <a:r>
              <a:rPr sz="2400" b="1" dirty="0" err="1">
                <a:solidFill>
                  <a:schemeClr val="accent4"/>
                </a:solidFill>
              </a:rPr>
              <a:t>comptant</a:t>
            </a:r>
            <a:r>
              <a:rPr sz="2400" b="1" dirty="0">
                <a:solidFill>
                  <a:schemeClr val="accent4"/>
                </a:solidFill>
              </a:rPr>
              <a:t> </a:t>
            </a:r>
            <a:r>
              <a:rPr sz="2400" b="1" dirty="0" err="1">
                <a:solidFill>
                  <a:schemeClr val="accent4"/>
                </a:solidFill>
              </a:rPr>
              <a:t>l’obtention</a:t>
            </a:r>
            <a:r>
              <a:rPr sz="2400" b="1" dirty="0">
                <a:solidFill>
                  <a:schemeClr val="accent4"/>
                </a:solidFill>
              </a:rPr>
              <a:t> de la L2</a:t>
            </a:r>
            <a:r>
              <a:rPr sz="2400" dirty="0"/>
              <a:t>).</a:t>
            </a:r>
          </a:p>
          <a:p>
            <a:pPr>
              <a:lnSpc>
                <a:spcPct val="90000"/>
              </a:lnSpc>
              <a:spcBef>
                <a:spcPts val="700"/>
              </a:spcBef>
              <a:defRPr b="0">
                <a:solidFill>
                  <a:srgbClr val="000000"/>
                </a:solidFill>
              </a:defRPr>
            </a:pPr>
            <a:endParaRPr sz="2400" dirty="0"/>
          </a:p>
          <a:p>
            <a:pPr>
              <a:lnSpc>
                <a:spcPct val="90000"/>
              </a:lnSpc>
              <a:spcBef>
                <a:spcPts val="500"/>
              </a:spcBef>
              <a:defRPr b="0">
                <a:solidFill>
                  <a:srgbClr val="000000"/>
                </a:solidFill>
              </a:defRPr>
            </a:pPr>
            <a:r>
              <a:rPr sz="2400" dirty="0"/>
              <a:t> - Des </a:t>
            </a:r>
            <a:r>
              <a:rPr sz="2400" dirty="0" err="1"/>
              <a:t>résultats</a:t>
            </a:r>
            <a:r>
              <a:rPr sz="2400" dirty="0"/>
              <a:t> </a:t>
            </a:r>
            <a:r>
              <a:rPr sz="2400" dirty="0" err="1"/>
              <a:t>exceptionnels</a:t>
            </a:r>
            <a:r>
              <a:rPr sz="2400" dirty="0"/>
              <a:t> pour les </a:t>
            </a:r>
            <a:r>
              <a:rPr sz="2400" dirty="0" err="1"/>
              <a:t>meilleurs</a:t>
            </a:r>
            <a:r>
              <a:rPr sz="2400" dirty="0"/>
              <a:t> : </a:t>
            </a:r>
            <a:r>
              <a:rPr sz="2400" dirty="0" err="1"/>
              <a:t>en</a:t>
            </a:r>
            <a:r>
              <a:rPr sz="2400" dirty="0"/>
              <a:t> 1</a:t>
            </a:r>
            <a:r>
              <a:rPr lang="fr-RE" sz="2400" dirty="0"/>
              <a:t>8</a:t>
            </a:r>
            <a:r>
              <a:rPr sz="2400" dirty="0"/>
              <a:t> </a:t>
            </a:r>
            <a:r>
              <a:rPr sz="2400" dirty="0" err="1"/>
              <a:t>ans</a:t>
            </a:r>
            <a:r>
              <a:rPr sz="2400" dirty="0"/>
              <a:t>, 2</a:t>
            </a:r>
            <a:r>
              <a:rPr lang="fr-RE" sz="2400" dirty="0"/>
              <a:t>8</a:t>
            </a:r>
            <a:r>
              <a:rPr sz="2400" dirty="0"/>
              <a:t> </a:t>
            </a:r>
            <a:r>
              <a:rPr sz="2400" dirty="0" err="1"/>
              <a:t>admissibles</a:t>
            </a:r>
            <a:r>
              <a:rPr sz="2400" dirty="0"/>
              <a:t> à </a:t>
            </a:r>
            <a:r>
              <a:rPr sz="2400" dirty="0" err="1"/>
              <a:t>Normale’Sup</a:t>
            </a:r>
            <a:r>
              <a:rPr sz="2400" dirty="0"/>
              <a:t>, qui est le concours le plus difficile. </a:t>
            </a:r>
          </a:p>
          <a:p>
            <a:pPr algn="just">
              <a:lnSpc>
                <a:spcPct val="90000"/>
              </a:lnSpc>
              <a:spcBef>
                <a:spcPts val="700"/>
              </a:spcBef>
              <a:defRPr b="0">
                <a:solidFill>
                  <a:srgbClr val="000000"/>
                </a:solidFill>
              </a:defRPr>
            </a:pPr>
            <a:endParaRPr sz="2400" dirty="0"/>
          </a:p>
          <a:p>
            <a:pPr>
              <a:lnSpc>
                <a:spcPct val="90000"/>
              </a:lnSpc>
              <a:spcBef>
                <a:spcPts val="500"/>
              </a:spcBef>
              <a:defRPr b="0">
                <a:solidFill>
                  <a:srgbClr val="000000"/>
                </a:solidFill>
              </a:defRPr>
            </a:pPr>
            <a:r>
              <a:rPr sz="2400" dirty="0"/>
              <a:t> - Des </a:t>
            </a:r>
            <a:r>
              <a:rPr sz="2400" dirty="0" err="1"/>
              <a:t>étudiants</a:t>
            </a:r>
            <a:r>
              <a:rPr sz="2400" dirty="0"/>
              <a:t> </a:t>
            </a:r>
            <a:r>
              <a:rPr sz="2400" dirty="0" err="1"/>
              <a:t>classés</a:t>
            </a:r>
            <a:r>
              <a:rPr sz="2400" dirty="0"/>
              <a:t> </a:t>
            </a:r>
            <a:r>
              <a:rPr sz="2400" dirty="0" err="1"/>
              <a:t>chaque</a:t>
            </a:r>
            <a:r>
              <a:rPr sz="2400" dirty="0"/>
              <a:t> </a:t>
            </a:r>
            <a:r>
              <a:rPr sz="2400" dirty="0" err="1"/>
              <a:t>année</a:t>
            </a:r>
            <a:r>
              <a:rPr sz="2400" dirty="0"/>
              <a:t> dans les premiers au </a:t>
            </a:r>
            <a:r>
              <a:rPr sz="2400" dirty="0" err="1"/>
              <a:t>niveau</a:t>
            </a:r>
            <a:r>
              <a:rPr sz="2400" dirty="0"/>
              <a:t> national aux </a:t>
            </a:r>
            <a:r>
              <a:rPr sz="2400" dirty="0" err="1"/>
              <a:t>différents</a:t>
            </a:r>
            <a:r>
              <a:rPr sz="2400" dirty="0"/>
              <a:t> concours.</a:t>
            </a:r>
          </a:p>
        </p:txBody>
      </p:sp>
      <p:sp>
        <p:nvSpPr>
          <p:cNvPr id="181" name="PCSI/PSI et BCPST"/>
          <p:cNvSpPr txBox="1"/>
          <p:nvPr/>
        </p:nvSpPr>
        <p:spPr>
          <a:xfrm>
            <a:off x="7025957" y="6421437"/>
            <a:ext cx="1967548"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000000"/>
                </a:solidFill>
              </a:defRPr>
            </a:lvl1pPr>
          </a:lstStyle>
          <a:p>
            <a:r>
              <a:t>PCSI/PSI et BCPST</a:t>
            </a:r>
          </a:p>
        </p:txBody>
      </p:sp>
      <p:sp>
        <p:nvSpPr>
          <p:cNvPr id="3" name="ZoneTexte 2">
            <a:extLst>
              <a:ext uri="{FF2B5EF4-FFF2-40B4-BE49-F238E27FC236}">
                <a16:creationId xmlns:a16="http://schemas.microsoft.com/office/drawing/2014/main" id="{84FDEFD7-7FCC-EA6A-399B-4E8E93FD8668}"/>
              </a:ext>
            </a:extLst>
          </p:cNvPr>
          <p:cNvSpPr txBox="1"/>
          <p:nvPr/>
        </p:nvSpPr>
        <p:spPr>
          <a:xfrm>
            <a:off x="735049" y="486000"/>
            <a:ext cx="7405099" cy="523220"/>
          </a:xfrm>
          <a:prstGeom prst="rect">
            <a:avLst/>
          </a:prstGeom>
          <a:noFill/>
        </p:spPr>
        <p:txBody>
          <a:bodyPr wrap="square">
            <a:spAutoFit/>
          </a:bodyPr>
          <a:lstStyle/>
          <a:p>
            <a:r>
              <a:rPr lang="fr-FR" sz="2800" dirty="0">
                <a:latin typeface="Helvetica" panose="020B0604020202020204" pitchFamily="34" charset="0"/>
                <a:cs typeface="Helvetica" panose="020B0604020202020204" pitchFamily="34" charset="0"/>
              </a:rPr>
              <a:t>Pourquoi choisir Le Lycée Roland Garros ?</a:t>
            </a:r>
          </a:p>
        </p:txBody>
      </p:sp>
      <p:pic>
        <p:nvPicPr>
          <p:cNvPr id="4" name="Picture 10" descr="Logo_LRG_2020.resized – Lycée Roland Garros">
            <a:extLst>
              <a:ext uri="{FF2B5EF4-FFF2-40B4-BE49-F238E27FC236}">
                <a16:creationId xmlns:a16="http://schemas.microsoft.com/office/drawing/2014/main" id="{78B0EA75-7F86-9F37-538D-6ECCB2AEF386}"/>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3600" y="167253"/>
            <a:ext cx="794886" cy="1091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67622"/>
      </p:ext>
    </p:extLst>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180">
                                            <p:bg/>
                                          </p:spTgt>
                                        </p:tgtEl>
                                        <p:attrNameLst>
                                          <p:attrName>style.visibility</p:attrName>
                                        </p:attrNameLst>
                                      </p:cBhvr>
                                      <p:to>
                                        <p:strVal val="visible"/>
                                      </p:to>
                                    </p:set>
                                    <p:anim calcmode="lin" valueType="num">
                                      <p:cBhvr>
                                        <p:cTn id="7" dur="500" fill="hold"/>
                                        <p:tgtEl>
                                          <p:spTgt spid="180">
                                            <p:bg/>
                                          </p:spTgt>
                                        </p:tgtEl>
                                        <p:attrNameLst>
                                          <p:attrName>ppt_x</p:attrName>
                                        </p:attrNameLst>
                                      </p:cBhvr>
                                      <p:tavLst>
                                        <p:tav tm="0">
                                          <p:val>
                                            <p:strVal val="0-#ppt_w/2"/>
                                          </p:val>
                                        </p:tav>
                                        <p:tav tm="100000">
                                          <p:val>
                                            <p:strVal val="#ppt_x"/>
                                          </p:val>
                                        </p:tav>
                                      </p:tavLst>
                                    </p:anim>
                                    <p:anim calcmode="lin" valueType="num">
                                      <p:cBhvr>
                                        <p:cTn id="8" dur="500" fill="hold"/>
                                        <p:tgtEl>
                                          <p:spTgt spid="180">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p:tmAbs val="0"/>
                                  </p:iterate>
                                  <p:childTnLst>
                                    <p:set>
                                      <p:cBhvr>
                                        <p:cTn id="10" fill="hold"/>
                                        <p:tgtEl>
                                          <p:spTgt spid="180">
                                            <p:txEl>
                                              <p:pRg st="0" end="0"/>
                                            </p:txEl>
                                          </p:spTgt>
                                        </p:tgtEl>
                                        <p:attrNameLst>
                                          <p:attrName>style.visibility</p:attrName>
                                        </p:attrNameLst>
                                      </p:cBhvr>
                                      <p:to>
                                        <p:strVal val="visible"/>
                                      </p:to>
                                    </p:set>
                                    <p:anim calcmode="lin" valueType="num">
                                      <p:cBhvr>
                                        <p:cTn id="11" dur="500" fill="hold"/>
                                        <p:tgtEl>
                                          <p:spTgt spid="180">
                                            <p:txEl>
                                              <p:pRg st="0" end="0"/>
                                            </p:txEl>
                                          </p:spTgt>
                                        </p:tgtEl>
                                        <p:attrNameLst>
                                          <p:attrName>ppt_x</p:attrName>
                                        </p:attrNameLst>
                                      </p:cBhvr>
                                      <p:tavLst>
                                        <p:tav tm="0">
                                          <p:val>
                                            <p:strVal val="0-#ppt_w/2"/>
                                          </p:val>
                                        </p:tav>
                                        <p:tav tm="100000">
                                          <p:val>
                                            <p:strVal val="#ppt_x"/>
                                          </p:val>
                                        </p:tav>
                                      </p:tavLst>
                                    </p:anim>
                                    <p:anim calcmode="lin" valueType="num">
                                      <p:cBhvr>
                                        <p:cTn id="12" dur="500" fill="hold"/>
                                        <p:tgtEl>
                                          <p:spTgt spid="18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p:tmAbs val="0"/>
                                  </p:iterate>
                                  <p:childTnLst>
                                    <p:set>
                                      <p:cBhvr>
                                        <p:cTn id="16" fill="hold"/>
                                        <p:tgtEl>
                                          <p:spTgt spid="180">
                                            <p:txEl>
                                              <p:pRg st="2" end="2"/>
                                            </p:txEl>
                                          </p:spTgt>
                                        </p:tgtEl>
                                        <p:attrNameLst>
                                          <p:attrName>style.visibility</p:attrName>
                                        </p:attrNameLst>
                                      </p:cBhvr>
                                      <p:to>
                                        <p:strVal val="visible"/>
                                      </p:to>
                                    </p:set>
                                    <p:anim calcmode="lin" valueType="num">
                                      <p:cBhvr>
                                        <p:cTn id="17" dur="500" fill="hold"/>
                                        <p:tgtEl>
                                          <p:spTgt spid="180">
                                            <p:txEl>
                                              <p:pRg st="2" end="2"/>
                                            </p:txEl>
                                          </p:spTgt>
                                        </p:tgtEl>
                                        <p:attrNameLst>
                                          <p:attrName>ppt_x</p:attrName>
                                        </p:attrNameLst>
                                      </p:cBhvr>
                                      <p:tavLst>
                                        <p:tav tm="0">
                                          <p:val>
                                            <p:strVal val="0-#ppt_w/2"/>
                                          </p:val>
                                        </p:tav>
                                        <p:tav tm="100000">
                                          <p:val>
                                            <p:strVal val="#ppt_x"/>
                                          </p:val>
                                        </p:tav>
                                      </p:tavLst>
                                    </p:anim>
                                    <p:anim calcmode="lin" valueType="num">
                                      <p:cBhvr>
                                        <p:cTn id="18" dur="500" fill="hold"/>
                                        <p:tgtEl>
                                          <p:spTgt spid="18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p:tmAbs val="0"/>
                                  </p:iterate>
                                  <p:childTnLst>
                                    <p:set>
                                      <p:cBhvr>
                                        <p:cTn id="22" fill="hold"/>
                                        <p:tgtEl>
                                          <p:spTgt spid="180">
                                            <p:txEl>
                                              <p:pRg st="4" end="4"/>
                                            </p:txEl>
                                          </p:spTgt>
                                        </p:tgtEl>
                                        <p:attrNameLst>
                                          <p:attrName>style.visibility</p:attrName>
                                        </p:attrNameLst>
                                      </p:cBhvr>
                                      <p:to>
                                        <p:strVal val="visible"/>
                                      </p:to>
                                    </p:set>
                                    <p:anim calcmode="lin" valueType="num">
                                      <p:cBhvr>
                                        <p:cTn id="23" dur="500" fill="hold"/>
                                        <p:tgtEl>
                                          <p:spTgt spid="180">
                                            <p:txEl>
                                              <p:pRg st="4" end="4"/>
                                            </p:txEl>
                                          </p:spTgt>
                                        </p:tgtEl>
                                        <p:attrNameLst>
                                          <p:attrName>ppt_x</p:attrName>
                                        </p:attrNameLst>
                                      </p:cBhvr>
                                      <p:tavLst>
                                        <p:tav tm="0">
                                          <p:val>
                                            <p:strVal val="0-#ppt_w/2"/>
                                          </p:val>
                                        </p:tav>
                                        <p:tav tm="100000">
                                          <p:val>
                                            <p:strVal val="#ppt_x"/>
                                          </p:val>
                                        </p:tav>
                                      </p:tavLst>
                                    </p:anim>
                                    <p:anim calcmode="lin" valueType="num">
                                      <p:cBhvr>
                                        <p:cTn id="24" dur="500" fill="hold"/>
                                        <p:tgtEl>
                                          <p:spTgt spid="18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iterate>
                                    <p:tmAbs val="0"/>
                                  </p:iterate>
                                  <p:childTnLst>
                                    <p:set>
                                      <p:cBhvr>
                                        <p:cTn id="28" fill="hold"/>
                                        <p:tgtEl>
                                          <p:spTgt spid="180">
                                            <p:txEl>
                                              <p:pRg st="6" end="6"/>
                                            </p:txEl>
                                          </p:spTgt>
                                        </p:tgtEl>
                                        <p:attrNameLst>
                                          <p:attrName>style.visibility</p:attrName>
                                        </p:attrNameLst>
                                      </p:cBhvr>
                                      <p:to>
                                        <p:strVal val="visible"/>
                                      </p:to>
                                    </p:set>
                                    <p:anim calcmode="lin" valueType="num">
                                      <p:cBhvr>
                                        <p:cTn id="29" dur="500" fill="hold"/>
                                        <p:tgtEl>
                                          <p:spTgt spid="180">
                                            <p:txEl>
                                              <p:pRg st="6" end="6"/>
                                            </p:txEl>
                                          </p:spTgt>
                                        </p:tgtEl>
                                        <p:attrNameLst>
                                          <p:attrName>ppt_x</p:attrName>
                                        </p:attrNameLst>
                                      </p:cBhvr>
                                      <p:tavLst>
                                        <p:tav tm="0">
                                          <p:val>
                                            <p:strVal val="0-#ppt_w/2"/>
                                          </p:val>
                                        </p:tav>
                                        <p:tav tm="100000">
                                          <p:val>
                                            <p:strVal val="#ppt_x"/>
                                          </p:val>
                                        </p:tav>
                                      </p:tavLst>
                                    </p:anim>
                                    <p:anim calcmode="lin" valueType="num">
                                      <p:cBhvr>
                                        <p:cTn id="30" dur="500" fill="hold"/>
                                        <p:tgtEl>
                                          <p:spTgt spid="18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our toutes ces raisons :…"/>
          <p:cNvSpPr txBox="1"/>
          <p:nvPr/>
        </p:nvSpPr>
        <p:spPr>
          <a:xfrm>
            <a:off x="415607" y="596900"/>
            <a:ext cx="8312786" cy="1249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spcBef>
                <a:spcPts val="1900"/>
              </a:spcBef>
              <a:defRPr sz="3200">
                <a:solidFill>
                  <a:srgbClr val="FF7C80"/>
                </a:solidFill>
                <a:latin typeface="Georgia"/>
                <a:ea typeface="Georgia"/>
                <a:cs typeface="Georgia"/>
                <a:sym typeface="Georgia"/>
              </a:defRPr>
            </a:pPr>
            <a:r>
              <a:t>Pour toutes ces raisons :</a:t>
            </a:r>
          </a:p>
          <a:p>
            <a:pPr algn="ctr">
              <a:spcBef>
                <a:spcPts val="1900"/>
              </a:spcBef>
              <a:defRPr sz="3200">
                <a:solidFill>
                  <a:srgbClr val="FF7C80"/>
                </a:solidFill>
                <a:latin typeface="Georgia"/>
                <a:ea typeface="Georgia"/>
                <a:cs typeface="Georgia"/>
                <a:sym typeface="Georgia"/>
              </a:defRPr>
            </a:pPr>
            <a:r>
              <a:t>Bienvenue au Tampon !</a:t>
            </a:r>
          </a:p>
        </p:txBody>
      </p:sp>
      <p:sp>
        <p:nvSpPr>
          <p:cNvPr id="188" name="Journée Portes Ouvertes BCPST et PCSI/PSI :…"/>
          <p:cNvSpPr txBox="1"/>
          <p:nvPr/>
        </p:nvSpPr>
        <p:spPr>
          <a:xfrm>
            <a:off x="1017269" y="2232025"/>
            <a:ext cx="7315836" cy="20621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3200">
                <a:solidFill>
                  <a:srgbClr val="0D0D0D"/>
                </a:solidFill>
              </a:defRPr>
            </a:pPr>
            <a:r>
              <a:rPr dirty="0" err="1"/>
              <a:t>Journée</a:t>
            </a:r>
            <a:r>
              <a:rPr dirty="0"/>
              <a:t> </a:t>
            </a:r>
            <a:r>
              <a:rPr dirty="0" err="1"/>
              <a:t>Portes</a:t>
            </a:r>
            <a:r>
              <a:rPr dirty="0"/>
              <a:t> Ouvertes </a:t>
            </a:r>
            <a:endParaRPr lang="fr-RE" dirty="0"/>
          </a:p>
          <a:p>
            <a:pPr algn="ctr">
              <a:defRPr sz="3200">
                <a:solidFill>
                  <a:srgbClr val="0D0D0D"/>
                </a:solidFill>
              </a:defRPr>
            </a:pPr>
            <a:r>
              <a:rPr dirty="0"/>
              <a:t>BCPST et PCSI/PSI :</a:t>
            </a:r>
          </a:p>
          <a:p>
            <a:pPr algn="ctr">
              <a:defRPr sz="3200">
                <a:solidFill>
                  <a:srgbClr val="0D0D0D"/>
                </a:solidFill>
              </a:defRPr>
            </a:pPr>
            <a:r>
              <a:rPr dirty="0"/>
              <a:t>le </a:t>
            </a:r>
            <a:r>
              <a:rPr b="1" dirty="0" err="1"/>
              <a:t>samedi</a:t>
            </a:r>
            <a:r>
              <a:rPr b="1" dirty="0"/>
              <a:t> </a:t>
            </a:r>
            <a:r>
              <a:rPr lang="fr-RE" b="1" dirty="0"/>
              <a:t>14 février 2026</a:t>
            </a:r>
            <a:endParaRPr b="1" dirty="0"/>
          </a:p>
          <a:p>
            <a:pPr algn="ctr">
              <a:defRPr sz="3200">
                <a:solidFill>
                  <a:srgbClr val="0D0D0D"/>
                </a:solidFill>
              </a:defRPr>
            </a:pPr>
            <a:r>
              <a:rPr dirty="0"/>
              <a:t>de </a:t>
            </a:r>
            <a:r>
              <a:rPr lang="fr-RE" dirty="0"/>
              <a:t>08</a:t>
            </a:r>
            <a:r>
              <a:rPr dirty="0"/>
              <a:t>H00 à 16H00</a:t>
            </a:r>
          </a:p>
        </p:txBody>
      </p:sp>
      <p:sp>
        <p:nvSpPr>
          <p:cNvPr id="189" name="Sur les moteurs de recherche internet tapez:…"/>
          <p:cNvSpPr txBox="1"/>
          <p:nvPr/>
        </p:nvSpPr>
        <p:spPr>
          <a:xfrm>
            <a:off x="1233169" y="4438650"/>
            <a:ext cx="7234874" cy="18158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800">
                <a:solidFill>
                  <a:srgbClr val="00A249"/>
                </a:solidFill>
              </a:defRPr>
            </a:pPr>
            <a:r>
              <a:rPr dirty="0"/>
              <a:t>Sur les </a:t>
            </a:r>
            <a:r>
              <a:rPr dirty="0" err="1"/>
              <a:t>moteurs</a:t>
            </a:r>
            <a:r>
              <a:rPr dirty="0"/>
              <a:t> de recherche internet </a:t>
            </a:r>
            <a:r>
              <a:rPr dirty="0" err="1"/>
              <a:t>tapez</a:t>
            </a:r>
            <a:r>
              <a:rPr dirty="0"/>
              <a:t>:</a:t>
            </a:r>
          </a:p>
          <a:p>
            <a:pPr algn="ctr">
              <a:defRPr sz="2800">
                <a:solidFill>
                  <a:srgbClr val="00A249"/>
                </a:solidFill>
              </a:defRPr>
            </a:pPr>
            <a:r>
              <a:rPr dirty="0"/>
              <a:t>« BCPST 974 » </a:t>
            </a:r>
            <a:r>
              <a:rPr dirty="0" err="1"/>
              <a:t>ou</a:t>
            </a:r>
            <a:r>
              <a:rPr dirty="0"/>
              <a:t> « PSI Roland Garros» </a:t>
            </a:r>
          </a:p>
          <a:p>
            <a:pPr algn="ctr">
              <a:defRPr sz="2800">
                <a:solidFill>
                  <a:srgbClr val="00A249"/>
                </a:solidFill>
              </a:defRPr>
            </a:pPr>
            <a:r>
              <a:rPr dirty="0"/>
              <a:t>et </a:t>
            </a:r>
            <a:r>
              <a:rPr dirty="0" err="1"/>
              <a:t>consultez</a:t>
            </a:r>
            <a:r>
              <a:rPr dirty="0"/>
              <a:t> </a:t>
            </a:r>
            <a:r>
              <a:rPr dirty="0" err="1"/>
              <a:t>notre</a:t>
            </a:r>
            <a:r>
              <a:rPr dirty="0"/>
              <a:t> site, </a:t>
            </a:r>
          </a:p>
          <a:p>
            <a:pPr algn="ctr">
              <a:defRPr sz="2800">
                <a:solidFill>
                  <a:srgbClr val="00A249"/>
                </a:solidFill>
              </a:defRPr>
            </a:pPr>
            <a:r>
              <a:rPr dirty="0"/>
              <a:t>la page </a:t>
            </a:r>
            <a:r>
              <a:rPr dirty="0" err="1"/>
              <a:t>facebook</a:t>
            </a:r>
            <a:r>
              <a:rPr dirty="0"/>
              <a:t>, </a:t>
            </a:r>
            <a:r>
              <a:rPr dirty="0" err="1"/>
              <a:t>instagram</a:t>
            </a:r>
            <a:r>
              <a:rPr dirty="0"/>
              <a:t>,…</a:t>
            </a:r>
          </a:p>
        </p:txBody>
      </p:sp>
      <p:sp>
        <p:nvSpPr>
          <p:cNvPr id="190" name="PCSI/PSI et BCPST"/>
          <p:cNvSpPr txBox="1"/>
          <p:nvPr/>
        </p:nvSpPr>
        <p:spPr>
          <a:xfrm>
            <a:off x="7025957" y="6421437"/>
            <a:ext cx="1967548" cy="3114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i="1">
                <a:solidFill>
                  <a:srgbClr val="000000"/>
                </a:solidFill>
              </a:defRPr>
            </a:lvl1pPr>
          </a:lstStyle>
          <a:p>
            <a:r>
              <a:rPr dirty="0"/>
              <a:t>PCSI/PSI et BCPST</a:t>
            </a:r>
          </a:p>
        </p:txBody>
      </p:sp>
      <p:pic>
        <p:nvPicPr>
          <p:cNvPr id="2" name="Picture 4" descr="Journée Portes Ouvertes 2023 CPGE BCPST PCSI et PSI du Lycée Roland Garros  – Lycée Roland Garros">
            <a:extLst>
              <a:ext uri="{FF2B5EF4-FFF2-40B4-BE49-F238E27FC236}">
                <a16:creationId xmlns:a16="http://schemas.microsoft.com/office/drawing/2014/main" id="{E9151B88-281A-7FA2-08DB-C9A5D1ADC2B0}"/>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025957" y="370600"/>
            <a:ext cx="1618479" cy="16503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Journée Portes Ouvertes 2023 CPGE BCPST PCSI et PSI du Lycée Roland Garros  – Lycée Roland Garros">
            <a:extLst>
              <a:ext uri="{FF2B5EF4-FFF2-40B4-BE49-F238E27FC236}">
                <a16:creationId xmlns:a16="http://schemas.microsoft.com/office/drawing/2014/main" id="{A5D806E3-22B3-1150-CC72-461EB2B5E2C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5192" y="300802"/>
            <a:ext cx="1431234" cy="165037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942E8C97-1EE8-9166-30BE-DF05EC835F58}"/>
              </a:ext>
            </a:extLst>
          </p:cNvPr>
          <p:cNvPicPr>
            <a:picLocks noChangeAspect="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l="25982"/>
          <a:stretch/>
        </p:blipFill>
        <p:spPr>
          <a:xfrm>
            <a:off x="810895" y="2635984"/>
            <a:ext cx="1668899" cy="1254184"/>
          </a:xfrm>
          <a:prstGeom prst="rect">
            <a:avLst/>
          </a:prstGeom>
        </p:spPr>
      </p:pic>
      <p:pic>
        <p:nvPicPr>
          <p:cNvPr id="6" name="Picture 10" descr="Logo_LRG_2020.resized – Lycée Roland Garros">
            <a:extLst>
              <a:ext uri="{FF2B5EF4-FFF2-40B4-BE49-F238E27FC236}">
                <a16:creationId xmlns:a16="http://schemas.microsoft.com/office/drawing/2014/main" id="{1931134B-C98A-4559-BEA9-059C1F6AC56F}"/>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34626" y="2317067"/>
            <a:ext cx="1340665" cy="18407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push dir="r"/>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187"/>
                                        </p:tgtEl>
                                        <p:attrNameLst>
                                          <p:attrName>style.visibility</p:attrName>
                                        </p:attrNameLst>
                                      </p:cBhvr>
                                      <p:to>
                                        <p:strVal val="visible"/>
                                      </p:to>
                                    </p:set>
                                    <p:anim calcmode="lin" valueType="num">
                                      <p:cBhvr>
                                        <p:cTn id="7" dur="500" fill="hold"/>
                                        <p:tgtEl>
                                          <p:spTgt spid="187"/>
                                        </p:tgtEl>
                                        <p:attrNameLst>
                                          <p:attrName>ppt_x</p:attrName>
                                        </p:attrNameLst>
                                      </p:cBhvr>
                                      <p:tavLst>
                                        <p:tav tm="0">
                                          <p:val>
                                            <p:strVal val="0-#ppt_w/2"/>
                                          </p:val>
                                        </p:tav>
                                        <p:tav tm="100000">
                                          <p:val>
                                            <p:strVal val="#ppt_x"/>
                                          </p:val>
                                        </p:tav>
                                      </p:tavLst>
                                    </p:anim>
                                    <p:anim calcmode="lin" valueType="num">
                                      <p:cBhvr>
                                        <p:cTn id="8" dur="500" fill="hold"/>
                                        <p:tgtEl>
                                          <p:spTgt spid="1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animBg="1" advAuto="0"/>
      <p:bldP spid="188" grpId="0" animBg="1" advAuto="0"/>
      <p:bldP spid="189" grpId="0" animBg="1" advAuto="0"/>
    </p:bld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theme/theme2.xml><?xml version="1.0" encoding="utf-8"?>
<a:theme xmlns:a="http://schemas.openxmlformats.org/drawingml/2006/main" name="Essor">
  <a:themeElements>
    <a:clrScheme name="Essor">
      <a:dk1>
        <a:srgbClr val="000000"/>
      </a:dk1>
      <a:lt1>
        <a:srgbClr val="FFFFFF"/>
      </a:lt1>
      <a:dk2>
        <a:srgbClr val="A7A7A7"/>
      </a:dk2>
      <a:lt2>
        <a:srgbClr val="535353"/>
      </a:lt2>
      <a:accent1>
        <a:srgbClr val="00FFFF"/>
      </a:accent1>
      <a:accent2>
        <a:srgbClr val="3366FF"/>
      </a:accent2>
      <a:accent3>
        <a:srgbClr val="9BBB59"/>
      </a:accent3>
      <a:accent4>
        <a:srgbClr val="8064A2"/>
      </a:accent4>
      <a:accent5>
        <a:srgbClr val="4BACC6"/>
      </a:accent5>
      <a:accent6>
        <a:srgbClr val="F79646"/>
      </a:accent6>
      <a:hlink>
        <a:srgbClr val="0000FF"/>
      </a:hlink>
      <a:folHlink>
        <a:srgbClr val="FF00FF"/>
      </a:folHlink>
    </a:clrScheme>
    <a:fontScheme name="Essor">
      <a:majorFont>
        <a:latin typeface="Calibri"/>
        <a:ea typeface="Calibri"/>
        <a:cs typeface="Calibri"/>
      </a:majorFont>
      <a:minorFont>
        <a:latin typeface="Helvetica"/>
        <a:ea typeface="Helvetica"/>
        <a:cs typeface="Helvetica"/>
      </a:minorFont>
    </a:fontScheme>
    <a:fmtScheme name="Ess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FF"/>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FF"/>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TM10001106[[fn=Badge]]</Template>
  <TotalTime>119</TotalTime>
  <Words>1922</Words>
  <Application>Microsoft Office PowerPoint</Application>
  <PresentationFormat>Affichage à l'écran (4:3)</PresentationFormat>
  <Paragraphs>203</Paragraphs>
  <Slides>19</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Arial</vt:lpstr>
      <vt:lpstr>Calibri</vt:lpstr>
      <vt:lpstr>Century Gothic</vt:lpstr>
      <vt:lpstr>Gill Sans MT</vt:lpstr>
      <vt:lpstr>Helvetica</vt:lpstr>
      <vt:lpstr>Impact</vt:lpstr>
      <vt:lpstr>Wingdings</vt:lpstr>
      <vt:lpstr>Badge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Maxime NAGELS</dc:creator>
  <cp:lastModifiedBy>thierry gaspari</cp:lastModifiedBy>
  <cp:revision>15</cp:revision>
  <dcterms:modified xsi:type="dcterms:W3CDTF">2025-11-04T17:18:56Z</dcterms:modified>
</cp:coreProperties>
</file>